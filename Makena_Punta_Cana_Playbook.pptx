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5943600" cy="6858000"/>
          </a:xfrm>
          <a:prstGeom prst="rect">
            <a:avLst/>
          </a:prstGeom>
          <a:solidFill>
            <a:srgbClr val="0B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5029200" cy="457200"/>
          </a:xfrm>
          <a:prstGeom prst="rect">
            <a:avLst/>
          </a:prstGeom>
          <a:noFill/>
        </p:spPr>
        <p:txBody>
          <a:bodyPr wrap="square">
            <a:spAutoFit/>
          </a:bodyPr>
          <a:lstStyle/>
          <a:p>
            <a:pPr algn="l"/>
            <a:r>
              <a:rPr sz="1000" b="1" i="1">
                <a:solidFill>
                  <a:srgbClr val="86EFA9"/>
                </a:solidFill>
              </a:rPr>
              <a:t>MAKENA ENTERTAINMENT</a:t>
            </a:r>
          </a:p>
        </p:txBody>
      </p:sp>
      <p:sp>
        <p:nvSpPr>
          <p:cNvPr id="5" name="TextBox 4"/>
          <p:cNvSpPr txBox="1"/>
          <p:nvPr/>
        </p:nvSpPr>
        <p:spPr>
          <a:xfrm>
            <a:off x="457200" y="1645920"/>
            <a:ext cx="5303520" cy="2011680"/>
          </a:xfrm>
          <a:prstGeom prst="rect">
            <a:avLst/>
          </a:prstGeom>
          <a:noFill/>
        </p:spPr>
        <p:txBody>
          <a:bodyPr wrap="square">
            <a:spAutoFit/>
          </a:bodyPr>
          <a:lstStyle/>
          <a:p>
            <a:pPr algn="l"/>
            <a:r>
              <a:rPr sz="4400" b="1" i="0">
                <a:solidFill>
                  <a:srgbClr val="FFFFFF"/>
                </a:solidFill>
              </a:rPr>
              <a:t>PUNTA CANA
GROUP TRIP 2026</a:t>
            </a:r>
          </a:p>
        </p:txBody>
      </p:sp>
      <p:sp>
        <p:nvSpPr>
          <p:cNvPr id="6" name="TextBox 5"/>
          <p:cNvSpPr txBox="1"/>
          <p:nvPr/>
        </p:nvSpPr>
        <p:spPr>
          <a:xfrm>
            <a:off x="457200" y="3566160"/>
            <a:ext cx="5029200" cy="457200"/>
          </a:xfrm>
          <a:prstGeom prst="rect">
            <a:avLst/>
          </a:prstGeom>
          <a:noFill/>
        </p:spPr>
        <p:txBody>
          <a:bodyPr wrap="square">
            <a:spAutoFit/>
          </a:bodyPr>
          <a:lstStyle/>
          <a:p>
            <a:pPr algn="l"/>
            <a:r>
              <a:rPr sz="1400" b="0" i="0">
                <a:solidFill>
                  <a:srgbClr val="A0A0A0"/>
                </a:solidFill>
              </a:rPr>
              <a:t>Dominican Republic  •  November 2026</a:t>
            </a:r>
          </a:p>
        </p:txBody>
      </p:sp>
      <p:sp>
        <p:nvSpPr>
          <p:cNvPr id="7" name="Rectangle 6"/>
          <p:cNvSpPr/>
          <p:nvPr/>
        </p:nvSpPr>
        <p:spPr>
          <a:xfrm>
            <a:off x="457200" y="4160520"/>
            <a:ext cx="1097280" cy="3657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297680"/>
            <a:ext cx="5029200" cy="365760"/>
          </a:xfrm>
          <a:prstGeom prst="rect">
            <a:avLst/>
          </a:prstGeom>
          <a:noFill/>
        </p:spPr>
        <p:txBody>
          <a:bodyPr wrap="square">
            <a:spAutoFit/>
          </a:bodyPr>
          <a:lstStyle/>
          <a:p>
            <a:pPr algn="l"/>
            <a:r>
              <a:rPr sz="1100" b="1" i="0">
                <a:solidFill>
                  <a:srgbClr val="86EFA9"/>
                </a:solidFill>
              </a:rPr>
              <a:t>TRIP MANAGER'S PLAYBOOK</a:t>
            </a:r>
          </a:p>
        </p:txBody>
      </p:sp>
      <p:sp>
        <p:nvSpPr>
          <p:cNvPr id="9" name="TextBox 8"/>
          <p:cNvSpPr txBox="1"/>
          <p:nvPr/>
        </p:nvSpPr>
        <p:spPr>
          <a:xfrm>
            <a:off x="457200" y="4754880"/>
            <a:ext cx="5029200" cy="822960"/>
          </a:xfrm>
          <a:prstGeom prst="rect">
            <a:avLst/>
          </a:prstGeom>
          <a:noFill/>
        </p:spPr>
        <p:txBody>
          <a:bodyPr wrap="square">
            <a:spAutoFit/>
          </a:bodyPr>
          <a:lstStyle/>
          <a:p>
            <a:pPr algn="l"/>
            <a:r>
              <a:rPr sz="1100" b="0" i="0">
                <a:solidFill>
                  <a:srgbClr val="A0A0A0"/>
                </a:solidFill>
              </a:rPr>
              <a:t>Your complete delegation &amp; operations guide
from the moment guests land to the moment they fly home.</a:t>
            </a:r>
          </a:p>
        </p:txBody>
      </p:sp>
      <p:sp>
        <p:nvSpPr>
          <p:cNvPr id="10" name="TextBox 9"/>
          <p:cNvSpPr txBox="1"/>
          <p:nvPr/>
        </p:nvSpPr>
        <p:spPr>
          <a:xfrm>
            <a:off x="7772400" y="1828800"/>
            <a:ext cx="3200400" cy="1828800"/>
          </a:xfrm>
          <a:prstGeom prst="rect">
            <a:avLst/>
          </a:prstGeom>
          <a:noFill/>
        </p:spPr>
        <p:txBody>
          <a:bodyPr wrap="square">
            <a:spAutoFit/>
          </a:bodyPr>
          <a:lstStyle/>
          <a:p>
            <a:pPr algn="ctr"/>
            <a:r>
              <a:rPr sz="9000" b="0" i="0">
                <a:solidFill>
                  <a:srgbClr val="FFFFFF"/>
                </a:solidFill>
              </a:rPr>
              <a:t>🌴</a:t>
            </a:r>
          </a:p>
        </p:txBody>
      </p:sp>
      <p:sp>
        <p:nvSpPr>
          <p:cNvPr id="11" name="TextBox 10"/>
          <p:cNvSpPr txBox="1"/>
          <p:nvPr/>
        </p:nvSpPr>
        <p:spPr>
          <a:xfrm>
            <a:off x="6400800" y="4114800"/>
            <a:ext cx="5303520" cy="2011680"/>
          </a:xfrm>
          <a:prstGeom prst="rect">
            <a:avLst/>
          </a:prstGeom>
          <a:noFill/>
        </p:spPr>
        <p:txBody>
          <a:bodyPr wrap="square">
            <a:spAutoFit/>
          </a:bodyPr>
          <a:lstStyle/>
          <a:p>
            <a:pPr algn="ctr"/>
            <a:r>
              <a:rPr sz="2400" b="1" i="0">
                <a:solidFill>
                  <a:srgbClr val="FFFFFF"/>
                </a:solidFill>
              </a:rPr>
              <a:t>One Life.
Good Vibe.
Party Hard.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B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594360"/>
          </a:xfrm>
          <a:prstGeom prst="rect">
            <a:avLst/>
          </a:prstGeom>
          <a:noFill/>
        </p:spPr>
        <p:txBody>
          <a:bodyPr wrap="square">
            <a:spAutoFit/>
          </a:bodyPr>
          <a:lstStyle/>
          <a:p>
            <a:pPr algn="l"/>
            <a:r>
              <a:rPr sz="2800" b="1" i="0">
                <a:solidFill>
                  <a:srgbClr val="FFFFFF"/>
                </a:solidFill>
              </a:rPr>
              <a:t>YOUR ROLE ON THIS TRIP</a:t>
            </a:r>
          </a:p>
        </p:txBody>
      </p:sp>
      <p:sp>
        <p:nvSpPr>
          <p:cNvPr id="4" name="TextBox 3"/>
          <p:cNvSpPr txBox="1"/>
          <p:nvPr/>
        </p:nvSpPr>
        <p:spPr>
          <a:xfrm>
            <a:off x="457200" y="658368"/>
            <a:ext cx="10972800" cy="256032"/>
          </a:xfrm>
          <a:prstGeom prst="rect">
            <a:avLst/>
          </a:prstGeom>
          <a:noFill/>
        </p:spPr>
        <p:txBody>
          <a:bodyPr wrap="square">
            <a:spAutoFit/>
          </a:bodyPr>
          <a:lstStyle/>
          <a:p>
            <a:pPr algn="l"/>
            <a:r>
              <a:rPr sz="1000" b="1" i="0">
                <a:solidFill>
                  <a:srgbClr val="86EFA9"/>
                </a:solidFill>
              </a:rPr>
              <a:t>MANAGER · DELEGATOR · VISIONARY</a:t>
            </a:r>
          </a:p>
        </p:txBody>
      </p:sp>
      <p:sp>
        <p:nvSpPr>
          <p:cNvPr id="5" name="TextBox 4"/>
          <p:cNvSpPr txBox="1"/>
          <p:nvPr/>
        </p:nvSpPr>
        <p:spPr>
          <a:xfrm>
            <a:off x="457200" y="1097280"/>
            <a:ext cx="11247120" cy="731520"/>
          </a:xfrm>
          <a:prstGeom prst="rect">
            <a:avLst/>
          </a:prstGeom>
          <a:noFill/>
        </p:spPr>
        <p:txBody>
          <a:bodyPr wrap="square">
            <a:spAutoFit/>
          </a:bodyPr>
          <a:lstStyle/>
          <a:p>
            <a:pPr algn="l"/>
            <a:r>
              <a:rPr sz="1300" b="0" i="0">
                <a:solidFill>
                  <a:srgbClr val="A0A0A0"/>
                </a:solidFill>
              </a:rPr>
              <a:t>You are not lifting boxes. You are not driving vans. You are not setting up tables.
You show up, you oversee, you make decisions, and you make people feel like royalty.</a:t>
            </a:r>
          </a:p>
        </p:txBody>
      </p:sp>
      <p:sp>
        <p:nvSpPr>
          <p:cNvPr id="6" name="Rectangle 5"/>
          <p:cNvSpPr/>
          <p:nvPr/>
        </p:nvSpPr>
        <p:spPr>
          <a:xfrm>
            <a:off x="457200" y="1920240"/>
            <a:ext cx="1097280" cy="3657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2103120"/>
            <a:ext cx="3566160" cy="4114800"/>
          </a:xfrm>
          <a:prstGeom prst="rect">
            <a:avLst/>
          </a:prstGeom>
          <a:solidFill>
            <a:srgbClr val="141414"/>
          </a:solidFill>
          <a:ln w="12700">
            <a:solidFill>
              <a:srgbClr val="86EF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37360" y="2286000"/>
            <a:ext cx="914400" cy="822960"/>
          </a:xfrm>
          <a:prstGeom prst="rect">
            <a:avLst/>
          </a:prstGeom>
          <a:noFill/>
        </p:spPr>
        <p:txBody>
          <a:bodyPr wrap="square">
            <a:spAutoFit/>
          </a:bodyPr>
          <a:lstStyle/>
          <a:p>
            <a:pPr algn="ctr"/>
            <a:r>
              <a:rPr sz="3200" b="0" i="0">
                <a:solidFill>
                  <a:srgbClr val="FFFFFF"/>
                </a:solidFill>
              </a:rPr>
              <a:t>👑</a:t>
            </a:r>
          </a:p>
        </p:txBody>
      </p:sp>
      <p:sp>
        <p:nvSpPr>
          <p:cNvPr id="9" name="TextBox 8"/>
          <p:cNvSpPr txBox="1"/>
          <p:nvPr/>
        </p:nvSpPr>
        <p:spPr>
          <a:xfrm>
            <a:off x="548640" y="3200400"/>
            <a:ext cx="3200400" cy="365760"/>
          </a:xfrm>
          <a:prstGeom prst="rect">
            <a:avLst/>
          </a:prstGeom>
          <a:noFill/>
        </p:spPr>
        <p:txBody>
          <a:bodyPr wrap="square">
            <a:spAutoFit/>
          </a:bodyPr>
          <a:lstStyle/>
          <a:p>
            <a:pPr algn="ctr"/>
            <a:r>
              <a:rPr sz="1400" b="1" i="0">
                <a:solidFill>
                  <a:srgbClr val="86EFA9"/>
                </a:solidFill>
              </a:rPr>
              <a:t>VISION</a:t>
            </a:r>
          </a:p>
        </p:txBody>
      </p:sp>
      <p:sp>
        <p:nvSpPr>
          <p:cNvPr id="10" name="TextBox 9"/>
          <p:cNvSpPr txBox="1"/>
          <p:nvPr/>
        </p:nvSpPr>
        <p:spPr>
          <a:xfrm>
            <a:off x="548640" y="3657600"/>
            <a:ext cx="3200400" cy="2286000"/>
          </a:xfrm>
          <a:prstGeom prst="rect">
            <a:avLst/>
          </a:prstGeom>
          <a:noFill/>
        </p:spPr>
        <p:txBody>
          <a:bodyPr wrap="square">
            <a:spAutoFit/>
          </a:bodyPr>
          <a:lstStyle/>
          <a:p>
            <a:pPr algn="ctr"/>
            <a:r>
              <a:rPr sz="1000" b="0" i="0">
                <a:solidFill>
                  <a:srgbClr val="A0A0A0"/>
                </a:solidFill>
              </a:rPr>
              <a:t>You set the standard. Every detail of this trip reflects your brand. Your team executes — you approve.</a:t>
            </a:r>
          </a:p>
        </p:txBody>
      </p:sp>
      <p:sp>
        <p:nvSpPr>
          <p:cNvPr id="11" name="Rectangle 10"/>
          <p:cNvSpPr/>
          <p:nvPr/>
        </p:nvSpPr>
        <p:spPr>
          <a:xfrm>
            <a:off x="4297680" y="2103120"/>
            <a:ext cx="3566160" cy="4114800"/>
          </a:xfrm>
          <a:prstGeom prst="rect">
            <a:avLst/>
          </a:prstGeom>
          <a:solidFill>
            <a:srgbClr val="141414"/>
          </a:solidFill>
          <a:ln w="12700">
            <a:solidFill>
              <a:srgbClr val="86EF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0" y="2286000"/>
            <a:ext cx="914400" cy="822960"/>
          </a:xfrm>
          <a:prstGeom prst="rect">
            <a:avLst/>
          </a:prstGeom>
          <a:noFill/>
        </p:spPr>
        <p:txBody>
          <a:bodyPr wrap="square">
            <a:spAutoFit/>
          </a:bodyPr>
          <a:lstStyle/>
          <a:p>
            <a:pPr algn="ctr"/>
            <a:r>
              <a:rPr sz="3200" b="0" i="0">
                <a:solidFill>
                  <a:srgbClr val="FFFFFF"/>
                </a:solidFill>
              </a:rPr>
              <a:t>📋</a:t>
            </a:r>
          </a:p>
        </p:txBody>
      </p:sp>
      <p:sp>
        <p:nvSpPr>
          <p:cNvPr id="13" name="TextBox 12"/>
          <p:cNvSpPr txBox="1"/>
          <p:nvPr/>
        </p:nvSpPr>
        <p:spPr>
          <a:xfrm>
            <a:off x="4480560" y="3200400"/>
            <a:ext cx="3200400" cy="365760"/>
          </a:xfrm>
          <a:prstGeom prst="rect">
            <a:avLst/>
          </a:prstGeom>
          <a:noFill/>
        </p:spPr>
        <p:txBody>
          <a:bodyPr wrap="square">
            <a:spAutoFit/>
          </a:bodyPr>
          <a:lstStyle/>
          <a:p>
            <a:pPr algn="ctr"/>
            <a:r>
              <a:rPr sz="1400" b="1" i="0">
                <a:solidFill>
                  <a:srgbClr val="86EFA9"/>
                </a:solidFill>
              </a:rPr>
              <a:t>DELEGATION</a:t>
            </a:r>
          </a:p>
        </p:txBody>
      </p:sp>
      <p:sp>
        <p:nvSpPr>
          <p:cNvPr id="14" name="TextBox 13"/>
          <p:cNvSpPr txBox="1"/>
          <p:nvPr/>
        </p:nvSpPr>
        <p:spPr>
          <a:xfrm>
            <a:off x="4480560" y="3657600"/>
            <a:ext cx="3200400" cy="2286000"/>
          </a:xfrm>
          <a:prstGeom prst="rect">
            <a:avLst/>
          </a:prstGeom>
          <a:noFill/>
        </p:spPr>
        <p:txBody>
          <a:bodyPr wrap="square">
            <a:spAutoFit/>
          </a:bodyPr>
          <a:lstStyle/>
          <a:p>
            <a:pPr algn="ctr"/>
            <a:r>
              <a:rPr sz="1000" b="0" i="0">
                <a:solidFill>
                  <a:srgbClr val="A0A0A0"/>
                </a:solidFill>
              </a:rPr>
              <a:t>Every activity, every logistics task, every creative element is owned by a specific person or vendor. You assign, they deliver.</a:t>
            </a:r>
          </a:p>
        </p:txBody>
      </p:sp>
      <p:sp>
        <p:nvSpPr>
          <p:cNvPr id="15" name="Rectangle 14"/>
          <p:cNvSpPr/>
          <p:nvPr/>
        </p:nvSpPr>
        <p:spPr>
          <a:xfrm>
            <a:off x="8229600" y="2103120"/>
            <a:ext cx="3566160" cy="4114800"/>
          </a:xfrm>
          <a:prstGeom prst="rect">
            <a:avLst/>
          </a:prstGeom>
          <a:solidFill>
            <a:srgbClr val="141414"/>
          </a:solidFill>
          <a:ln w="12700">
            <a:solidFill>
              <a:srgbClr val="86EF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0" y="2286000"/>
            <a:ext cx="914400" cy="822960"/>
          </a:xfrm>
          <a:prstGeom prst="rect">
            <a:avLst/>
          </a:prstGeom>
          <a:noFill/>
        </p:spPr>
        <p:txBody>
          <a:bodyPr wrap="square">
            <a:spAutoFit/>
          </a:bodyPr>
          <a:lstStyle/>
          <a:p>
            <a:pPr algn="ctr"/>
            <a:r>
              <a:rPr sz="3200" b="0" i="0">
                <a:solidFill>
                  <a:srgbClr val="FFFFFF"/>
                </a:solidFill>
              </a:rPr>
              <a:t>🎯</a:t>
            </a:r>
          </a:p>
        </p:txBody>
      </p:sp>
      <p:sp>
        <p:nvSpPr>
          <p:cNvPr id="17" name="TextBox 16"/>
          <p:cNvSpPr txBox="1"/>
          <p:nvPr/>
        </p:nvSpPr>
        <p:spPr>
          <a:xfrm>
            <a:off x="8412480" y="3200400"/>
            <a:ext cx="3200400" cy="365760"/>
          </a:xfrm>
          <a:prstGeom prst="rect">
            <a:avLst/>
          </a:prstGeom>
          <a:noFill/>
        </p:spPr>
        <p:txBody>
          <a:bodyPr wrap="square">
            <a:spAutoFit/>
          </a:bodyPr>
          <a:lstStyle/>
          <a:p>
            <a:pPr algn="ctr"/>
            <a:r>
              <a:rPr sz="1400" b="1" i="0">
                <a:solidFill>
                  <a:srgbClr val="86EFA9"/>
                </a:solidFill>
              </a:rPr>
              <a:t>ACCOUNTABILITY</a:t>
            </a:r>
          </a:p>
        </p:txBody>
      </p:sp>
      <p:sp>
        <p:nvSpPr>
          <p:cNvPr id="18" name="TextBox 17"/>
          <p:cNvSpPr txBox="1"/>
          <p:nvPr/>
        </p:nvSpPr>
        <p:spPr>
          <a:xfrm>
            <a:off x="8412480" y="3657600"/>
            <a:ext cx="3200400" cy="2286000"/>
          </a:xfrm>
          <a:prstGeom prst="rect">
            <a:avLst/>
          </a:prstGeom>
          <a:noFill/>
        </p:spPr>
        <p:txBody>
          <a:bodyPr wrap="square">
            <a:spAutoFit/>
          </a:bodyPr>
          <a:lstStyle/>
          <a:p>
            <a:pPr algn="ctr"/>
            <a:r>
              <a:rPr sz="1000" b="0" i="0">
                <a:solidFill>
                  <a:srgbClr val="A0A0A0"/>
                </a:solidFill>
              </a:rPr>
              <a:t>You hold daily check-ins with your delegate team. Nothing surprises you because you built the system in advance.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B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594360"/>
          </a:xfrm>
          <a:prstGeom prst="rect">
            <a:avLst/>
          </a:prstGeom>
          <a:noFill/>
        </p:spPr>
        <p:txBody>
          <a:bodyPr wrap="square">
            <a:spAutoFit/>
          </a:bodyPr>
          <a:lstStyle/>
          <a:p>
            <a:pPr algn="l"/>
            <a:r>
              <a:rPr sz="2800" b="1" i="0">
                <a:solidFill>
                  <a:srgbClr val="FFFFFF"/>
                </a:solidFill>
              </a:rPr>
              <a:t>BUILD YOUR DELEGATE TEAM</a:t>
            </a:r>
          </a:p>
        </p:txBody>
      </p:sp>
      <p:sp>
        <p:nvSpPr>
          <p:cNvPr id="4" name="TextBox 3"/>
          <p:cNvSpPr txBox="1"/>
          <p:nvPr/>
        </p:nvSpPr>
        <p:spPr>
          <a:xfrm>
            <a:off x="457200" y="658368"/>
            <a:ext cx="10972800" cy="256032"/>
          </a:xfrm>
          <a:prstGeom prst="rect">
            <a:avLst/>
          </a:prstGeom>
          <a:noFill/>
        </p:spPr>
        <p:txBody>
          <a:bodyPr wrap="square">
            <a:spAutoFit/>
          </a:bodyPr>
          <a:lstStyle/>
          <a:p>
            <a:pPr algn="l"/>
            <a:r>
              <a:rPr sz="1000" b="0" i="0">
                <a:solidFill>
                  <a:srgbClr val="86EFA9"/>
                </a:solidFill>
              </a:rPr>
              <a:t>Assign these roles before the trip. Each person owns their lane.</a:t>
            </a:r>
          </a:p>
        </p:txBody>
      </p:sp>
      <p:sp>
        <p:nvSpPr>
          <p:cNvPr id="5" name="Rectangle 4"/>
          <p:cNvSpPr/>
          <p:nvPr/>
        </p:nvSpPr>
        <p:spPr>
          <a:xfrm>
            <a:off x="274320" y="1051560"/>
            <a:ext cx="2788920" cy="2423160"/>
          </a:xfrm>
          <a:prstGeom prst="rect">
            <a:avLst/>
          </a:prstGeom>
          <a:solidFill>
            <a:srgbClr val="141414"/>
          </a:solidFill>
          <a:ln w="12700">
            <a:solidFill>
              <a:srgbClr val="86EF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79" y="1143000"/>
            <a:ext cx="457200" cy="365760"/>
          </a:xfrm>
          <a:prstGeom prst="rect">
            <a:avLst/>
          </a:prstGeom>
          <a:noFill/>
        </p:spPr>
        <p:txBody>
          <a:bodyPr wrap="square">
            <a:spAutoFit/>
          </a:bodyPr>
          <a:lstStyle/>
          <a:p>
            <a:pPr algn="l"/>
            <a:r>
              <a:rPr sz="1600" b="0" i="0">
                <a:solidFill>
                  <a:srgbClr val="FFFFFF"/>
                </a:solidFill>
              </a:rPr>
              <a:t>🚐</a:t>
            </a:r>
          </a:p>
        </p:txBody>
      </p:sp>
      <p:sp>
        <p:nvSpPr>
          <p:cNvPr id="7" name="TextBox 6"/>
          <p:cNvSpPr txBox="1"/>
          <p:nvPr/>
        </p:nvSpPr>
        <p:spPr>
          <a:xfrm>
            <a:off x="411479" y="1143000"/>
            <a:ext cx="2560320" cy="502920"/>
          </a:xfrm>
          <a:prstGeom prst="rect">
            <a:avLst/>
          </a:prstGeom>
          <a:noFill/>
        </p:spPr>
        <p:txBody>
          <a:bodyPr wrap="square">
            <a:spAutoFit/>
          </a:bodyPr>
          <a:lstStyle/>
          <a:p>
            <a:pPr algn="l"/>
            <a:r>
              <a:rPr sz="1000" b="1" i="0">
                <a:solidFill>
                  <a:srgbClr val="86EFA9"/>
                </a:solidFill>
              </a:rPr>
              <a:t>Ground Coordinator
(Punta Cana Local)</a:t>
            </a:r>
          </a:p>
        </p:txBody>
      </p:sp>
      <p:sp>
        <p:nvSpPr>
          <p:cNvPr id="8" name="TextBox 7"/>
          <p:cNvSpPr txBox="1"/>
          <p:nvPr/>
        </p:nvSpPr>
        <p:spPr>
          <a:xfrm>
            <a:off x="411479" y="1691639"/>
            <a:ext cx="2514600" cy="1645920"/>
          </a:xfrm>
          <a:prstGeom prst="rect">
            <a:avLst/>
          </a:prstGeom>
          <a:noFill/>
        </p:spPr>
        <p:txBody>
          <a:bodyPr wrap="square">
            <a:spAutoFit/>
          </a:bodyPr>
          <a:lstStyle/>
          <a:p>
            <a:pPr algn="l"/>
            <a:r>
              <a:rPr sz="850" b="0" i="0">
                <a:solidFill>
                  <a:srgbClr val="A0A0A0"/>
                </a:solidFill>
              </a:rPr>
              <a:t>Your eyes &amp; ears on the ground.
Handles all local vendor relationships,
on-site problem solving, and day-of
logistics. Must speak English &amp; Spanish.</a:t>
            </a:r>
          </a:p>
        </p:txBody>
      </p:sp>
      <p:sp>
        <p:nvSpPr>
          <p:cNvPr id="9" name="Rectangle 8"/>
          <p:cNvSpPr/>
          <p:nvPr/>
        </p:nvSpPr>
        <p:spPr>
          <a:xfrm>
            <a:off x="3246120" y="1051560"/>
            <a:ext cx="2788920" cy="2423160"/>
          </a:xfrm>
          <a:prstGeom prst="rect">
            <a:avLst/>
          </a:prstGeom>
          <a:solidFill>
            <a:srgbClr val="141414"/>
          </a:solidFill>
          <a:ln w="12700">
            <a:solidFill>
              <a:srgbClr val="86EF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79" y="1143000"/>
            <a:ext cx="457200" cy="365760"/>
          </a:xfrm>
          <a:prstGeom prst="rect">
            <a:avLst/>
          </a:prstGeom>
          <a:noFill/>
        </p:spPr>
        <p:txBody>
          <a:bodyPr wrap="square">
            <a:spAutoFit/>
          </a:bodyPr>
          <a:lstStyle/>
          <a:p>
            <a:pPr algn="l"/>
            <a:r>
              <a:rPr sz="1600" b="0" i="0">
                <a:solidFill>
                  <a:srgbClr val="FFFFFF"/>
                </a:solidFill>
              </a:rPr>
              <a:t>✈️</a:t>
            </a:r>
          </a:p>
        </p:txBody>
      </p:sp>
      <p:sp>
        <p:nvSpPr>
          <p:cNvPr id="11" name="TextBox 10"/>
          <p:cNvSpPr txBox="1"/>
          <p:nvPr/>
        </p:nvSpPr>
        <p:spPr>
          <a:xfrm>
            <a:off x="3383279" y="1143000"/>
            <a:ext cx="2560320" cy="502920"/>
          </a:xfrm>
          <a:prstGeom prst="rect">
            <a:avLst/>
          </a:prstGeom>
          <a:noFill/>
        </p:spPr>
        <p:txBody>
          <a:bodyPr wrap="square">
            <a:spAutoFit/>
          </a:bodyPr>
          <a:lstStyle/>
          <a:p>
            <a:pPr algn="l"/>
            <a:r>
              <a:rPr sz="1000" b="1" i="0">
                <a:solidFill>
                  <a:srgbClr val="86EFA9"/>
                </a:solidFill>
              </a:rPr>
              <a:t>Airport &amp; Transport Lead</a:t>
            </a:r>
          </a:p>
        </p:txBody>
      </p:sp>
      <p:sp>
        <p:nvSpPr>
          <p:cNvPr id="12" name="TextBox 11"/>
          <p:cNvSpPr txBox="1"/>
          <p:nvPr/>
        </p:nvSpPr>
        <p:spPr>
          <a:xfrm>
            <a:off x="3383279" y="1691639"/>
            <a:ext cx="2514600" cy="1645920"/>
          </a:xfrm>
          <a:prstGeom prst="rect">
            <a:avLst/>
          </a:prstGeom>
          <a:noFill/>
        </p:spPr>
        <p:txBody>
          <a:bodyPr wrap="square">
            <a:spAutoFit/>
          </a:bodyPr>
          <a:lstStyle/>
          <a:p>
            <a:pPr algn="l"/>
            <a:r>
              <a:rPr sz="850" b="0" i="0">
                <a:solidFill>
                  <a:srgbClr val="A0A0A0"/>
                </a:solidFill>
              </a:rPr>
              <a:t>Manages all arrivals &amp; departures.
Coordinates driver team, MAKENA signs,
vehicle schedules, and delayed flight
protocol.</a:t>
            </a:r>
          </a:p>
        </p:txBody>
      </p:sp>
      <p:sp>
        <p:nvSpPr>
          <p:cNvPr id="13" name="Rectangle 12"/>
          <p:cNvSpPr/>
          <p:nvPr/>
        </p:nvSpPr>
        <p:spPr>
          <a:xfrm>
            <a:off x="6217920" y="1051560"/>
            <a:ext cx="2788920" cy="2423160"/>
          </a:xfrm>
          <a:prstGeom prst="rect">
            <a:avLst/>
          </a:prstGeom>
          <a:solidFill>
            <a:srgbClr val="141414"/>
          </a:solidFill>
          <a:ln w="12700">
            <a:solidFill>
              <a:srgbClr val="86EF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143000"/>
            <a:ext cx="457200" cy="365760"/>
          </a:xfrm>
          <a:prstGeom prst="rect">
            <a:avLst/>
          </a:prstGeom>
          <a:noFill/>
        </p:spPr>
        <p:txBody>
          <a:bodyPr wrap="square">
            <a:spAutoFit/>
          </a:bodyPr>
          <a:lstStyle/>
          <a:p>
            <a:pPr algn="l"/>
            <a:r>
              <a:rPr sz="1600" b="0" i="0">
                <a:solidFill>
                  <a:srgbClr val="FFFFFF"/>
                </a:solidFill>
              </a:rPr>
              <a:t>🏨</a:t>
            </a:r>
          </a:p>
        </p:txBody>
      </p:sp>
      <p:sp>
        <p:nvSpPr>
          <p:cNvPr id="15" name="TextBox 14"/>
          <p:cNvSpPr txBox="1"/>
          <p:nvPr/>
        </p:nvSpPr>
        <p:spPr>
          <a:xfrm>
            <a:off x="6355080" y="1143000"/>
            <a:ext cx="2560320" cy="502920"/>
          </a:xfrm>
          <a:prstGeom prst="rect">
            <a:avLst/>
          </a:prstGeom>
          <a:noFill/>
        </p:spPr>
        <p:txBody>
          <a:bodyPr wrap="square">
            <a:spAutoFit/>
          </a:bodyPr>
          <a:lstStyle/>
          <a:p>
            <a:pPr algn="l"/>
            <a:r>
              <a:rPr sz="1000" b="1" i="0">
                <a:solidFill>
                  <a:srgbClr val="86EFA9"/>
                </a:solidFill>
              </a:rPr>
              <a:t>Hotel Liaison</a:t>
            </a:r>
          </a:p>
        </p:txBody>
      </p:sp>
      <p:sp>
        <p:nvSpPr>
          <p:cNvPr id="16" name="TextBox 15"/>
          <p:cNvSpPr txBox="1"/>
          <p:nvPr/>
        </p:nvSpPr>
        <p:spPr>
          <a:xfrm>
            <a:off x="6355080" y="1691639"/>
            <a:ext cx="2514600" cy="1645920"/>
          </a:xfrm>
          <a:prstGeom prst="rect">
            <a:avLst/>
          </a:prstGeom>
          <a:noFill/>
        </p:spPr>
        <p:txBody>
          <a:bodyPr wrap="square">
            <a:spAutoFit/>
          </a:bodyPr>
          <a:lstStyle/>
          <a:p>
            <a:pPr algn="l"/>
            <a:r>
              <a:rPr sz="850" b="0" i="0">
                <a:solidFill>
                  <a:srgbClr val="A0A0A0"/>
                </a:solidFill>
              </a:rPr>
              <a:t>Owns the hotel relationship.
Pre-keys rooms, manages upgrades,
handles guest issues, distributes
welcome gift bags.</a:t>
            </a:r>
          </a:p>
        </p:txBody>
      </p:sp>
      <p:sp>
        <p:nvSpPr>
          <p:cNvPr id="17" name="Rectangle 16"/>
          <p:cNvSpPr/>
          <p:nvPr/>
        </p:nvSpPr>
        <p:spPr>
          <a:xfrm>
            <a:off x="9189720" y="1051560"/>
            <a:ext cx="2788920" cy="2423160"/>
          </a:xfrm>
          <a:prstGeom prst="rect">
            <a:avLst/>
          </a:prstGeom>
          <a:solidFill>
            <a:srgbClr val="141414"/>
          </a:solidFill>
          <a:ln w="12700">
            <a:solidFill>
              <a:srgbClr val="86EF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0" y="1143000"/>
            <a:ext cx="457200" cy="365760"/>
          </a:xfrm>
          <a:prstGeom prst="rect">
            <a:avLst/>
          </a:prstGeom>
          <a:noFill/>
        </p:spPr>
        <p:txBody>
          <a:bodyPr wrap="square">
            <a:spAutoFit/>
          </a:bodyPr>
          <a:lstStyle/>
          <a:p>
            <a:pPr algn="l"/>
            <a:r>
              <a:rPr sz="1600" b="0" i="0">
                <a:solidFill>
                  <a:srgbClr val="FFFFFF"/>
                </a:solidFill>
              </a:rPr>
              <a:t>⛵</a:t>
            </a:r>
          </a:p>
        </p:txBody>
      </p:sp>
      <p:sp>
        <p:nvSpPr>
          <p:cNvPr id="19" name="TextBox 18"/>
          <p:cNvSpPr txBox="1"/>
          <p:nvPr/>
        </p:nvSpPr>
        <p:spPr>
          <a:xfrm>
            <a:off x="9326880" y="1143000"/>
            <a:ext cx="2560320" cy="502920"/>
          </a:xfrm>
          <a:prstGeom prst="rect">
            <a:avLst/>
          </a:prstGeom>
          <a:noFill/>
        </p:spPr>
        <p:txBody>
          <a:bodyPr wrap="square">
            <a:spAutoFit/>
          </a:bodyPr>
          <a:lstStyle/>
          <a:p>
            <a:pPr algn="l"/>
            <a:r>
              <a:rPr sz="1000" b="1" i="0">
                <a:solidFill>
                  <a:srgbClr val="86EFA9"/>
                </a:solidFill>
              </a:rPr>
              <a:t>Activities Coordinator</a:t>
            </a:r>
          </a:p>
        </p:txBody>
      </p:sp>
      <p:sp>
        <p:nvSpPr>
          <p:cNvPr id="20" name="TextBox 19"/>
          <p:cNvSpPr txBox="1"/>
          <p:nvPr/>
        </p:nvSpPr>
        <p:spPr>
          <a:xfrm>
            <a:off x="9326880" y="1691639"/>
            <a:ext cx="2514600" cy="1645920"/>
          </a:xfrm>
          <a:prstGeom prst="rect">
            <a:avLst/>
          </a:prstGeom>
          <a:noFill/>
        </p:spPr>
        <p:txBody>
          <a:bodyPr wrap="square">
            <a:spAutoFit/>
          </a:bodyPr>
          <a:lstStyle/>
          <a:p>
            <a:pPr algn="l"/>
            <a:r>
              <a:rPr sz="850" b="0" i="0">
                <a:solidFill>
                  <a:srgbClr val="A0A0A0"/>
                </a:solidFill>
              </a:rPr>
              <a:t>Books and manages all excursions:
catamaran, island trip, adventure day.
Confirms headcounts, waivers, safety
briefs.</a:t>
            </a:r>
          </a:p>
        </p:txBody>
      </p:sp>
      <p:sp>
        <p:nvSpPr>
          <p:cNvPr id="21" name="Rectangle 20"/>
          <p:cNvSpPr/>
          <p:nvPr/>
        </p:nvSpPr>
        <p:spPr>
          <a:xfrm>
            <a:off x="274320" y="3703320"/>
            <a:ext cx="2788920" cy="2423160"/>
          </a:xfrm>
          <a:prstGeom prst="rect">
            <a:avLst/>
          </a:prstGeom>
          <a:solidFill>
            <a:srgbClr val="141414"/>
          </a:solidFill>
          <a:ln w="12700">
            <a:solidFill>
              <a:srgbClr val="86EF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79" y="3794759"/>
            <a:ext cx="457200" cy="365760"/>
          </a:xfrm>
          <a:prstGeom prst="rect">
            <a:avLst/>
          </a:prstGeom>
          <a:noFill/>
        </p:spPr>
        <p:txBody>
          <a:bodyPr wrap="square">
            <a:spAutoFit/>
          </a:bodyPr>
          <a:lstStyle/>
          <a:p>
            <a:pPr algn="l"/>
            <a:r>
              <a:rPr sz="1600" b="0" i="0">
                <a:solidFill>
                  <a:srgbClr val="FFFFFF"/>
                </a:solidFill>
              </a:rPr>
              <a:t>🎉</a:t>
            </a:r>
          </a:p>
        </p:txBody>
      </p:sp>
      <p:sp>
        <p:nvSpPr>
          <p:cNvPr id="23" name="TextBox 22"/>
          <p:cNvSpPr txBox="1"/>
          <p:nvPr/>
        </p:nvSpPr>
        <p:spPr>
          <a:xfrm>
            <a:off x="411479" y="3794759"/>
            <a:ext cx="2560320" cy="502920"/>
          </a:xfrm>
          <a:prstGeom prst="rect">
            <a:avLst/>
          </a:prstGeom>
          <a:noFill/>
        </p:spPr>
        <p:txBody>
          <a:bodyPr wrap="square">
            <a:spAutoFit/>
          </a:bodyPr>
          <a:lstStyle/>
          <a:p>
            <a:pPr algn="l"/>
            <a:r>
              <a:rPr sz="1000" b="1" i="0">
                <a:solidFill>
                  <a:srgbClr val="86EFA9"/>
                </a:solidFill>
              </a:rPr>
              <a:t>Events &amp; Nightlife Lead</a:t>
            </a:r>
          </a:p>
        </p:txBody>
      </p:sp>
      <p:sp>
        <p:nvSpPr>
          <p:cNvPr id="24" name="TextBox 23"/>
          <p:cNvSpPr txBox="1"/>
          <p:nvPr/>
        </p:nvSpPr>
        <p:spPr>
          <a:xfrm>
            <a:off x="411479" y="4343400"/>
            <a:ext cx="2514600" cy="1645920"/>
          </a:xfrm>
          <a:prstGeom prst="rect">
            <a:avLst/>
          </a:prstGeom>
          <a:noFill/>
        </p:spPr>
        <p:txBody>
          <a:bodyPr wrap="square">
            <a:spAutoFit/>
          </a:bodyPr>
          <a:lstStyle/>
          <a:p>
            <a:pPr algn="l"/>
            <a:r>
              <a:rPr sz="850" b="0" i="0">
                <a:solidFill>
                  <a:srgbClr val="A0A0A0"/>
                </a:solidFill>
              </a:rPr>
              <a:t>Owns all party logistics:
venue, DJ, decor, dress code comms,
entry wristbands, photographer
booking.</a:t>
            </a:r>
          </a:p>
        </p:txBody>
      </p:sp>
      <p:sp>
        <p:nvSpPr>
          <p:cNvPr id="25" name="Rectangle 24"/>
          <p:cNvSpPr/>
          <p:nvPr/>
        </p:nvSpPr>
        <p:spPr>
          <a:xfrm>
            <a:off x="3246120" y="3703320"/>
            <a:ext cx="2788920" cy="2423160"/>
          </a:xfrm>
          <a:prstGeom prst="rect">
            <a:avLst/>
          </a:prstGeom>
          <a:solidFill>
            <a:srgbClr val="141414"/>
          </a:solidFill>
          <a:ln w="12700">
            <a:solidFill>
              <a:srgbClr val="86EF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83279" y="3794759"/>
            <a:ext cx="457200" cy="365760"/>
          </a:xfrm>
          <a:prstGeom prst="rect">
            <a:avLst/>
          </a:prstGeom>
          <a:noFill/>
        </p:spPr>
        <p:txBody>
          <a:bodyPr wrap="square">
            <a:spAutoFit/>
          </a:bodyPr>
          <a:lstStyle/>
          <a:p>
            <a:pPr algn="l"/>
            <a:r>
              <a:rPr sz="1600" b="0" i="0">
                <a:solidFill>
                  <a:srgbClr val="FFFFFF"/>
                </a:solidFill>
              </a:rPr>
              <a:t>📸</a:t>
            </a:r>
          </a:p>
        </p:txBody>
      </p:sp>
      <p:sp>
        <p:nvSpPr>
          <p:cNvPr id="27" name="TextBox 26"/>
          <p:cNvSpPr txBox="1"/>
          <p:nvPr/>
        </p:nvSpPr>
        <p:spPr>
          <a:xfrm>
            <a:off x="3383279" y="3794759"/>
            <a:ext cx="2560320" cy="502920"/>
          </a:xfrm>
          <a:prstGeom prst="rect">
            <a:avLst/>
          </a:prstGeom>
          <a:noFill/>
        </p:spPr>
        <p:txBody>
          <a:bodyPr wrap="square">
            <a:spAutoFit/>
          </a:bodyPr>
          <a:lstStyle/>
          <a:p>
            <a:pPr algn="l"/>
            <a:r>
              <a:rPr sz="1000" b="1" i="0">
                <a:solidFill>
                  <a:srgbClr val="86EFA9"/>
                </a:solidFill>
              </a:rPr>
              <a:t>Content Creator /
Photographer</a:t>
            </a:r>
          </a:p>
        </p:txBody>
      </p:sp>
      <p:sp>
        <p:nvSpPr>
          <p:cNvPr id="28" name="TextBox 27"/>
          <p:cNvSpPr txBox="1"/>
          <p:nvPr/>
        </p:nvSpPr>
        <p:spPr>
          <a:xfrm>
            <a:off x="3383279" y="4343400"/>
            <a:ext cx="2514600" cy="1645920"/>
          </a:xfrm>
          <a:prstGeom prst="rect">
            <a:avLst/>
          </a:prstGeom>
          <a:noFill/>
        </p:spPr>
        <p:txBody>
          <a:bodyPr wrap="square">
            <a:spAutoFit/>
          </a:bodyPr>
          <a:lstStyle/>
          <a:p>
            <a:pPr algn="l"/>
            <a:r>
              <a:rPr sz="850" b="0" i="0">
                <a:solidFill>
                  <a:srgbClr val="A0A0A0"/>
                </a:solidFill>
              </a:rPr>
              <a:t>Captures everything. Photos, reels,
BTS content. Delivers highlight reel
by Day 5 farewell breakfast.
Post-trip social content.</a:t>
            </a:r>
          </a:p>
        </p:txBody>
      </p:sp>
      <p:sp>
        <p:nvSpPr>
          <p:cNvPr id="29" name="Rectangle 28"/>
          <p:cNvSpPr/>
          <p:nvPr/>
        </p:nvSpPr>
        <p:spPr>
          <a:xfrm>
            <a:off x="6217920" y="3703320"/>
            <a:ext cx="2788920" cy="2423160"/>
          </a:xfrm>
          <a:prstGeom prst="rect">
            <a:avLst/>
          </a:prstGeom>
          <a:solidFill>
            <a:srgbClr val="141414"/>
          </a:solidFill>
          <a:ln w="12700">
            <a:solidFill>
              <a:srgbClr val="86EF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5080" y="3794759"/>
            <a:ext cx="457200" cy="365760"/>
          </a:xfrm>
          <a:prstGeom prst="rect">
            <a:avLst/>
          </a:prstGeom>
          <a:noFill/>
        </p:spPr>
        <p:txBody>
          <a:bodyPr wrap="square">
            <a:spAutoFit/>
          </a:bodyPr>
          <a:lstStyle/>
          <a:p>
            <a:pPr algn="l"/>
            <a:r>
              <a:rPr sz="1600" b="0" i="0">
                <a:solidFill>
                  <a:srgbClr val="FFFFFF"/>
                </a:solidFill>
              </a:rPr>
              <a:t>💬</a:t>
            </a:r>
          </a:p>
        </p:txBody>
      </p:sp>
      <p:sp>
        <p:nvSpPr>
          <p:cNvPr id="31" name="TextBox 30"/>
          <p:cNvSpPr txBox="1"/>
          <p:nvPr/>
        </p:nvSpPr>
        <p:spPr>
          <a:xfrm>
            <a:off x="6355080" y="3794759"/>
            <a:ext cx="2560320" cy="502920"/>
          </a:xfrm>
          <a:prstGeom prst="rect">
            <a:avLst/>
          </a:prstGeom>
          <a:noFill/>
        </p:spPr>
        <p:txBody>
          <a:bodyPr wrap="square">
            <a:spAutoFit/>
          </a:bodyPr>
          <a:lstStyle/>
          <a:p>
            <a:pPr algn="l"/>
            <a:r>
              <a:rPr sz="1000" b="1" i="0">
                <a:solidFill>
                  <a:srgbClr val="86EFA9"/>
                </a:solidFill>
              </a:rPr>
              <a:t>Guest Services Lead</a:t>
            </a:r>
          </a:p>
        </p:txBody>
      </p:sp>
      <p:sp>
        <p:nvSpPr>
          <p:cNvPr id="32" name="TextBox 31"/>
          <p:cNvSpPr txBox="1"/>
          <p:nvPr/>
        </p:nvSpPr>
        <p:spPr>
          <a:xfrm>
            <a:off x="6355080" y="4343400"/>
            <a:ext cx="2514600" cy="1645920"/>
          </a:xfrm>
          <a:prstGeom prst="rect">
            <a:avLst/>
          </a:prstGeom>
          <a:noFill/>
        </p:spPr>
        <p:txBody>
          <a:bodyPr wrap="square">
            <a:spAutoFit/>
          </a:bodyPr>
          <a:lstStyle/>
          <a:p>
            <a:pPr algn="l"/>
            <a:r>
              <a:rPr sz="850" b="0" i="0">
                <a:solidFill>
                  <a:srgbClr val="A0A0A0"/>
                </a:solidFill>
              </a:rPr>
              <a:t>Manages guest WhatsApp group.
First point of contact for questions,
complaints, and special requests.
Distributes all pre-trip info.</a:t>
            </a:r>
          </a:p>
        </p:txBody>
      </p:sp>
      <p:sp>
        <p:nvSpPr>
          <p:cNvPr id="33" name="Rectangle 32"/>
          <p:cNvSpPr/>
          <p:nvPr/>
        </p:nvSpPr>
        <p:spPr>
          <a:xfrm>
            <a:off x="9189720" y="3703320"/>
            <a:ext cx="2788920" cy="2423160"/>
          </a:xfrm>
          <a:prstGeom prst="rect">
            <a:avLst/>
          </a:prstGeom>
          <a:solidFill>
            <a:srgbClr val="141414"/>
          </a:solidFill>
          <a:ln w="12700">
            <a:solidFill>
              <a:srgbClr val="86EF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26880" y="3794759"/>
            <a:ext cx="457200" cy="365760"/>
          </a:xfrm>
          <a:prstGeom prst="rect">
            <a:avLst/>
          </a:prstGeom>
          <a:noFill/>
        </p:spPr>
        <p:txBody>
          <a:bodyPr wrap="square">
            <a:spAutoFit/>
          </a:bodyPr>
          <a:lstStyle/>
          <a:p>
            <a:pPr algn="l"/>
            <a:r>
              <a:rPr sz="1600" b="0" i="0">
                <a:solidFill>
                  <a:srgbClr val="FFFFFF"/>
                </a:solidFill>
              </a:rPr>
              <a:t>🛍️</a:t>
            </a:r>
          </a:p>
        </p:txBody>
      </p:sp>
      <p:sp>
        <p:nvSpPr>
          <p:cNvPr id="35" name="TextBox 34"/>
          <p:cNvSpPr txBox="1"/>
          <p:nvPr/>
        </p:nvSpPr>
        <p:spPr>
          <a:xfrm>
            <a:off x="9326880" y="3794759"/>
            <a:ext cx="2560320" cy="502920"/>
          </a:xfrm>
          <a:prstGeom prst="rect">
            <a:avLst/>
          </a:prstGeom>
          <a:noFill/>
        </p:spPr>
        <p:txBody>
          <a:bodyPr wrap="square">
            <a:spAutoFit/>
          </a:bodyPr>
          <a:lstStyle/>
          <a:p>
            <a:pPr algn="l"/>
            <a:r>
              <a:rPr sz="1000" b="1" i="0">
                <a:solidFill>
                  <a:srgbClr val="86EFA9"/>
                </a:solidFill>
              </a:rPr>
              <a:t>Merch &amp; Gifting Lead</a:t>
            </a:r>
          </a:p>
        </p:txBody>
      </p:sp>
      <p:sp>
        <p:nvSpPr>
          <p:cNvPr id="36" name="TextBox 35"/>
          <p:cNvSpPr txBox="1"/>
          <p:nvPr/>
        </p:nvSpPr>
        <p:spPr>
          <a:xfrm>
            <a:off x="9326880" y="4343400"/>
            <a:ext cx="2514600" cy="1645920"/>
          </a:xfrm>
          <a:prstGeom prst="rect">
            <a:avLst/>
          </a:prstGeom>
          <a:noFill/>
        </p:spPr>
        <p:txBody>
          <a:bodyPr wrap="square">
            <a:spAutoFit/>
          </a:bodyPr>
          <a:lstStyle/>
          <a:p>
            <a:pPr algn="l"/>
            <a:r>
              <a:rPr sz="850" b="0" i="0">
                <a:solidFill>
                  <a:srgbClr val="A0A0A0"/>
                </a:solidFill>
              </a:rPr>
              <a:t>Sources, designs, and fulfills all
Makena branded items: gift bags,
wristbands, hats, beach towels,
and farewell gifts.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B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594360"/>
          </a:xfrm>
          <a:prstGeom prst="rect">
            <a:avLst/>
          </a:prstGeom>
          <a:noFill/>
        </p:spPr>
        <p:txBody>
          <a:bodyPr wrap="square">
            <a:spAutoFit/>
          </a:bodyPr>
          <a:lstStyle/>
          <a:p>
            <a:pPr algn="l"/>
            <a:r>
              <a:rPr sz="2800" b="1" i="0">
                <a:solidFill>
                  <a:srgbClr val="FFFFFF"/>
                </a:solidFill>
              </a:rPr>
              <a:t>PRE-TRIP MASTER CHECKLIST</a:t>
            </a:r>
          </a:p>
        </p:txBody>
      </p:sp>
      <p:sp>
        <p:nvSpPr>
          <p:cNvPr id="4" name="TextBox 3"/>
          <p:cNvSpPr txBox="1"/>
          <p:nvPr/>
        </p:nvSpPr>
        <p:spPr>
          <a:xfrm>
            <a:off x="457200" y="658368"/>
            <a:ext cx="10972800" cy="256032"/>
          </a:xfrm>
          <a:prstGeom prst="rect">
            <a:avLst/>
          </a:prstGeom>
          <a:noFill/>
        </p:spPr>
        <p:txBody>
          <a:bodyPr wrap="square">
            <a:spAutoFit/>
          </a:bodyPr>
          <a:lstStyle/>
          <a:p>
            <a:pPr algn="l"/>
            <a:r>
              <a:rPr sz="1000" b="0" i="0">
                <a:solidFill>
                  <a:srgbClr val="86EFA9"/>
                </a:solidFill>
              </a:rPr>
              <a:t>Everything that must be locked in BEFORE a single guest lands.</a:t>
            </a:r>
          </a:p>
        </p:txBody>
      </p:sp>
      <p:sp>
        <p:nvSpPr>
          <p:cNvPr id="5" name="TextBox 4"/>
          <p:cNvSpPr txBox="1"/>
          <p:nvPr/>
        </p:nvSpPr>
        <p:spPr>
          <a:xfrm>
            <a:off x="365760" y="1097280"/>
            <a:ext cx="5486400" cy="274320"/>
          </a:xfrm>
          <a:prstGeom prst="rect">
            <a:avLst/>
          </a:prstGeom>
          <a:noFill/>
        </p:spPr>
        <p:txBody>
          <a:bodyPr wrap="square">
            <a:spAutoFit/>
          </a:bodyPr>
          <a:lstStyle/>
          <a:p>
            <a:pPr algn="l"/>
            <a:r>
              <a:rPr sz="900" b="1" i="0">
                <a:solidFill>
                  <a:srgbClr val="86EFA9"/>
                </a:solidFill>
              </a:rPr>
              <a:t>CONTRACTS &amp; BOOKINGS</a:t>
            </a:r>
          </a:p>
        </p:txBody>
      </p:sp>
      <p:sp>
        <p:nvSpPr>
          <p:cNvPr id="6" name="Rectangle 5"/>
          <p:cNvSpPr/>
          <p:nvPr/>
        </p:nvSpPr>
        <p:spPr>
          <a:xfrm>
            <a:off x="365760" y="146304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89888"/>
            <a:ext cx="5303520" cy="274320"/>
          </a:xfrm>
          <a:prstGeom prst="rect">
            <a:avLst/>
          </a:prstGeom>
          <a:noFill/>
        </p:spPr>
        <p:txBody>
          <a:bodyPr wrap="square">
            <a:spAutoFit/>
          </a:bodyPr>
          <a:lstStyle/>
          <a:p>
            <a:pPr algn="l"/>
            <a:r>
              <a:rPr sz="850" b="0" i="0">
                <a:solidFill>
                  <a:srgbClr val="FFFFFF"/>
                </a:solidFill>
              </a:rPr>
              <a:t>Transportation company — airport fleet, MAKENA signs</a:t>
            </a:r>
          </a:p>
        </p:txBody>
      </p:sp>
      <p:sp>
        <p:nvSpPr>
          <p:cNvPr id="8" name="Rectangle 7"/>
          <p:cNvSpPr/>
          <p:nvPr/>
        </p:nvSpPr>
        <p:spPr>
          <a:xfrm>
            <a:off x="365760" y="173736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64208"/>
            <a:ext cx="5303520" cy="274320"/>
          </a:xfrm>
          <a:prstGeom prst="rect">
            <a:avLst/>
          </a:prstGeom>
          <a:noFill/>
        </p:spPr>
        <p:txBody>
          <a:bodyPr wrap="square">
            <a:spAutoFit/>
          </a:bodyPr>
          <a:lstStyle/>
          <a:p>
            <a:pPr algn="l"/>
            <a:r>
              <a:rPr sz="850" b="0" i="0">
                <a:solidFill>
                  <a:srgbClr val="FFFFFF"/>
                </a:solidFill>
              </a:rPr>
              <a:t>Hotel block contract — room categories, rates, upgrades</a:t>
            </a:r>
          </a:p>
        </p:txBody>
      </p:sp>
      <p:sp>
        <p:nvSpPr>
          <p:cNvPr id="10" name="Rectangle 9"/>
          <p:cNvSpPr/>
          <p:nvPr/>
        </p:nvSpPr>
        <p:spPr>
          <a:xfrm>
            <a:off x="365760" y="201168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38528"/>
            <a:ext cx="5303520" cy="274320"/>
          </a:xfrm>
          <a:prstGeom prst="rect">
            <a:avLst/>
          </a:prstGeom>
          <a:noFill/>
        </p:spPr>
        <p:txBody>
          <a:bodyPr wrap="square">
            <a:spAutoFit/>
          </a:bodyPr>
          <a:lstStyle/>
          <a:p>
            <a:pPr algn="l"/>
            <a:r>
              <a:rPr sz="850" b="0" i="0">
                <a:solidFill>
                  <a:srgbClr val="FFFFFF"/>
                </a:solidFill>
              </a:rPr>
              <a:t>Catamaran company — capacity, open bar, DJ, menu</a:t>
            </a:r>
          </a:p>
        </p:txBody>
      </p:sp>
      <p:sp>
        <p:nvSpPr>
          <p:cNvPr id="12" name="Rectangle 11"/>
          <p:cNvSpPr/>
          <p:nvPr/>
        </p:nvSpPr>
        <p:spPr>
          <a:xfrm>
            <a:off x="365760" y="228600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212848"/>
            <a:ext cx="5303520" cy="274320"/>
          </a:xfrm>
          <a:prstGeom prst="rect">
            <a:avLst/>
          </a:prstGeom>
          <a:noFill/>
        </p:spPr>
        <p:txBody>
          <a:bodyPr wrap="square">
            <a:spAutoFit/>
          </a:bodyPr>
          <a:lstStyle/>
          <a:p>
            <a:pPr algn="l"/>
            <a:r>
              <a:rPr sz="850" b="0" i="0">
                <a:solidFill>
                  <a:srgbClr val="FFFFFF"/>
                </a:solidFill>
              </a:rPr>
              <a:t>Island day trip operator — speedboat, beach lunch</a:t>
            </a:r>
          </a:p>
        </p:txBody>
      </p:sp>
      <p:sp>
        <p:nvSpPr>
          <p:cNvPr id="14" name="Rectangle 13"/>
          <p:cNvSpPr/>
          <p:nvPr/>
        </p:nvSpPr>
        <p:spPr>
          <a:xfrm>
            <a:off x="365760" y="256032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487168"/>
            <a:ext cx="5303520" cy="274320"/>
          </a:xfrm>
          <a:prstGeom prst="rect">
            <a:avLst/>
          </a:prstGeom>
          <a:noFill/>
        </p:spPr>
        <p:txBody>
          <a:bodyPr wrap="square">
            <a:spAutoFit/>
          </a:bodyPr>
          <a:lstStyle/>
          <a:p>
            <a:pPr algn="l"/>
            <a:r>
              <a:rPr sz="850" b="0" i="0">
                <a:solidFill>
                  <a:srgbClr val="FFFFFF"/>
                </a:solidFill>
              </a:rPr>
              <a:t>Adventure day vendor — dune buggies / ATVs / zip-line</a:t>
            </a:r>
          </a:p>
        </p:txBody>
      </p:sp>
      <p:sp>
        <p:nvSpPr>
          <p:cNvPr id="16" name="Rectangle 15"/>
          <p:cNvSpPr/>
          <p:nvPr/>
        </p:nvSpPr>
        <p:spPr>
          <a:xfrm>
            <a:off x="365760" y="283463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761487"/>
            <a:ext cx="5303520" cy="274320"/>
          </a:xfrm>
          <a:prstGeom prst="rect">
            <a:avLst/>
          </a:prstGeom>
          <a:noFill/>
        </p:spPr>
        <p:txBody>
          <a:bodyPr wrap="square">
            <a:spAutoFit/>
          </a:bodyPr>
          <a:lstStyle/>
          <a:p>
            <a:pPr algn="l"/>
            <a:r>
              <a:rPr sz="850" b="0" i="0">
                <a:solidFill>
                  <a:srgbClr val="FFFFFF"/>
                </a:solidFill>
              </a:rPr>
              <a:t>Private dinner venue — menu, service, decor</a:t>
            </a:r>
          </a:p>
        </p:txBody>
      </p:sp>
      <p:sp>
        <p:nvSpPr>
          <p:cNvPr id="18" name="Rectangle 17"/>
          <p:cNvSpPr/>
          <p:nvPr/>
        </p:nvSpPr>
        <p:spPr>
          <a:xfrm>
            <a:off x="365760" y="310895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035807"/>
            <a:ext cx="5303520" cy="274320"/>
          </a:xfrm>
          <a:prstGeom prst="rect">
            <a:avLst/>
          </a:prstGeom>
          <a:noFill/>
        </p:spPr>
        <p:txBody>
          <a:bodyPr wrap="square">
            <a:spAutoFit/>
          </a:bodyPr>
          <a:lstStyle/>
          <a:p>
            <a:pPr algn="l"/>
            <a:r>
              <a:rPr sz="850" b="0" i="0">
                <a:solidFill>
                  <a:srgbClr val="FFFFFF"/>
                </a:solidFill>
              </a:rPr>
              <a:t>Night party venue — DJ, sound, lighting, capacity</a:t>
            </a:r>
          </a:p>
        </p:txBody>
      </p:sp>
      <p:sp>
        <p:nvSpPr>
          <p:cNvPr id="20" name="Rectangle 19"/>
          <p:cNvSpPr/>
          <p:nvPr/>
        </p:nvSpPr>
        <p:spPr>
          <a:xfrm>
            <a:off x="365760" y="338327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310127"/>
            <a:ext cx="5303520" cy="274320"/>
          </a:xfrm>
          <a:prstGeom prst="rect">
            <a:avLst/>
          </a:prstGeom>
          <a:noFill/>
        </p:spPr>
        <p:txBody>
          <a:bodyPr wrap="square">
            <a:spAutoFit/>
          </a:bodyPr>
          <a:lstStyle/>
          <a:p>
            <a:pPr algn="l"/>
            <a:r>
              <a:rPr sz="850" b="0" i="0">
                <a:solidFill>
                  <a:srgbClr val="FFFFFF"/>
                </a:solidFill>
              </a:rPr>
              <a:t>Professional photographer + videographer</a:t>
            </a:r>
          </a:p>
        </p:txBody>
      </p:sp>
      <p:sp>
        <p:nvSpPr>
          <p:cNvPr id="22" name="TextBox 21"/>
          <p:cNvSpPr txBox="1"/>
          <p:nvPr/>
        </p:nvSpPr>
        <p:spPr>
          <a:xfrm>
            <a:off x="365760" y="3749039"/>
            <a:ext cx="5486400" cy="274320"/>
          </a:xfrm>
          <a:prstGeom prst="rect">
            <a:avLst/>
          </a:prstGeom>
          <a:noFill/>
        </p:spPr>
        <p:txBody>
          <a:bodyPr wrap="square">
            <a:spAutoFit/>
          </a:bodyPr>
          <a:lstStyle/>
          <a:p>
            <a:pPr algn="l"/>
            <a:r>
              <a:rPr sz="900" b="1" i="0">
                <a:solidFill>
                  <a:srgbClr val="86EFA9"/>
                </a:solidFill>
              </a:rPr>
              <a:t>BRANDING &amp; GIFTING</a:t>
            </a:r>
          </a:p>
        </p:txBody>
      </p:sp>
      <p:sp>
        <p:nvSpPr>
          <p:cNvPr id="23" name="Rectangle 22"/>
          <p:cNvSpPr/>
          <p:nvPr/>
        </p:nvSpPr>
        <p:spPr>
          <a:xfrm>
            <a:off x="365760" y="411479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041647"/>
            <a:ext cx="5303520" cy="274320"/>
          </a:xfrm>
          <a:prstGeom prst="rect">
            <a:avLst/>
          </a:prstGeom>
          <a:noFill/>
        </p:spPr>
        <p:txBody>
          <a:bodyPr wrap="square">
            <a:spAutoFit/>
          </a:bodyPr>
          <a:lstStyle/>
          <a:p>
            <a:pPr algn="l"/>
            <a:r>
              <a:rPr sz="850" b="0" i="0">
                <a:solidFill>
                  <a:srgbClr val="FFFFFF"/>
                </a:solidFill>
              </a:rPr>
              <a:t>Design &amp; order Makena welcome gift bags (see Slide 6)</a:t>
            </a:r>
          </a:p>
        </p:txBody>
      </p:sp>
      <p:sp>
        <p:nvSpPr>
          <p:cNvPr id="25" name="Rectangle 24"/>
          <p:cNvSpPr/>
          <p:nvPr/>
        </p:nvSpPr>
        <p:spPr>
          <a:xfrm>
            <a:off x="365760" y="438911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315967"/>
            <a:ext cx="5303520" cy="274320"/>
          </a:xfrm>
          <a:prstGeom prst="rect">
            <a:avLst/>
          </a:prstGeom>
          <a:noFill/>
        </p:spPr>
        <p:txBody>
          <a:bodyPr wrap="square">
            <a:spAutoFit/>
          </a:bodyPr>
          <a:lstStyle/>
          <a:p>
            <a:pPr algn="l"/>
            <a:r>
              <a:rPr sz="850" b="0" i="0">
                <a:solidFill>
                  <a:srgbClr val="FFFFFF"/>
                </a:solidFill>
              </a:rPr>
              <a:t>Branded wristbands (color-coded by event/day)</a:t>
            </a:r>
          </a:p>
        </p:txBody>
      </p:sp>
      <p:sp>
        <p:nvSpPr>
          <p:cNvPr id="27" name="Rectangle 26"/>
          <p:cNvSpPr/>
          <p:nvPr/>
        </p:nvSpPr>
        <p:spPr>
          <a:xfrm>
            <a:off x="365760" y="466343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590287"/>
            <a:ext cx="5303520" cy="274320"/>
          </a:xfrm>
          <a:prstGeom prst="rect">
            <a:avLst/>
          </a:prstGeom>
          <a:noFill/>
        </p:spPr>
        <p:txBody>
          <a:bodyPr wrap="square">
            <a:spAutoFit/>
          </a:bodyPr>
          <a:lstStyle/>
          <a:p>
            <a:pPr algn="l"/>
            <a:r>
              <a:rPr sz="850" b="0" i="0">
                <a:solidFill>
                  <a:srgbClr val="FFFFFF"/>
                </a:solidFill>
              </a:rPr>
              <a:t>Makena bucket hats for island day trip</a:t>
            </a:r>
          </a:p>
        </p:txBody>
      </p:sp>
      <p:sp>
        <p:nvSpPr>
          <p:cNvPr id="29" name="Rectangle 28"/>
          <p:cNvSpPr/>
          <p:nvPr/>
        </p:nvSpPr>
        <p:spPr>
          <a:xfrm>
            <a:off x="365760" y="493775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4864607"/>
            <a:ext cx="5303520" cy="274320"/>
          </a:xfrm>
          <a:prstGeom prst="rect">
            <a:avLst/>
          </a:prstGeom>
          <a:noFill/>
        </p:spPr>
        <p:txBody>
          <a:bodyPr wrap="square">
            <a:spAutoFit/>
          </a:bodyPr>
          <a:lstStyle/>
          <a:p>
            <a:pPr algn="l"/>
            <a:r>
              <a:rPr sz="850" b="0" i="0">
                <a:solidFill>
                  <a:srgbClr val="FFFFFF"/>
                </a:solidFill>
              </a:rPr>
              <a:t>Custom matching jerseys for adventure day</a:t>
            </a:r>
          </a:p>
        </p:txBody>
      </p:sp>
      <p:sp>
        <p:nvSpPr>
          <p:cNvPr id="31" name="Rectangle 30"/>
          <p:cNvSpPr/>
          <p:nvPr/>
        </p:nvSpPr>
        <p:spPr>
          <a:xfrm>
            <a:off x="365760" y="521207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138927"/>
            <a:ext cx="5303520" cy="274320"/>
          </a:xfrm>
          <a:prstGeom prst="rect">
            <a:avLst/>
          </a:prstGeom>
          <a:noFill/>
        </p:spPr>
        <p:txBody>
          <a:bodyPr wrap="square">
            <a:spAutoFit/>
          </a:bodyPr>
          <a:lstStyle/>
          <a:p>
            <a:pPr algn="l"/>
            <a:r>
              <a:rPr sz="850" b="0" i="0">
                <a:solidFill>
                  <a:srgbClr val="FFFFFF"/>
                </a:solidFill>
              </a:rPr>
              <a:t>Branded beach towels for resort days</a:t>
            </a:r>
          </a:p>
        </p:txBody>
      </p:sp>
      <p:sp>
        <p:nvSpPr>
          <p:cNvPr id="33" name="Rectangle 32"/>
          <p:cNvSpPr/>
          <p:nvPr/>
        </p:nvSpPr>
        <p:spPr>
          <a:xfrm>
            <a:off x="365760" y="548639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5413247"/>
            <a:ext cx="5303520" cy="274320"/>
          </a:xfrm>
          <a:prstGeom prst="rect">
            <a:avLst/>
          </a:prstGeom>
          <a:noFill/>
        </p:spPr>
        <p:txBody>
          <a:bodyPr wrap="square">
            <a:spAutoFit/>
          </a:bodyPr>
          <a:lstStyle/>
          <a:p>
            <a:pPr algn="l"/>
            <a:r>
              <a:rPr sz="850" b="0" i="0">
                <a:solidFill>
                  <a:srgbClr val="FFFFFF"/>
                </a:solidFill>
              </a:rPr>
              <a:t>Farewell keepsake gift (keychain / photo print)</a:t>
            </a:r>
          </a:p>
        </p:txBody>
      </p:sp>
      <p:sp>
        <p:nvSpPr>
          <p:cNvPr id="35" name="Rectangle 34"/>
          <p:cNvSpPr/>
          <p:nvPr/>
        </p:nvSpPr>
        <p:spPr>
          <a:xfrm>
            <a:off x="365760" y="576071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5687567"/>
            <a:ext cx="5303520" cy="274320"/>
          </a:xfrm>
          <a:prstGeom prst="rect">
            <a:avLst/>
          </a:prstGeom>
          <a:noFill/>
        </p:spPr>
        <p:txBody>
          <a:bodyPr wrap="square">
            <a:spAutoFit/>
          </a:bodyPr>
          <a:lstStyle/>
          <a:p>
            <a:pPr algn="l"/>
            <a:r>
              <a:rPr sz="850" b="0" i="0">
                <a:solidFill>
                  <a:srgbClr val="FFFFFF"/>
                </a:solidFill>
              </a:rPr>
              <a:t>MAKENA airport pickup signs (laminated, professional)</a:t>
            </a:r>
          </a:p>
        </p:txBody>
      </p:sp>
      <p:sp>
        <p:nvSpPr>
          <p:cNvPr id="37" name="Rectangle 36"/>
          <p:cNvSpPr/>
          <p:nvPr/>
        </p:nvSpPr>
        <p:spPr>
          <a:xfrm>
            <a:off x="365760" y="603503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5961887"/>
            <a:ext cx="5303520" cy="274320"/>
          </a:xfrm>
          <a:prstGeom prst="rect">
            <a:avLst/>
          </a:prstGeom>
          <a:noFill/>
        </p:spPr>
        <p:txBody>
          <a:bodyPr wrap="square">
            <a:spAutoFit/>
          </a:bodyPr>
          <a:lstStyle/>
          <a:p>
            <a:pPr algn="l"/>
            <a:r>
              <a:rPr sz="850" b="0" i="0">
                <a:solidFill>
                  <a:srgbClr val="FFFFFF"/>
                </a:solidFill>
              </a:rPr>
              <a:t>All White party entry arch / step-and-repeat backdrop</a:t>
            </a:r>
          </a:p>
        </p:txBody>
      </p:sp>
      <p:sp>
        <p:nvSpPr>
          <p:cNvPr id="39" name="TextBox 38"/>
          <p:cNvSpPr txBox="1"/>
          <p:nvPr/>
        </p:nvSpPr>
        <p:spPr>
          <a:xfrm>
            <a:off x="6309360" y="1097280"/>
            <a:ext cx="5486400" cy="274320"/>
          </a:xfrm>
          <a:prstGeom prst="rect">
            <a:avLst/>
          </a:prstGeom>
          <a:noFill/>
        </p:spPr>
        <p:txBody>
          <a:bodyPr wrap="square">
            <a:spAutoFit/>
          </a:bodyPr>
          <a:lstStyle/>
          <a:p>
            <a:pPr algn="l"/>
            <a:r>
              <a:rPr sz="900" b="1" i="0">
                <a:solidFill>
                  <a:srgbClr val="86EFA9"/>
                </a:solidFill>
              </a:rPr>
              <a:t>GUEST COMMUNICATIONS</a:t>
            </a:r>
          </a:p>
        </p:txBody>
      </p:sp>
      <p:sp>
        <p:nvSpPr>
          <p:cNvPr id="40" name="Rectangle 39"/>
          <p:cNvSpPr/>
          <p:nvPr/>
        </p:nvSpPr>
        <p:spPr>
          <a:xfrm>
            <a:off x="6309360" y="146304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92240" y="1389888"/>
            <a:ext cx="5303520" cy="274320"/>
          </a:xfrm>
          <a:prstGeom prst="rect">
            <a:avLst/>
          </a:prstGeom>
          <a:noFill/>
        </p:spPr>
        <p:txBody>
          <a:bodyPr wrap="square">
            <a:spAutoFit/>
          </a:bodyPr>
          <a:lstStyle/>
          <a:p>
            <a:pPr algn="l"/>
            <a:r>
              <a:rPr sz="850" b="0" i="0">
                <a:solidFill>
                  <a:srgbClr val="FFFFFF"/>
                </a:solidFill>
              </a:rPr>
              <a:t>Send full trip itinerary PDF to all guests (2 weeks before)</a:t>
            </a:r>
          </a:p>
        </p:txBody>
      </p:sp>
      <p:sp>
        <p:nvSpPr>
          <p:cNvPr id="42" name="Rectangle 41"/>
          <p:cNvSpPr/>
          <p:nvPr/>
        </p:nvSpPr>
        <p:spPr>
          <a:xfrm>
            <a:off x="6309360" y="173736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92240" y="1664208"/>
            <a:ext cx="5303520" cy="274320"/>
          </a:xfrm>
          <a:prstGeom prst="rect">
            <a:avLst/>
          </a:prstGeom>
          <a:noFill/>
        </p:spPr>
        <p:txBody>
          <a:bodyPr wrap="square">
            <a:spAutoFit/>
          </a:bodyPr>
          <a:lstStyle/>
          <a:p>
            <a:pPr algn="l"/>
            <a:r>
              <a:rPr sz="850" b="0" i="0">
                <a:solidFill>
                  <a:srgbClr val="FFFFFF"/>
                </a:solidFill>
              </a:rPr>
              <a:t>Create group WhatsApp with all guests</a:t>
            </a:r>
          </a:p>
        </p:txBody>
      </p:sp>
      <p:sp>
        <p:nvSpPr>
          <p:cNvPr id="44" name="Rectangle 43"/>
          <p:cNvSpPr/>
          <p:nvPr/>
        </p:nvSpPr>
        <p:spPr>
          <a:xfrm>
            <a:off x="6309360" y="201168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92240" y="1938528"/>
            <a:ext cx="5303520" cy="274320"/>
          </a:xfrm>
          <a:prstGeom prst="rect">
            <a:avLst/>
          </a:prstGeom>
          <a:noFill/>
        </p:spPr>
        <p:txBody>
          <a:bodyPr wrap="square">
            <a:spAutoFit/>
          </a:bodyPr>
          <a:lstStyle/>
          <a:p>
            <a:pPr algn="l"/>
            <a:r>
              <a:rPr sz="850" b="0" i="0">
                <a:solidFill>
                  <a:srgbClr val="FFFFFF"/>
                </a:solidFill>
              </a:rPr>
              <a:t>Collect all flight details &amp; arrival times</a:t>
            </a:r>
          </a:p>
        </p:txBody>
      </p:sp>
      <p:sp>
        <p:nvSpPr>
          <p:cNvPr id="46" name="Rectangle 45"/>
          <p:cNvSpPr/>
          <p:nvPr/>
        </p:nvSpPr>
        <p:spPr>
          <a:xfrm>
            <a:off x="6309360" y="228600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92240" y="2212848"/>
            <a:ext cx="5303520" cy="274320"/>
          </a:xfrm>
          <a:prstGeom prst="rect">
            <a:avLst/>
          </a:prstGeom>
          <a:noFill/>
        </p:spPr>
        <p:txBody>
          <a:bodyPr wrap="square">
            <a:spAutoFit/>
          </a:bodyPr>
          <a:lstStyle/>
          <a:p>
            <a:pPr algn="l"/>
            <a:r>
              <a:rPr sz="850" b="0" i="0">
                <a:solidFill>
                  <a:srgbClr val="FFFFFF"/>
                </a:solidFill>
              </a:rPr>
              <a:t>Send All White dress code reminder (1 week + 1 day before)</a:t>
            </a:r>
          </a:p>
        </p:txBody>
      </p:sp>
      <p:sp>
        <p:nvSpPr>
          <p:cNvPr id="48" name="Rectangle 47"/>
          <p:cNvSpPr/>
          <p:nvPr/>
        </p:nvSpPr>
        <p:spPr>
          <a:xfrm>
            <a:off x="6309360" y="256032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92240" y="2487168"/>
            <a:ext cx="5303520" cy="274320"/>
          </a:xfrm>
          <a:prstGeom prst="rect">
            <a:avLst/>
          </a:prstGeom>
          <a:noFill/>
        </p:spPr>
        <p:txBody>
          <a:bodyPr wrap="square">
            <a:spAutoFit/>
          </a:bodyPr>
          <a:lstStyle/>
          <a:p>
            <a:pPr algn="l"/>
            <a:r>
              <a:rPr sz="850" b="0" i="0">
                <a:solidFill>
                  <a:srgbClr val="FFFFFF"/>
                </a:solidFill>
              </a:rPr>
              <a:t>Share packing list &amp; weather advisory</a:t>
            </a:r>
          </a:p>
        </p:txBody>
      </p:sp>
      <p:sp>
        <p:nvSpPr>
          <p:cNvPr id="50" name="Rectangle 49"/>
          <p:cNvSpPr/>
          <p:nvPr/>
        </p:nvSpPr>
        <p:spPr>
          <a:xfrm>
            <a:off x="6309360" y="283463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92240" y="2761487"/>
            <a:ext cx="5303520" cy="274320"/>
          </a:xfrm>
          <a:prstGeom prst="rect">
            <a:avLst/>
          </a:prstGeom>
          <a:noFill/>
        </p:spPr>
        <p:txBody>
          <a:bodyPr wrap="square">
            <a:spAutoFit/>
          </a:bodyPr>
          <a:lstStyle/>
          <a:p>
            <a:pPr algn="l"/>
            <a:r>
              <a:rPr sz="850" b="0" i="0">
                <a:solidFill>
                  <a:srgbClr val="FFFFFF"/>
                </a:solidFill>
              </a:rPr>
              <a:t>Send hotel address, check-in time, room info</a:t>
            </a:r>
          </a:p>
        </p:txBody>
      </p:sp>
      <p:sp>
        <p:nvSpPr>
          <p:cNvPr id="52" name="Rectangle 51"/>
          <p:cNvSpPr/>
          <p:nvPr/>
        </p:nvSpPr>
        <p:spPr>
          <a:xfrm>
            <a:off x="6309360" y="310895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92240" y="3035807"/>
            <a:ext cx="5303520" cy="274320"/>
          </a:xfrm>
          <a:prstGeom prst="rect">
            <a:avLst/>
          </a:prstGeom>
          <a:noFill/>
        </p:spPr>
        <p:txBody>
          <a:bodyPr wrap="square">
            <a:spAutoFit/>
          </a:bodyPr>
          <a:lstStyle/>
          <a:p>
            <a:pPr algn="l"/>
            <a:r>
              <a:rPr sz="850" b="0" i="0">
                <a:solidFill>
                  <a:srgbClr val="FFFFFF"/>
                </a:solidFill>
              </a:rPr>
              <a:t>Build emergency contact sheet (local hospital, embassy)</a:t>
            </a:r>
          </a:p>
        </p:txBody>
      </p:sp>
      <p:sp>
        <p:nvSpPr>
          <p:cNvPr id="54" name="Rectangle 53"/>
          <p:cNvSpPr/>
          <p:nvPr/>
        </p:nvSpPr>
        <p:spPr>
          <a:xfrm>
            <a:off x="6309360" y="338327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92240" y="3310127"/>
            <a:ext cx="5303520" cy="274320"/>
          </a:xfrm>
          <a:prstGeom prst="rect">
            <a:avLst/>
          </a:prstGeom>
          <a:noFill/>
        </p:spPr>
        <p:txBody>
          <a:bodyPr wrap="square">
            <a:spAutoFit/>
          </a:bodyPr>
          <a:lstStyle/>
          <a:p>
            <a:pPr algn="l"/>
            <a:r>
              <a:rPr sz="850" b="0" i="0">
                <a:solidFill>
                  <a:srgbClr val="FFFFFF"/>
                </a:solidFill>
              </a:rPr>
              <a:t>Share adventure day waiver forms in advance</a:t>
            </a:r>
          </a:p>
        </p:txBody>
      </p:sp>
      <p:sp>
        <p:nvSpPr>
          <p:cNvPr id="56" name="TextBox 55"/>
          <p:cNvSpPr txBox="1"/>
          <p:nvPr/>
        </p:nvSpPr>
        <p:spPr>
          <a:xfrm>
            <a:off x="6309360" y="3749039"/>
            <a:ext cx="5486400" cy="274320"/>
          </a:xfrm>
          <a:prstGeom prst="rect">
            <a:avLst/>
          </a:prstGeom>
          <a:noFill/>
        </p:spPr>
        <p:txBody>
          <a:bodyPr wrap="square">
            <a:spAutoFit/>
          </a:bodyPr>
          <a:lstStyle/>
          <a:p>
            <a:pPr algn="l"/>
            <a:r>
              <a:rPr sz="900" b="1" i="0">
                <a:solidFill>
                  <a:srgbClr val="86EFA9"/>
                </a:solidFill>
              </a:rPr>
              <a:t>MONEY &amp; ADMIN</a:t>
            </a:r>
          </a:p>
        </p:txBody>
      </p:sp>
      <p:sp>
        <p:nvSpPr>
          <p:cNvPr id="57" name="Rectangle 56"/>
          <p:cNvSpPr/>
          <p:nvPr/>
        </p:nvSpPr>
        <p:spPr>
          <a:xfrm>
            <a:off x="6309360" y="411479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92240" y="4041647"/>
            <a:ext cx="5303520" cy="274320"/>
          </a:xfrm>
          <a:prstGeom prst="rect">
            <a:avLst/>
          </a:prstGeom>
          <a:noFill/>
        </p:spPr>
        <p:txBody>
          <a:bodyPr wrap="square">
            <a:spAutoFit/>
          </a:bodyPr>
          <a:lstStyle/>
          <a:p>
            <a:pPr algn="l"/>
            <a:r>
              <a:rPr sz="850" b="0" i="0">
                <a:solidFill>
                  <a:srgbClr val="FFFFFF"/>
                </a:solidFill>
              </a:rPr>
              <a:t>Confirm all vendor deposits paid</a:t>
            </a:r>
          </a:p>
        </p:txBody>
      </p:sp>
      <p:sp>
        <p:nvSpPr>
          <p:cNvPr id="59" name="Rectangle 58"/>
          <p:cNvSpPr/>
          <p:nvPr/>
        </p:nvSpPr>
        <p:spPr>
          <a:xfrm>
            <a:off x="6309360" y="438911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92240" y="4315967"/>
            <a:ext cx="5303520" cy="274320"/>
          </a:xfrm>
          <a:prstGeom prst="rect">
            <a:avLst/>
          </a:prstGeom>
          <a:noFill/>
        </p:spPr>
        <p:txBody>
          <a:bodyPr wrap="square">
            <a:spAutoFit/>
          </a:bodyPr>
          <a:lstStyle/>
          <a:p>
            <a:pPr algn="l"/>
            <a:r>
              <a:rPr sz="850" b="0" i="0">
                <a:solidFill>
                  <a:srgbClr val="FFFFFF"/>
                </a:solidFill>
              </a:rPr>
              <a:t>Set up trip petty cash / on-the-ground fund</a:t>
            </a:r>
          </a:p>
        </p:txBody>
      </p:sp>
      <p:sp>
        <p:nvSpPr>
          <p:cNvPr id="61" name="Rectangle 60"/>
          <p:cNvSpPr/>
          <p:nvPr/>
        </p:nvSpPr>
        <p:spPr>
          <a:xfrm>
            <a:off x="6309360" y="466343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492240" y="4590287"/>
            <a:ext cx="5303520" cy="274320"/>
          </a:xfrm>
          <a:prstGeom prst="rect">
            <a:avLst/>
          </a:prstGeom>
          <a:noFill/>
        </p:spPr>
        <p:txBody>
          <a:bodyPr wrap="square">
            <a:spAutoFit/>
          </a:bodyPr>
          <a:lstStyle/>
          <a:p>
            <a:pPr algn="l"/>
            <a:r>
              <a:rPr sz="850" b="0" i="0">
                <a:solidFill>
                  <a:srgbClr val="FFFFFF"/>
                </a:solidFill>
              </a:rPr>
              <a:t>Arrange group travel insurance for all guests</a:t>
            </a:r>
          </a:p>
        </p:txBody>
      </p:sp>
      <p:sp>
        <p:nvSpPr>
          <p:cNvPr id="63" name="Rectangle 62"/>
          <p:cNvSpPr/>
          <p:nvPr/>
        </p:nvSpPr>
        <p:spPr>
          <a:xfrm>
            <a:off x="6309360" y="493775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92240" y="4864607"/>
            <a:ext cx="5303520" cy="274320"/>
          </a:xfrm>
          <a:prstGeom prst="rect">
            <a:avLst/>
          </a:prstGeom>
          <a:noFill/>
        </p:spPr>
        <p:txBody>
          <a:bodyPr wrap="square">
            <a:spAutoFit/>
          </a:bodyPr>
          <a:lstStyle/>
          <a:p>
            <a:pPr algn="l"/>
            <a:r>
              <a:rPr sz="850" b="0" i="0">
                <a:solidFill>
                  <a:srgbClr val="FFFFFF"/>
                </a:solidFill>
              </a:rPr>
              <a:t>Create a vendor contact sheet for each delegate</a:t>
            </a:r>
          </a:p>
        </p:txBody>
      </p:sp>
      <p:sp>
        <p:nvSpPr>
          <p:cNvPr id="65" name="Rectangle 64"/>
          <p:cNvSpPr/>
          <p:nvPr/>
        </p:nvSpPr>
        <p:spPr>
          <a:xfrm>
            <a:off x="6309360" y="521207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492240" y="5138927"/>
            <a:ext cx="5303520" cy="274320"/>
          </a:xfrm>
          <a:prstGeom prst="rect">
            <a:avLst/>
          </a:prstGeom>
          <a:noFill/>
        </p:spPr>
        <p:txBody>
          <a:bodyPr wrap="square">
            <a:spAutoFit/>
          </a:bodyPr>
          <a:lstStyle/>
          <a:p>
            <a:pPr algn="l"/>
            <a:r>
              <a:rPr sz="850" b="0" i="0">
                <a:solidFill>
                  <a:srgbClr val="FFFFFF"/>
                </a:solidFill>
              </a:rPr>
              <a:t>Build daily budget tracker</a:t>
            </a:r>
          </a:p>
        </p:txBody>
      </p:sp>
      <p:sp>
        <p:nvSpPr>
          <p:cNvPr id="67" name="Rectangle 66"/>
          <p:cNvSpPr/>
          <p:nvPr/>
        </p:nvSpPr>
        <p:spPr>
          <a:xfrm>
            <a:off x="6309360" y="548639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492240" y="5413247"/>
            <a:ext cx="5303520" cy="274320"/>
          </a:xfrm>
          <a:prstGeom prst="rect">
            <a:avLst/>
          </a:prstGeom>
          <a:noFill/>
        </p:spPr>
        <p:txBody>
          <a:bodyPr wrap="square">
            <a:spAutoFit/>
          </a:bodyPr>
          <a:lstStyle/>
          <a:p>
            <a:pPr algn="l"/>
            <a:r>
              <a:rPr sz="850" b="0" i="0">
                <a:solidFill>
                  <a:srgbClr val="FFFFFF"/>
                </a:solidFill>
              </a:rPr>
              <a:t>Confirm all Makena branded items have arrived</a:t>
            </a:r>
          </a:p>
        </p:txBody>
      </p:sp>
      <p:sp>
        <p:nvSpPr>
          <p:cNvPr id="69" name="Rectangle 68"/>
          <p:cNvSpPr/>
          <p:nvPr/>
        </p:nvSpPr>
        <p:spPr>
          <a:xfrm>
            <a:off x="6309360" y="576071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492240" y="5687567"/>
            <a:ext cx="5303520" cy="274320"/>
          </a:xfrm>
          <a:prstGeom prst="rect">
            <a:avLst/>
          </a:prstGeom>
          <a:noFill/>
        </p:spPr>
        <p:txBody>
          <a:bodyPr wrap="square">
            <a:spAutoFit/>
          </a:bodyPr>
          <a:lstStyle/>
          <a:p>
            <a:pPr algn="l"/>
            <a:r>
              <a:rPr sz="850" b="0" i="0">
                <a:solidFill>
                  <a:srgbClr val="FFFFFF"/>
                </a:solidFill>
              </a:rPr>
              <a:t>Create delegate briefing doc — each role's daily tasks</a:t>
            </a:r>
          </a:p>
        </p:txBody>
      </p:sp>
      <p:sp>
        <p:nvSpPr>
          <p:cNvPr id="71" name="Rectangle 70"/>
          <p:cNvSpPr/>
          <p:nvPr/>
        </p:nvSpPr>
        <p:spPr>
          <a:xfrm>
            <a:off x="6309360" y="603503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92240" y="5961887"/>
            <a:ext cx="5303520" cy="274320"/>
          </a:xfrm>
          <a:prstGeom prst="rect">
            <a:avLst/>
          </a:prstGeom>
          <a:noFill/>
        </p:spPr>
        <p:txBody>
          <a:bodyPr wrap="square">
            <a:spAutoFit/>
          </a:bodyPr>
          <a:lstStyle/>
          <a:p>
            <a:pPr algn="l"/>
            <a:r>
              <a:rPr sz="850" b="0" i="0">
                <a:solidFill>
                  <a:srgbClr val="FFFFFF"/>
                </a:solidFill>
              </a:rPr>
              <a:t>Schedule pre-trip team call (1 week before departure)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B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594360"/>
          </a:xfrm>
          <a:prstGeom prst="rect">
            <a:avLst/>
          </a:prstGeom>
          <a:noFill/>
        </p:spPr>
        <p:txBody>
          <a:bodyPr wrap="square">
            <a:spAutoFit/>
          </a:bodyPr>
          <a:lstStyle/>
          <a:p>
            <a:pPr algn="l"/>
            <a:r>
              <a:rPr sz="2600" b="1" i="0">
                <a:solidFill>
                  <a:srgbClr val="FFFFFF"/>
                </a:solidFill>
              </a:rPr>
              <a:t>✈️  AIRPORT ARRIVALS &amp; TRANSPORTATION</a:t>
            </a:r>
          </a:p>
        </p:txBody>
      </p:sp>
      <p:sp>
        <p:nvSpPr>
          <p:cNvPr id="4" name="TextBox 3"/>
          <p:cNvSpPr txBox="1"/>
          <p:nvPr/>
        </p:nvSpPr>
        <p:spPr>
          <a:xfrm>
            <a:off x="457200" y="658368"/>
            <a:ext cx="10972800" cy="256032"/>
          </a:xfrm>
          <a:prstGeom prst="rect">
            <a:avLst/>
          </a:prstGeom>
          <a:noFill/>
        </p:spPr>
        <p:txBody>
          <a:bodyPr wrap="square">
            <a:spAutoFit/>
          </a:bodyPr>
          <a:lstStyle/>
          <a:p>
            <a:pPr algn="l"/>
            <a:r>
              <a:rPr sz="1000" b="0" i="0">
                <a:solidFill>
                  <a:srgbClr val="86EFA9"/>
                </a:solidFill>
              </a:rPr>
              <a:t>Delegate: Airport &amp; Transport Lead  |  First impression of the whole trip — make it count.</a:t>
            </a:r>
          </a:p>
        </p:txBody>
      </p:sp>
      <p:sp>
        <p:nvSpPr>
          <p:cNvPr id="5" name="Rectangle 4"/>
          <p:cNvSpPr/>
          <p:nvPr/>
        </p:nvSpPr>
        <p:spPr>
          <a:xfrm>
            <a:off x="365760" y="1005840"/>
            <a:ext cx="5486400" cy="530352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5120640" cy="320040"/>
          </a:xfrm>
          <a:prstGeom prst="rect">
            <a:avLst/>
          </a:prstGeom>
          <a:noFill/>
        </p:spPr>
        <p:txBody>
          <a:bodyPr wrap="square">
            <a:spAutoFit/>
          </a:bodyPr>
          <a:lstStyle/>
          <a:p>
            <a:pPr algn="l"/>
            <a:r>
              <a:rPr sz="1200" b="1" i="0">
                <a:solidFill>
                  <a:srgbClr val="86EFA9"/>
                </a:solidFill>
              </a:rPr>
              <a:t>📋  ACTION ITEMS</a:t>
            </a:r>
          </a:p>
        </p:txBody>
      </p:sp>
      <p:sp>
        <p:nvSpPr>
          <p:cNvPr id="7" name="Rectangle 6"/>
          <p:cNvSpPr/>
          <p:nvPr/>
        </p:nvSpPr>
        <p:spPr>
          <a:xfrm>
            <a:off x="502920" y="1591056"/>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08760"/>
            <a:ext cx="5029200" cy="320040"/>
          </a:xfrm>
          <a:prstGeom prst="rect">
            <a:avLst/>
          </a:prstGeom>
          <a:noFill/>
        </p:spPr>
        <p:txBody>
          <a:bodyPr wrap="square">
            <a:spAutoFit/>
          </a:bodyPr>
          <a:lstStyle/>
          <a:p>
            <a:pPr algn="l"/>
            <a:r>
              <a:rPr sz="900" b="0" i="0">
                <a:solidFill>
                  <a:srgbClr val="FFFFFF"/>
                </a:solidFill>
              </a:rPr>
              <a:t>Find &amp; contract a reputable Punta Cana transportation company (vans/SUVs)</a:t>
            </a:r>
          </a:p>
        </p:txBody>
      </p:sp>
      <p:sp>
        <p:nvSpPr>
          <p:cNvPr id="9" name="Rectangle 8"/>
          <p:cNvSpPr/>
          <p:nvPr/>
        </p:nvSpPr>
        <p:spPr>
          <a:xfrm>
            <a:off x="502920" y="1938527"/>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856231"/>
            <a:ext cx="5029200" cy="320040"/>
          </a:xfrm>
          <a:prstGeom prst="rect">
            <a:avLst/>
          </a:prstGeom>
          <a:noFill/>
        </p:spPr>
        <p:txBody>
          <a:bodyPr wrap="square">
            <a:spAutoFit/>
          </a:bodyPr>
          <a:lstStyle/>
          <a:p>
            <a:pPr algn="l"/>
            <a:r>
              <a:rPr sz="900" b="0" i="0">
                <a:solidFill>
                  <a:srgbClr val="FFFFFF"/>
                </a:solidFill>
              </a:rPr>
              <a:t>Collect every guest's flight number, airline &amp; arrival time</a:t>
            </a:r>
          </a:p>
        </p:txBody>
      </p:sp>
      <p:sp>
        <p:nvSpPr>
          <p:cNvPr id="11" name="Rectangle 10"/>
          <p:cNvSpPr/>
          <p:nvPr/>
        </p:nvSpPr>
        <p:spPr>
          <a:xfrm>
            <a:off x="502920" y="2285999"/>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03703"/>
            <a:ext cx="5029200" cy="320040"/>
          </a:xfrm>
          <a:prstGeom prst="rect">
            <a:avLst/>
          </a:prstGeom>
          <a:noFill/>
        </p:spPr>
        <p:txBody>
          <a:bodyPr wrap="square">
            <a:spAutoFit/>
          </a:bodyPr>
          <a:lstStyle/>
          <a:p>
            <a:pPr algn="l"/>
            <a:r>
              <a:rPr sz="900" b="0" i="0">
                <a:solidFill>
                  <a:srgbClr val="FFFFFF"/>
                </a:solidFill>
              </a:rPr>
              <a:t>Create 3–4 designated pickup windows (e.g. 10AM, 2PM, 6PM, 10PM)</a:t>
            </a:r>
          </a:p>
        </p:txBody>
      </p:sp>
      <p:sp>
        <p:nvSpPr>
          <p:cNvPr id="13" name="Rectangle 12"/>
          <p:cNvSpPr/>
          <p:nvPr/>
        </p:nvSpPr>
        <p:spPr>
          <a:xfrm>
            <a:off x="502920" y="2633471"/>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551175"/>
            <a:ext cx="5029200" cy="320040"/>
          </a:xfrm>
          <a:prstGeom prst="rect">
            <a:avLst/>
          </a:prstGeom>
          <a:noFill/>
        </p:spPr>
        <p:txBody>
          <a:bodyPr wrap="square">
            <a:spAutoFit/>
          </a:bodyPr>
          <a:lstStyle/>
          <a:p>
            <a:pPr algn="l"/>
            <a:r>
              <a:rPr sz="900" b="0" i="0">
                <a:solidFill>
                  <a:srgbClr val="FFFFFF"/>
                </a:solidFill>
              </a:rPr>
              <a:t>Design laminated MAKENA branded pickup signs — bold, clean, on-brand</a:t>
            </a:r>
          </a:p>
        </p:txBody>
      </p:sp>
      <p:sp>
        <p:nvSpPr>
          <p:cNvPr id="15" name="Rectangle 14"/>
          <p:cNvSpPr/>
          <p:nvPr/>
        </p:nvSpPr>
        <p:spPr>
          <a:xfrm>
            <a:off x="502920" y="2980943"/>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898647"/>
            <a:ext cx="5029200" cy="320040"/>
          </a:xfrm>
          <a:prstGeom prst="rect">
            <a:avLst/>
          </a:prstGeom>
          <a:noFill/>
        </p:spPr>
        <p:txBody>
          <a:bodyPr wrap="square">
            <a:spAutoFit/>
          </a:bodyPr>
          <a:lstStyle/>
          <a:p>
            <a:pPr algn="l"/>
            <a:r>
              <a:rPr sz="900" b="0" i="0">
                <a:solidFill>
                  <a:srgbClr val="FFFFFF"/>
                </a:solidFill>
              </a:rPr>
              <a:t>Brief every driver: dress code (black attire), behaviour, no phone use</a:t>
            </a:r>
          </a:p>
        </p:txBody>
      </p:sp>
      <p:sp>
        <p:nvSpPr>
          <p:cNvPr id="17" name="Rectangle 16"/>
          <p:cNvSpPr/>
          <p:nvPr/>
        </p:nvSpPr>
        <p:spPr>
          <a:xfrm>
            <a:off x="502920" y="3328415"/>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246119"/>
            <a:ext cx="5029200" cy="320040"/>
          </a:xfrm>
          <a:prstGeom prst="rect">
            <a:avLst/>
          </a:prstGeom>
          <a:noFill/>
        </p:spPr>
        <p:txBody>
          <a:bodyPr wrap="square">
            <a:spAutoFit/>
          </a:bodyPr>
          <a:lstStyle/>
          <a:p>
            <a:pPr algn="l"/>
            <a:r>
              <a:rPr sz="900" b="0" i="0">
                <a:solidFill>
                  <a:srgbClr val="FFFFFF"/>
                </a:solidFill>
              </a:rPr>
              <a:t>Set up a driver group chat — Airport Lead manages this in real time</a:t>
            </a:r>
          </a:p>
        </p:txBody>
      </p:sp>
      <p:sp>
        <p:nvSpPr>
          <p:cNvPr id="19" name="Rectangle 18"/>
          <p:cNvSpPr/>
          <p:nvPr/>
        </p:nvSpPr>
        <p:spPr>
          <a:xfrm>
            <a:off x="502920" y="3675887"/>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593591"/>
            <a:ext cx="5029200" cy="320040"/>
          </a:xfrm>
          <a:prstGeom prst="rect">
            <a:avLst/>
          </a:prstGeom>
          <a:noFill/>
        </p:spPr>
        <p:txBody>
          <a:bodyPr wrap="square">
            <a:spAutoFit/>
          </a:bodyPr>
          <a:lstStyle/>
          <a:p>
            <a:pPr algn="l"/>
            <a:r>
              <a:rPr sz="900" b="0" i="0">
                <a:solidFill>
                  <a:srgbClr val="FFFFFF"/>
                </a:solidFill>
              </a:rPr>
              <a:t>Create delayed-flight protocol: driver waits up to 90 min, then re-deploys</a:t>
            </a:r>
          </a:p>
        </p:txBody>
      </p:sp>
      <p:sp>
        <p:nvSpPr>
          <p:cNvPr id="21" name="Rectangle 20"/>
          <p:cNvSpPr/>
          <p:nvPr/>
        </p:nvSpPr>
        <p:spPr>
          <a:xfrm>
            <a:off x="502920" y="4023359"/>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41063"/>
            <a:ext cx="5029200" cy="320040"/>
          </a:xfrm>
          <a:prstGeom prst="rect">
            <a:avLst/>
          </a:prstGeom>
          <a:noFill/>
        </p:spPr>
        <p:txBody>
          <a:bodyPr wrap="square">
            <a:spAutoFit/>
          </a:bodyPr>
          <a:lstStyle/>
          <a:p>
            <a:pPr algn="l"/>
            <a:r>
              <a:rPr sz="900" b="0" i="0">
                <a:solidFill>
                  <a:srgbClr val="FFFFFF"/>
                </a:solidFill>
              </a:rPr>
              <a:t>Map out route from Punta Cana Int'l Airport (PUJ) to resort</a:t>
            </a:r>
          </a:p>
        </p:txBody>
      </p:sp>
      <p:sp>
        <p:nvSpPr>
          <p:cNvPr id="23" name="Rectangle 22"/>
          <p:cNvSpPr/>
          <p:nvPr/>
        </p:nvSpPr>
        <p:spPr>
          <a:xfrm>
            <a:off x="502920" y="4370831"/>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288536"/>
            <a:ext cx="5029200" cy="320040"/>
          </a:xfrm>
          <a:prstGeom prst="rect">
            <a:avLst/>
          </a:prstGeom>
          <a:noFill/>
        </p:spPr>
        <p:txBody>
          <a:bodyPr wrap="square">
            <a:spAutoFit/>
          </a:bodyPr>
          <a:lstStyle/>
          <a:p>
            <a:pPr algn="l"/>
            <a:r>
              <a:rPr sz="900" b="0" i="0">
                <a:solidFill>
                  <a:srgbClr val="FFFFFF"/>
                </a:solidFill>
              </a:rPr>
              <a:t>Arrange backup vehicle in case of no-shows or large group arrivals</a:t>
            </a:r>
          </a:p>
        </p:txBody>
      </p:sp>
      <p:sp>
        <p:nvSpPr>
          <p:cNvPr id="25" name="Rectangle 24"/>
          <p:cNvSpPr/>
          <p:nvPr/>
        </p:nvSpPr>
        <p:spPr>
          <a:xfrm>
            <a:off x="502920" y="4718303"/>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636007"/>
            <a:ext cx="5029200" cy="320040"/>
          </a:xfrm>
          <a:prstGeom prst="rect">
            <a:avLst/>
          </a:prstGeom>
          <a:noFill/>
        </p:spPr>
        <p:txBody>
          <a:bodyPr wrap="square">
            <a:spAutoFit/>
          </a:bodyPr>
          <a:lstStyle/>
          <a:p>
            <a:pPr algn="l"/>
            <a:r>
              <a:rPr sz="900" b="0" i="0">
                <a:solidFill>
                  <a:srgbClr val="FFFFFF"/>
                </a:solidFill>
              </a:rPr>
              <a:t>Confirm vehicle capacity vs. max guests per window</a:t>
            </a:r>
          </a:p>
        </p:txBody>
      </p:sp>
      <p:sp>
        <p:nvSpPr>
          <p:cNvPr id="27" name="Rectangle 26"/>
          <p:cNvSpPr/>
          <p:nvPr/>
        </p:nvSpPr>
        <p:spPr>
          <a:xfrm>
            <a:off x="6217920" y="1005840"/>
            <a:ext cx="5577840" cy="530352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1097280"/>
            <a:ext cx="5212080" cy="320040"/>
          </a:xfrm>
          <a:prstGeom prst="rect">
            <a:avLst/>
          </a:prstGeom>
          <a:noFill/>
        </p:spPr>
        <p:txBody>
          <a:bodyPr wrap="square">
            <a:spAutoFit/>
          </a:bodyPr>
          <a:lstStyle/>
          <a:p>
            <a:pPr algn="l"/>
            <a:r>
              <a:rPr sz="1200" b="1" i="0">
                <a:solidFill>
                  <a:srgbClr val="86EFA9"/>
                </a:solidFill>
              </a:rPr>
              <a:t>✨  CREATIVE IDEAS (OUTSIDE THE BOX)</a:t>
            </a:r>
          </a:p>
        </p:txBody>
      </p:sp>
      <p:sp>
        <p:nvSpPr>
          <p:cNvPr id="29" name="TextBox 28"/>
          <p:cNvSpPr txBox="1"/>
          <p:nvPr/>
        </p:nvSpPr>
        <p:spPr>
          <a:xfrm>
            <a:off x="6400800" y="1508760"/>
            <a:ext cx="5212080" cy="256032"/>
          </a:xfrm>
          <a:prstGeom prst="rect">
            <a:avLst/>
          </a:prstGeom>
          <a:noFill/>
        </p:spPr>
        <p:txBody>
          <a:bodyPr wrap="square">
            <a:spAutoFit/>
          </a:bodyPr>
          <a:lstStyle/>
          <a:p>
            <a:pPr algn="l"/>
            <a:r>
              <a:rPr sz="1000" b="1" i="0">
                <a:solidFill>
                  <a:srgbClr val="FFFFFF"/>
                </a:solidFill>
              </a:rPr>
              <a:t>🎵  Makena Playlist in Every Vehicle</a:t>
            </a:r>
          </a:p>
        </p:txBody>
      </p:sp>
      <p:sp>
        <p:nvSpPr>
          <p:cNvPr id="30" name="TextBox 29"/>
          <p:cNvSpPr txBox="1"/>
          <p:nvPr/>
        </p:nvSpPr>
        <p:spPr>
          <a:xfrm>
            <a:off x="6400800" y="1764792"/>
            <a:ext cx="5212080" cy="384048"/>
          </a:xfrm>
          <a:prstGeom prst="rect">
            <a:avLst/>
          </a:prstGeom>
          <a:noFill/>
        </p:spPr>
        <p:txBody>
          <a:bodyPr wrap="square">
            <a:spAutoFit/>
          </a:bodyPr>
          <a:lstStyle/>
          <a:p>
            <a:pPr algn="l"/>
            <a:r>
              <a:rPr sz="850" b="0" i="0">
                <a:solidFill>
                  <a:srgbClr val="A0A0A0"/>
                </a:solidFill>
              </a:rPr>
              <a:t>The moment guests get in the van, the Makena playlist is already playing. First vibe check — passed.</a:t>
            </a:r>
          </a:p>
        </p:txBody>
      </p:sp>
      <p:sp>
        <p:nvSpPr>
          <p:cNvPr id="31" name="TextBox 30"/>
          <p:cNvSpPr txBox="1"/>
          <p:nvPr/>
        </p:nvSpPr>
        <p:spPr>
          <a:xfrm>
            <a:off x="6400800" y="2258568"/>
            <a:ext cx="5212080" cy="256032"/>
          </a:xfrm>
          <a:prstGeom prst="rect">
            <a:avLst/>
          </a:prstGeom>
          <a:noFill/>
        </p:spPr>
        <p:txBody>
          <a:bodyPr wrap="square">
            <a:spAutoFit/>
          </a:bodyPr>
          <a:lstStyle/>
          <a:p>
            <a:pPr algn="l"/>
            <a:r>
              <a:rPr sz="1000" b="1" i="0">
                <a:solidFill>
                  <a:srgbClr val="FFFFFF"/>
                </a:solidFill>
              </a:rPr>
              <a:t>🥤  In-Van Welcome Pack on the Seat</a:t>
            </a:r>
          </a:p>
        </p:txBody>
      </p:sp>
      <p:sp>
        <p:nvSpPr>
          <p:cNvPr id="32" name="TextBox 31"/>
          <p:cNvSpPr txBox="1"/>
          <p:nvPr/>
        </p:nvSpPr>
        <p:spPr>
          <a:xfrm>
            <a:off x="6400800" y="2514600"/>
            <a:ext cx="5212080" cy="384048"/>
          </a:xfrm>
          <a:prstGeom prst="rect">
            <a:avLst/>
          </a:prstGeom>
          <a:noFill/>
        </p:spPr>
        <p:txBody>
          <a:bodyPr wrap="square">
            <a:spAutoFit/>
          </a:bodyPr>
          <a:lstStyle/>
          <a:p>
            <a:pPr algn="l"/>
            <a:r>
              <a:rPr sz="850" b="0" i="0">
                <a:solidFill>
                  <a:srgbClr val="A0A0A0"/>
                </a:solidFill>
              </a:rPr>
              <a:t>Each seat has a small branded paper bag: cold water, Makena branded snack, a handwritten welcome card from Baldwin, and a wristband for the welcome mixer.</a:t>
            </a:r>
          </a:p>
        </p:txBody>
      </p:sp>
      <p:sp>
        <p:nvSpPr>
          <p:cNvPr id="33" name="TextBox 32"/>
          <p:cNvSpPr txBox="1"/>
          <p:nvPr/>
        </p:nvSpPr>
        <p:spPr>
          <a:xfrm>
            <a:off x="6400800" y="3008375"/>
            <a:ext cx="5212080" cy="256032"/>
          </a:xfrm>
          <a:prstGeom prst="rect">
            <a:avLst/>
          </a:prstGeom>
          <a:noFill/>
        </p:spPr>
        <p:txBody>
          <a:bodyPr wrap="square">
            <a:spAutoFit/>
          </a:bodyPr>
          <a:lstStyle/>
          <a:p>
            <a:pPr algn="l"/>
            <a:r>
              <a:rPr sz="1000" b="1" i="0">
                <a:solidFill>
                  <a:srgbClr val="FFFFFF"/>
                </a:solidFill>
              </a:rPr>
              <a:t>📸  Airport Sign Photo Moment</a:t>
            </a:r>
          </a:p>
        </p:txBody>
      </p:sp>
      <p:sp>
        <p:nvSpPr>
          <p:cNvPr id="34" name="TextBox 33"/>
          <p:cNvSpPr txBox="1"/>
          <p:nvPr/>
        </p:nvSpPr>
        <p:spPr>
          <a:xfrm>
            <a:off x="6400800" y="3264407"/>
            <a:ext cx="5212080" cy="384048"/>
          </a:xfrm>
          <a:prstGeom prst="rect">
            <a:avLst/>
          </a:prstGeom>
          <a:noFill/>
        </p:spPr>
        <p:txBody>
          <a:bodyPr wrap="square">
            <a:spAutoFit/>
          </a:bodyPr>
          <a:lstStyle/>
          <a:p>
            <a:pPr algn="l"/>
            <a:r>
              <a:rPr sz="850" b="0" i="0">
                <a:solidFill>
                  <a:srgbClr val="A0A0A0"/>
                </a:solidFill>
              </a:rPr>
              <a:t>Design the MAKENA sign as a photo-worthy prop. Guests will post it. Free organic marketing for the brand.</a:t>
            </a:r>
          </a:p>
        </p:txBody>
      </p:sp>
      <p:sp>
        <p:nvSpPr>
          <p:cNvPr id="35" name="TextBox 34"/>
          <p:cNvSpPr txBox="1"/>
          <p:nvPr/>
        </p:nvSpPr>
        <p:spPr>
          <a:xfrm>
            <a:off x="6400800" y="3758183"/>
            <a:ext cx="5212080" cy="256032"/>
          </a:xfrm>
          <a:prstGeom prst="rect">
            <a:avLst/>
          </a:prstGeom>
          <a:noFill/>
        </p:spPr>
        <p:txBody>
          <a:bodyPr wrap="square">
            <a:spAutoFit/>
          </a:bodyPr>
          <a:lstStyle/>
          <a:p>
            <a:pPr algn="l"/>
            <a:r>
              <a:rPr sz="1000" b="1" i="0">
                <a:solidFill>
                  <a:srgbClr val="FFFFFF"/>
                </a:solidFill>
              </a:rPr>
              <a:t>💬  WhatsApp 'You've Landed' Ping</a:t>
            </a:r>
          </a:p>
        </p:txBody>
      </p:sp>
      <p:sp>
        <p:nvSpPr>
          <p:cNvPr id="36" name="TextBox 35"/>
          <p:cNvSpPr txBox="1"/>
          <p:nvPr/>
        </p:nvSpPr>
        <p:spPr>
          <a:xfrm>
            <a:off x="6400800" y="4014215"/>
            <a:ext cx="5212080" cy="384048"/>
          </a:xfrm>
          <a:prstGeom prst="rect">
            <a:avLst/>
          </a:prstGeom>
          <a:noFill/>
        </p:spPr>
        <p:txBody>
          <a:bodyPr wrap="square">
            <a:spAutoFit/>
          </a:bodyPr>
          <a:lstStyle/>
          <a:p>
            <a:pPr algn="l"/>
            <a:r>
              <a:rPr sz="850" b="0" i="0">
                <a:solidFill>
                  <a:srgbClr val="A0A0A0"/>
                </a:solidFill>
              </a:rPr>
              <a:t>Guest Services Lead sends a personal WhatsApp to each guest the moment they confirm pickup: 'Welcome to DR! Your driver [Name] is waiting at door X.'</a:t>
            </a:r>
          </a:p>
        </p:txBody>
      </p:sp>
      <p:sp>
        <p:nvSpPr>
          <p:cNvPr id="37" name="TextBox 36"/>
          <p:cNvSpPr txBox="1"/>
          <p:nvPr/>
        </p:nvSpPr>
        <p:spPr>
          <a:xfrm>
            <a:off x="6400800" y="4507992"/>
            <a:ext cx="5212080" cy="256032"/>
          </a:xfrm>
          <a:prstGeom prst="rect">
            <a:avLst/>
          </a:prstGeom>
          <a:noFill/>
        </p:spPr>
        <p:txBody>
          <a:bodyPr wrap="square">
            <a:spAutoFit/>
          </a:bodyPr>
          <a:lstStyle/>
          <a:p>
            <a:pPr algn="l"/>
            <a:r>
              <a:rPr sz="1000" b="1" i="0">
                <a:solidFill>
                  <a:srgbClr val="FFFFFF"/>
                </a:solidFill>
              </a:rPr>
              <a:t>🚐  Branded Vehicle Wrap (Premium Option)</a:t>
            </a:r>
          </a:p>
        </p:txBody>
      </p:sp>
      <p:sp>
        <p:nvSpPr>
          <p:cNvPr id="38" name="TextBox 37"/>
          <p:cNvSpPr txBox="1"/>
          <p:nvPr/>
        </p:nvSpPr>
        <p:spPr>
          <a:xfrm>
            <a:off x="6400800" y="4764024"/>
            <a:ext cx="5212080" cy="384048"/>
          </a:xfrm>
          <a:prstGeom prst="rect">
            <a:avLst/>
          </a:prstGeom>
          <a:noFill/>
        </p:spPr>
        <p:txBody>
          <a:bodyPr wrap="square">
            <a:spAutoFit/>
          </a:bodyPr>
          <a:lstStyle/>
          <a:p>
            <a:pPr algn="l"/>
            <a:r>
              <a:rPr sz="850" b="0" i="0">
                <a:solidFill>
                  <a:srgbClr val="A0A0A0"/>
                </a:solidFill>
              </a:rPr>
              <a:t>If budget allows, wrap at least one vehicle in Makena branding. It's a moving billboard at PUJ and on the road.</a:t>
            </a:r>
          </a:p>
        </p:txBody>
      </p:sp>
      <p:sp>
        <p:nvSpPr>
          <p:cNvPr id="39" name="TextBox 38"/>
          <p:cNvSpPr txBox="1"/>
          <p:nvPr/>
        </p:nvSpPr>
        <p:spPr>
          <a:xfrm>
            <a:off x="6400800" y="5257800"/>
            <a:ext cx="5212080" cy="256032"/>
          </a:xfrm>
          <a:prstGeom prst="rect">
            <a:avLst/>
          </a:prstGeom>
          <a:noFill/>
        </p:spPr>
        <p:txBody>
          <a:bodyPr wrap="square">
            <a:spAutoFit/>
          </a:bodyPr>
          <a:lstStyle/>
          <a:p>
            <a:pPr algn="l"/>
            <a:r>
              <a:rPr sz="1000" b="1" i="0">
                <a:solidFill>
                  <a:srgbClr val="FFFFFF"/>
                </a:solidFill>
              </a:rPr>
              <a:t>🎁  Surprise Upgrade Announcement</a:t>
            </a:r>
          </a:p>
        </p:txBody>
      </p:sp>
      <p:sp>
        <p:nvSpPr>
          <p:cNvPr id="40" name="TextBox 39"/>
          <p:cNvSpPr txBox="1"/>
          <p:nvPr/>
        </p:nvSpPr>
        <p:spPr>
          <a:xfrm>
            <a:off x="6400800" y="5513832"/>
            <a:ext cx="5212080" cy="384048"/>
          </a:xfrm>
          <a:prstGeom prst="rect">
            <a:avLst/>
          </a:prstGeom>
          <a:noFill/>
        </p:spPr>
        <p:txBody>
          <a:bodyPr wrap="square">
            <a:spAutoFit/>
          </a:bodyPr>
          <a:lstStyle/>
          <a:p>
            <a:pPr algn="l"/>
            <a:r>
              <a:rPr sz="850" b="0" i="0">
                <a:solidFill>
                  <a:srgbClr val="A0A0A0"/>
                </a:solidFill>
              </a:rPr>
              <a:t>For VIP guests or upsells — driver discreetly hands them a card in the van: 'You've been upgraded to an ocean-view room. Welcome.'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B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594360"/>
          </a:xfrm>
          <a:prstGeom prst="rect">
            <a:avLst/>
          </a:prstGeom>
          <a:noFill/>
        </p:spPr>
        <p:txBody>
          <a:bodyPr wrap="square">
            <a:spAutoFit/>
          </a:bodyPr>
          <a:lstStyle/>
          <a:p>
            <a:pPr algn="l"/>
            <a:r>
              <a:rPr sz="2600" b="1" i="0">
                <a:solidFill>
                  <a:srgbClr val="FFFFFF"/>
                </a:solidFill>
              </a:rPr>
              <a:t>🏨  HOTEL CHECK-IN &amp; WELCOME EXPERIENCE</a:t>
            </a:r>
          </a:p>
        </p:txBody>
      </p:sp>
      <p:sp>
        <p:nvSpPr>
          <p:cNvPr id="4" name="TextBox 3"/>
          <p:cNvSpPr txBox="1"/>
          <p:nvPr/>
        </p:nvSpPr>
        <p:spPr>
          <a:xfrm>
            <a:off x="457200" y="658368"/>
            <a:ext cx="10972800" cy="256032"/>
          </a:xfrm>
          <a:prstGeom prst="rect">
            <a:avLst/>
          </a:prstGeom>
          <a:noFill/>
        </p:spPr>
        <p:txBody>
          <a:bodyPr wrap="square">
            <a:spAutoFit/>
          </a:bodyPr>
          <a:lstStyle/>
          <a:p>
            <a:pPr algn="l"/>
            <a:r>
              <a:rPr sz="1000" b="0" i="0">
                <a:solidFill>
                  <a:srgbClr val="86EFA9"/>
                </a:solidFill>
              </a:rPr>
              <a:t>Delegate: Hotel Liaison  |  The first hour at the resort sets the tone for everything that follows.</a:t>
            </a:r>
          </a:p>
        </p:txBody>
      </p:sp>
      <p:sp>
        <p:nvSpPr>
          <p:cNvPr id="5" name="Rectangle 4"/>
          <p:cNvSpPr/>
          <p:nvPr/>
        </p:nvSpPr>
        <p:spPr>
          <a:xfrm>
            <a:off x="365760" y="1005840"/>
            <a:ext cx="5303520" cy="530352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4937760" cy="320040"/>
          </a:xfrm>
          <a:prstGeom prst="rect">
            <a:avLst/>
          </a:prstGeom>
          <a:noFill/>
        </p:spPr>
        <p:txBody>
          <a:bodyPr wrap="square">
            <a:spAutoFit/>
          </a:bodyPr>
          <a:lstStyle/>
          <a:p>
            <a:pPr algn="l"/>
            <a:r>
              <a:rPr sz="1200" b="1" i="0">
                <a:solidFill>
                  <a:srgbClr val="86EFA9"/>
                </a:solidFill>
              </a:rPr>
              <a:t>📋  ACTION ITEMS</a:t>
            </a:r>
          </a:p>
        </p:txBody>
      </p:sp>
      <p:sp>
        <p:nvSpPr>
          <p:cNvPr id="7" name="Rectangle 6"/>
          <p:cNvSpPr/>
          <p:nvPr/>
        </p:nvSpPr>
        <p:spPr>
          <a:xfrm>
            <a:off x="502920" y="1591056"/>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08760"/>
            <a:ext cx="4892040" cy="320040"/>
          </a:xfrm>
          <a:prstGeom prst="rect">
            <a:avLst/>
          </a:prstGeom>
          <a:noFill/>
        </p:spPr>
        <p:txBody>
          <a:bodyPr wrap="square">
            <a:spAutoFit/>
          </a:bodyPr>
          <a:lstStyle/>
          <a:p>
            <a:pPr algn="l"/>
            <a:r>
              <a:rPr sz="900" b="0" i="0">
                <a:solidFill>
                  <a:srgbClr val="FFFFFF"/>
                </a:solidFill>
              </a:rPr>
              <a:t>Negotiate group block rate — confirm room categories (standard, deluxe, suite)</a:t>
            </a:r>
          </a:p>
        </p:txBody>
      </p:sp>
      <p:sp>
        <p:nvSpPr>
          <p:cNvPr id="9" name="Rectangle 8"/>
          <p:cNvSpPr/>
          <p:nvPr/>
        </p:nvSpPr>
        <p:spPr>
          <a:xfrm>
            <a:off x="502920" y="1938527"/>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856231"/>
            <a:ext cx="4892040" cy="320040"/>
          </a:xfrm>
          <a:prstGeom prst="rect">
            <a:avLst/>
          </a:prstGeom>
          <a:noFill/>
        </p:spPr>
        <p:txBody>
          <a:bodyPr wrap="square">
            <a:spAutoFit/>
          </a:bodyPr>
          <a:lstStyle/>
          <a:p>
            <a:pPr algn="l"/>
            <a:r>
              <a:rPr sz="900" b="0" i="0">
                <a:solidFill>
                  <a:srgbClr val="FFFFFF"/>
                </a:solidFill>
              </a:rPr>
              <a:t>Pre-assign every guest to their room before they land — no waiting at front desk</a:t>
            </a:r>
          </a:p>
        </p:txBody>
      </p:sp>
      <p:sp>
        <p:nvSpPr>
          <p:cNvPr id="11" name="Rectangle 10"/>
          <p:cNvSpPr/>
          <p:nvPr/>
        </p:nvSpPr>
        <p:spPr>
          <a:xfrm>
            <a:off x="502920" y="2285999"/>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03703"/>
            <a:ext cx="4892040" cy="320040"/>
          </a:xfrm>
          <a:prstGeom prst="rect">
            <a:avLst/>
          </a:prstGeom>
          <a:noFill/>
        </p:spPr>
        <p:txBody>
          <a:bodyPr wrap="square">
            <a:spAutoFit/>
          </a:bodyPr>
          <a:lstStyle/>
          <a:p>
            <a:pPr algn="l"/>
            <a:r>
              <a:rPr sz="900" b="0" i="0">
                <a:solidFill>
                  <a:srgbClr val="FFFFFF"/>
                </a:solidFill>
              </a:rPr>
              <a:t>Pre-key all rooms — envelopes with guest name + room number ready at check-in desk</a:t>
            </a:r>
          </a:p>
        </p:txBody>
      </p:sp>
      <p:sp>
        <p:nvSpPr>
          <p:cNvPr id="13" name="Rectangle 12"/>
          <p:cNvSpPr/>
          <p:nvPr/>
        </p:nvSpPr>
        <p:spPr>
          <a:xfrm>
            <a:off x="502920" y="2633471"/>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551175"/>
            <a:ext cx="4892040" cy="320040"/>
          </a:xfrm>
          <a:prstGeom prst="rect">
            <a:avLst/>
          </a:prstGeom>
          <a:noFill/>
        </p:spPr>
        <p:txBody>
          <a:bodyPr wrap="square">
            <a:spAutoFit/>
          </a:bodyPr>
          <a:lstStyle/>
          <a:p>
            <a:pPr algn="l"/>
            <a:r>
              <a:rPr sz="900" b="0" i="0">
                <a:solidFill>
                  <a:srgbClr val="FFFFFF"/>
                </a:solidFill>
              </a:rPr>
              <a:t>Arrange early check-in for first arrival window guests (or holding lounge if unavailable)</a:t>
            </a:r>
          </a:p>
        </p:txBody>
      </p:sp>
      <p:sp>
        <p:nvSpPr>
          <p:cNvPr id="15" name="Rectangle 14"/>
          <p:cNvSpPr/>
          <p:nvPr/>
        </p:nvSpPr>
        <p:spPr>
          <a:xfrm>
            <a:off x="502920" y="2980943"/>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898647"/>
            <a:ext cx="4892040" cy="320040"/>
          </a:xfrm>
          <a:prstGeom prst="rect">
            <a:avLst/>
          </a:prstGeom>
          <a:noFill/>
        </p:spPr>
        <p:txBody>
          <a:bodyPr wrap="square">
            <a:spAutoFit/>
          </a:bodyPr>
          <a:lstStyle/>
          <a:p>
            <a:pPr algn="l"/>
            <a:r>
              <a:rPr sz="900" b="0" i="0">
                <a:solidFill>
                  <a:srgbClr val="FFFFFF"/>
                </a:solidFill>
              </a:rPr>
              <a:t>Book Baldwin's suite as Trip HQ — spacious, central for team meetings</a:t>
            </a:r>
          </a:p>
        </p:txBody>
      </p:sp>
      <p:sp>
        <p:nvSpPr>
          <p:cNvPr id="17" name="Rectangle 16"/>
          <p:cNvSpPr/>
          <p:nvPr/>
        </p:nvSpPr>
        <p:spPr>
          <a:xfrm>
            <a:off x="502920" y="3328415"/>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246119"/>
            <a:ext cx="4892040" cy="320040"/>
          </a:xfrm>
          <a:prstGeom prst="rect">
            <a:avLst/>
          </a:prstGeom>
          <a:noFill/>
        </p:spPr>
        <p:txBody>
          <a:bodyPr wrap="square">
            <a:spAutoFit/>
          </a:bodyPr>
          <a:lstStyle/>
          <a:p>
            <a:pPr algn="l"/>
            <a:r>
              <a:rPr sz="900" b="0" i="0">
                <a:solidFill>
                  <a:srgbClr val="FFFFFF"/>
                </a:solidFill>
              </a:rPr>
              <a:t>Confirm hotel has a welcome area for group arrival (lobby, terrace, or pool bar)</a:t>
            </a:r>
          </a:p>
        </p:txBody>
      </p:sp>
      <p:sp>
        <p:nvSpPr>
          <p:cNvPr id="19" name="Rectangle 18"/>
          <p:cNvSpPr/>
          <p:nvPr/>
        </p:nvSpPr>
        <p:spPr>
          <a:xfrm>
            <a:off x="502920" y="3675887"/>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593591"/>
            <a:ext cx="4892040" cy="320040"/>
          </a:xfrm>
          <a:prstGeom prst="rect">
            <a:avLst/>
          </a:prstGeom>
          <a:noFill/>
        </p:spPr>
        <p:txBody>
          <a:bodyPr wrap="square">
            <a:spAutoFit/>
          </a:bodyPr>
          <a:lstStyle/>
          <a:p>
            <a:pPr algn="l"/>
            <a:r>
              <a:rPr sz="900" b="0" i="0">
                <a:solidFill>
                  <a:srgbClr val="FFFFFF"/>
                </a:solidFill>
              </a:rPr>
              <a:t>Arrange birthday / anniversary room decorations for any guest with a milestone</a:t>
            </a:r>
          </a:p>
        </p:txBody>
      </p:sp>
      <p:sp>
        <p:nvSpPr>
          <p:cNvPr id="21" name="Rectangle 20"/>
          <p:cNvSpPr/>
          <p:nvPr/>
        </p:nvSpPr>
        <p:spPr>
          <a:xfrm>
            <a:off x="502920" y="4023359"/>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41063"/>
            <a:ext cx="4892040" cy="320040"/>
          </a:xfrm>
          <a:prstGeom prst="rect">
            <a:avLst/>
          </a:prstGeom>
          <a:noFill/>
        </p:spPr>
        <p:txBody>
          <a:bodyPr wrap="square">
            <a:spAutoFit/>
          </a:bodyPr>
          <a:lstStyle/>
          <a:p>
            <a:pPr algn="l"/>
            <a:r>
              <a:rPr sz="900" b="0" i="0">
                <a:solidFill>
                  <a:srgbClr val="FFFFFF"/>
                </a:solidFill>
              </a:rPr>
              <a:t>Brief hotel concierge on the full week's schedule so they can support guests</a:t>
            </a:r>
          </a:p>
        </p:txBody>
      </p:sp>
      <p:sp>
        <p:nvSpPr>
          <p:cNvPr id="23" name="Rectangle 22"/>
          <p:cNvSpPr/>
          <p:nvPr/>
        </p:nvSpPr>
        <p:spPr>
          <a:xfrm>
            <a:off x="502920" y="4370831"/>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288536"/>
            <a:ext cx="4892040" cy="320040"/>
          </a:xfrm>
          <a:prstGeom prst="rect">
            <a:avLst/>
          </a:prstGeom>
          <a:noFill/>
        </p:spPr>
        <p:txBody>
          <a:bodyPr wrap="square">
            <a:spAutoFit/>
          </a:bodyPr>
          <a:lstStyle/>
          <a:p>
            <a:pPr algn="l"/>
            <a:r>
              <a:rPr sz="900" b="0" i="0">
                <a:solidFill>
                  <a:srgbClr val="FFFFFF"/>
                </a:solidFill>
              </a:rPr>
              <a:t>Confirm resort wristbands or room key system — integrate with Makena wristbands</a:t>
            </a:r>
          </a:p>
        </p:txBody>
      </p:sp>
      <p:sp>
        <p:nvSpPr>
          <p:cNvPr id="25" name="Rectangle 24"/>
          <p:cNvSpPr/>
          <p:nvPr/>
        </p:nvSpPr>
        <p:spPr>
          <a:xfrm>
            <a:off x="502920" y="4718303"/>
            <a:ext cx="82296" cy="82296"/>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636007"/>
            <a:ext cx="4892040" cy="320040"/>
          </a:xfrm>
          <a:prstGeom prst="rect">
            <a:avLst/>
          </a:prstGeom>
          <a:noFill/>
        </p:spPr>
        <p:txBody>
          <a:bodyPr wrap="square">
            <a:spAutoFit/>
          </a:bodyPr>
          <a:lstStyle/>
          <a:p>
            <a:pPr algn="l"/>
            <a:r>
              <a:rPr sz="900" b="0" i="0">
                <a:solidFill>
                  <a:srgbClr val="FFFFFF"/>
                </a:solidFill>
              </a:rPr>
              <a:t>Walk the hotel 24hr before first arrival — fix any issues before guests see them</a:t>
            </a:r>
          </a:p>
        </p:txBody>
      </p:sp>
      <p:sp>
        <p:nvSpPr>
          <p:cNvPr id="27" name="Rectangle 26"/>
          <p:cNvSpPr/>
          <p:nvPr/>
        </p:nvSpPr>
        <p:spPr>
          <a:xfrm>
            <a:off x="6035040" y="1005840"/>
            <a:ext cx="5760720" cy="530352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17920" y="1097280"/>
            <a:ext cx="5394960" cy="320040"/>
          </a:xfrm>
          <a:prstGeom prst="rect">
            <a:avLst/>
          </a:prstGeom>
          <a:noFill/>
        </p:spPr>
        <p:txBody>
          <a:bodyPr wrap="square">
            <a:spAutoFit/>
          </a:bodyPr>
          <a:lstStyle/>
          <a:p>
            <a:pPr algn="l"/>
            <a:r>
              <a:rPr sz="1200" b="1" i="0">
                <a:solidFill>
                  <a:srgbClr val="86EFA9"/>
                </a:solidFill>
              </a:rPr>
              <a:t>🎁  MAKENA WELCOME GIFT BAG</a:t>
            </a:r>
          </a:p>
        </p:txBody>
      </p:sp>
      <p:sp>
        <p:nvSpPr>
          <p:cNvPr id="29" name="TextBox 28"/>
          <p:cNvSpPr txBox="1"/>
          <p:nvPr/>
        </p:nvSpPr>
        <p:spPr>
          <a:xfrm>
            <a:off x="6217920" y="1444752"/>
            <a:ext cx="5394960" cy="274320"/>
          </a:xfrm>
          <a:prstGeom prst="rect">
            <a:avLst/>
          </a:prstGeom>
          <a:noFill/>
        </p:spPr>
        <p:txBody>
          <a:bodyPr wrap="square">
            <a:spAutoFit/>
          </a:bodyPr>
          <a:lstStyle/>
          <a:p>
            <a:pPr algn="l"/>
            <a:r>
              <a:rPr sz="900" b="0" i="1">
                <a:solidFill>
                  <a:srgbClr val="A0A0A0"/>
                </a:solidFill>
              </a:rPr>
              <a:t>Sitting in every room when guests arrive. Unboxing is the moment.</a:t>
            </a:r>
          </a:p>
        </p:txBody>
      </p:sp>
      <p:sp>
        <p:nvSpPr>
          <p:cNvPr id="30" name="Rectangle 29"/>
          <p:cNvSpPr/>
          <p:nvPr/>
        </p:nvSpPr>
        <p:spPr>
          <a:xfrm>
            <a:off x="6172200" y="1856231"/>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5080" y="1783080"/>
            <a:ext cx="2286000" cy="256032"/>
          </a:xfrm>
          <a:prstGeom prst="rect">
            <a:avLst/>
          </a:prstGeom>
          <a:noFill/>
        </p:spPr>
        <p:txBody>
          <a:bodyPr wrap="square">
            <a:spAutoFit/>
          </a:bodyPr>
          <a:lstStyle/>
          <a:p>
            <a:pPr algn="l"/>
            <a:r>
              <a:rPr sz="900" b="1" i="0">
                <a:solidFill>
                  <a:srgbClr val="FFFFFF"/>
                </a:solidFill>
              </a:rPr>
              <a:t>Makena Branded Tote Bag</a:t>
            </a:r>
          </a:p>
        </p:txBody>
      </p:sp>
      <p:sp>
        <p:nvSpPr>
          <p:cNvPr id="32" name="TextBox 31"/>
          <p:cNvSpPr txBox="1"/>
          <p:nvPr/>
        </p:nvSpPr>
        <p:spPr>
          <a:xfrm>
            <a:off x="6355080" y="2039112"/>
            <a:ext cx="5257800" cy="256032"/>
          </a:xfrm>
          <a:prstGeom prst="rect">
            <a:avLst/>
          </a:prstGeom>
          <a:noFill/>
        </p:spPr>
        <p:txBody>
          <a:bodyPr wrap="square">
            <a:spAutoFit/>
          </a:bodyPr>
          <a:lstStyle/>
          <a:p>
            <a:pPr algn="l"/>
            <a:r>
              <a:rPr sz="800" b="0" i="0">
                <a:solidFill>
                  <a:srgbClr val="A0A0A0"/>
                </a:solidFill>
              </a:rPr>
              <a:t>The bag itself is the gift bag — reusable, branded, premium feel.</a:t>
            </a:r>
          </a:p>
        </p:txBody>
      </p:sp>
      <p:sp>
        <p:nvSpPr>
          <p:cNvPr id="33" name="Rectangle 32"/>
          <p:cNvSpPr/>
          <p:nvPr/>
        </p:nvSpPr>
        <p:spPr>
          <a:xfrm>
            <a:off x="6172200" y="2386584"/>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2313432"/>
            <a:ext cx="2286000" cy="256032"/>
          </a:xfrm>
          <a:prstGeom prst="rect">
            <a:avLst/>
          </a:prstGeom>
          <a:noFill/>
        </p:spPr>
        <p:txBody>
          <a:bodyPr wrap="square">
            <a:spAutoFit/>
          </a:bodyPr>
          <a:lstStyle/>
          <a:p>
            <a:pPr algn="l"/>
            <a:r>
              <a:rPr sz="900" b="1" i="0">
                <a:solidFill>
                  <a:srgbClr val="FFFFFF"/>
                </a:solidFill>
              </a:rPr>
              <a:t>Custom Itinerary Card</a:t>
            </a:r>
          </a:p>
        </p:txBody>
      </p:sp>
      <p:sp>
        <p:nvSpPr>
          <p:cNvPr id="35" name="TextBox 34"/>
          <p:cNvSpPr txBox="1"/>
          <p:nvPr/>
        </p:nvSpPr>
        <p:spPr>
          <a:xfrm>
            <a:off x="6355080" y="2569463"/>
            <a:ext cx="5257800" cy="256032"/>
          </a:xfrm>
          <a:prstGeom prst="rect">
            <a:avLst/>
          </a:prstGeom>
          <a:noFill/>
        </p:spPr>
        <p:txBody>
          <a:bodyPr wrap="square">
            <a:spAutoFit/>
          </a:bodyPr>
          <a:lstStyle/>
          <a:p>
            <a:pPr algn="l"/>
            <a:r>
              <a:rPr sz="800" b="0" i="0">
                <a:solidFill>
                  <a:srgbClr val="A0A0A0"/>
                </a:solidFill>
              </a:rPr>
              <a:t>A beautifully designed card with the week's schedule — nights, excursions, dress codes.</a:t>
            </a:r>
          </a:p>
        </p:txBody>
      </p:sp>
      <p:sp>
        <p:nvSpPr>
          <p:cNvPr id="36" name="Rectangle 35"/>
          <p:cNvSpPr/>
          <p:nvPr/>
        </p:nvSpPr>
        <p:spPr>
          <a:xfrm>
            <a:off x="6172200" y="2916936"/>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2843784"/>
            <a:ext cx="2286000" cy="256032"/>
          </a:xfrm>
          <a:prstGeom prst="rect">
            <a:avLst/>
          </a:prstGeom>
          <a:noFill/>
        </p:spPr>
        <p:txBody>
          <a:bodyPr wrap="square">
            <a:spAutoFit/>
          </a:bodyPr>
          <a:lstStyle/>
          <a:p>
            <a:pPr algn="l"/>
            <a:r>
              <a:rPr sz="900" b="1" i="0">
                <a:solidFill>
                  <a:srgbClr val="FFFFFF"/>
                </a:solidFill>
              </a:rPr>
              <a:t>Handwritten Welcome Letter</a:t>
            </a:r>
          </a:p>
        </p:txBody>
      </p:sp>
      <p:sp>
        <p:nvSpPr>
          <p:cNvPr id="38" name="TextBox 37"/>
          <p:cNvSpPr txBox="1"/>
          <p:nvPr/>
        </p:nvSpPr>
        <p:spPr>
          <a:xfrm>
            <a:off x="6355080" y="3099815"/>
            <a:ext cx="5257800" cy="256032"/>
          </a:xfrm>
          <a:prstGeom prst="rect">
            <a:avLst/>
          </a:prstGeom>
          <a:noFill/>
        </p:spPr>
        <p:txBody>
          <a:bodyPr wrap="square">
            <a:spAutoFit/>
          </a:bodyPr>
          <a:lstStyle/>
          <a:p>
            <a:pPr algn="l"/>
            <a:r>
              <a:rPr sz="800" b="0" i="0">
                <a:solidFill>
                  <a:srgbClr val="A0A0A0"/>
                </a:solidFill>
              </a:rPr>
              <a:t>Personal note from Baldwin. Short, warm, sets the tone. This will be photographed.</a:t>
            </a:r>
          </a:p>
        </p:txBody>
      </p:sp>
      <p:sp>
        <p:nvSpPr>
          <p:cNvPr id="39" name="Rectangle 38"/>
          <p:cNvSpPr/>
          <p:nvPr/>
        </p:nvSpPr>
        <p:spPr>
          <a:xfrm>
            <a:off x="6172200" y="3447288"/>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3374136"/>
            <a:ext cx="2286000" cy="256032"/>
          </a:xfrm>
          <a:prstGeom prst="rect">
            <a:avLst/>
          </a:prstGeom>
          <a:noFill/>
        </p:spPr>
        <p:txBody>
          <a:bodyPr wrap="square">
            <a:spAutoFit/>
          </a:bodyPr>
          <a:lstStyle/>
          <a:p>
            <a:pPr algn="l"/>
            <a:r>
              <a:rPr sz="900" b="1" i="0">
                <a:solidFill>
                  <a:srgbClr val="FFFFFF"/>
                </a:solidFill>
              </a:rPr>
              <a:t>Makena Beach Towel</a:t>
            </a:r>
          </a:p>
        </p:txBody>
      </p:sp>
      <p:sp>
        <p:nvSpPr>
          <p:cNvPr id="41" name="TextBox 40"/>
          <p:cNvSpPr txBox="1"/>
          <p:nvPr/>
        </p:nvSpPr>
        <p:spPr>
          <a:xfrm>
            <a:off x="6355080" y="3630168"/>
            <a:ext cx="5257800" cy="256032"/>
          </a:xfrm>
          <a:prstGeom prst="rect">
            <a:avLst/>
          </a:prstGeom>
          <a:noFill/>
        </p:spPr>
        <p:txBody>
          <a:bodyPr wrap="square">
            <a:spAutoFit/>
          </a:bodyPr>
          <a:lstStyle/>
          <a:p>
            <a:pPr algn="l"/>
            <a:r>
              <a:rPr sz="800" b="0" i="0">
                <a:solidFill>
                  <a:srgbClr val="A0A0A0"/>
                </a:solidFill>
              </a:rPr>
              <a:t>Oversized, thick, embroidered Makena logo. For the pool and the 'gram.</a:t>
            </a:r>
          </a:p>
        </p:txBody>
      </p:sp>
      <p:sp>
        <p:nvSpPr>
          <p:cNvPr id="42" name="Rectangle 41"/>
          <p:cNvSpPr/>
          <p:nvPr/>
        </p:nvSpPr>
        <p:spPr>
          <a:xfrm>
            <a:off x="6172200" y="397763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55080" y="3904487"/>
            <a:ext cx="2286000" cy="256032"/>
          </a:xfrm>
          <a:prstGeom prst="rect">
            <a:avLst/>
          </a:prstGeom>
          <a:noFill/>
        </p:spPr>
        <p:txBody>
          <a:bodyPr wrap="square">
            <a:spAutoFit/>
          </a:bodyPr>
          <a:lstStyle/>
          <a:p>
            <a:pPr algn="l"/>
            <a:r>
              <a:rPr sz="900" b="1" i="0">
                <a:solidFill>
                  <a:srgbClr val="FFFFFF"/>
                </a:solidFill>
              </a:rPr>
              <a:t>Branded Event Wristbands</a:t>
            </a:r>
          </a:p>
        </p:txBody>
      </p:sp>
      <p:sp>
        <p:nvSpPr>
          <p:cNvPr id="44" name="TextBox 43"/>
          <p:cNvSpPr txBox="1"/>
          <p:nvPr/>
        </p:nvSpPr>
        <p:spPr>
          <a:xfrm>
            <a:off x="6355080" y="4160520"/>
            <a:ext cx="5257800" cy="256032"/>
          </a:xfrm>
          <a:prstGeom prst="rect">
            <a:avLst/>
          </a:prstGeom>
          <a:noFill/>
        </p:spPr>
        <p:txBody>
          <a:bodyPr wrap="square">
            <a:spAutoFit/>
          </a:bodyPr>
          <a:lstStyle/>
          <a:p>
            <a:pPr algn="l"/>
            <a:r>
              <a:rPr sz="800" b="0" i="0">
                <a:solidFill>
                  <a:srgbClr val="A0A0A0"/>
                </a:solidFill>
              </a:rPr>
              <a:t>Color-coded by event — guests wear to gain entry to each Makena event.</a:t>
            </a:r>
          </a:p>
        </p:txBody>
      </p:sp>
      <p:sp>
        <p:nvSpPr>
          <p:cNvPr id="45" name="Rectangle 44"/>
          <p:cNvSpPr/>
          <p:nvPr/>
        </p:nvSpPr>
        <p:spPr>
          <a:xfrm>
            <a:off x="6172200" y="4507992"/>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55080" y="4434840"/>
            <a:ext cx="2286000" cy="256032"/>
          </a:xfrm>
          <a:prstGeom prst="rect">
            <a:avLst/>
          </a:prstGeom>
          <a:noFill/>
        </p:spPr>
        <p:txBody>
          <a:bodyPr wrap="square">
            <a:spAutoFit/>
          </a:bodyPr>
          <a:lstStyle/>
          <a:p>
            <a:pPr algn="l"/>
            <a:r>
              <a:rPr sz="900" b="1" i="0">
                <a:solidFill>
                  <a:srgbClr val="FFFFFF"/>
                </a:solidFill>
              </a:rPr>
              <a:t>Sunscreen SPF 50 (Branded Label)</a:t>
            </a:r>
          </a:p>
        </p:txBody>
      </p:sp>
      <p:sp>
        <p:nvSpPr>
          <p:cNvPr id="47" name="TextBox 46"/>
          <p:cNvSpPr txBox="1"/>
          <p:nvPr/>
        </p:nvSpPr>
        <p:spPr>
          <a:xfrm>
            <a:off x="6355080" y="4690872"/>
            <a:ext cx="5257800" cy="256032"/>
          </a:xfrm>
          <a:prstGeom prst="rect">
            <a:avLst/>
          </a:prstGeom>
          <a:noFill/>
        </p:spPr>
        <p:txBody>
          <a:bodyPr wrap="square">
            <a:spAutoFit/>
          </a:bodyPr>
          <a:lstStyle/>
          <a:p>
            <a:pPr algn="l"/>
            <a:r>
              <a:rPr sz="800" b="0" i="0">
                <a:solidFill>
                  <a:srgbClr val="A0A0A0"/>
                </a:solidFill>
              </a:rPr>
              <a:t>Custom Makena label on the bottle. Useful AND on-brand.</a:t>
            </a:r>
          </a:p>
        </p:txBody>
      </p:sp>
      <p:sp>
        <p:nvSpPr>
          <p:cNvPr id="48" name="Rectangle 47"/>
          <p:cNvSpPr/>
          <p:nvPr/>
        </p:nvSpPr>
        <p:spPr>
          <a:xfrm>
            <a:off x="6172200" y="5038344"/>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55080" y="4965192"/>
            <a:ext cx="2286000" cy="256032"/>
          </a:xfrm>
          <a:prstGeom prst="rect">
            <a:avLst/>
          </a:prstGeom>
          <a:noFill/>
        </p:spPr>
        <p:txBody>
          <a:bodyPr wrap="square">
            <a:spAutoFit/>
          </a:bodyPr>
          <a:lstStyle/>
          <a:p>
            <a:pPr algn="l"/>
            <a:r>
              <a:rPr sz="900" b="1" i="0">
                <a:solidFill>
                  <a:srgbClr val="FFFFFF"/>
                </a:solidFill>
              </a:rPr>
              <a:t>Mini First Aid Kit</a:t>
            </a:r>
          </a:p>
        </p:txBody>
      </p:sp>
      <p:sp>
        <p:nvSpPr>
          <p:cNvPr id="50" name="TextBox 49"/>
          <p:cNvSpPr txBox="1"/>
          <p:nvPr/>
        </p:nvSpPr>
        <p:spPr>
          <a:xfrm>
            <a:off x="6355080" y="5221224"/>
            <a:ext cx="5257800" cy="256032"/>
          </a:xfrm>
          <a:prstGeom prst="rect">
            <a:avLst/>
          </a:prstGeom>
          <a:noFill/>
        </p:spPr>
        <p:txBody>
          <a:bodyPr wrap="square">
            <a:spAutoFit/>
          </a:bodyPr>
          <a:lstStyle/>
          <a:p>
            <a:pPr algn="l"/>
            <a:r>
              <a:rPr sz="800" b="0" i="0">
                <a:solidFill>
                  <a:srgbClr val="A0A0A0"/>
                </a:solidFill>
              </a:rPr>
              <a:t>Travel-size kit. Guests will appreciate the thoughtfulness.</a:t>
            </a:r>
          </a:p>
        </p:txBody>
      </p:sp>
      <p:sp>
        <p:nvSpPr>
          <p:cNvPr id="51" name="Rectangle 50"/>
          <p:cNvSpPr/>
          <p:nvPr/>
        </p:nvSpPr>
        <p:spPr>
          <a:xfrm>
            <a:off x="6172200" y="5568696"/>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55080" y="5495544"/>
            <a:ext cx="2286000" cy="256032"/>
          </a:xfrm>
          <a:prstGeom prst="rect">
            <a:avLst/>
          </a:prstGeom>
          <a:noFill/>
        </p:spPr>
        <p:txBody>
          <a:bodyPr wrap="square">
            <a:spAutoFit/>
          </a:bodyPr>
          <a:lstStyle/>
          <a:p>
            <a:pPr algn="l"/>
            <a:r>
              <a:rPr sz="900" b="1" i="0">
                <a:solidFill>
                  <a:srgbClr val="FFFFFF"/>
                </a:solidFill>
              </a:rPr>
              <a:t>Local Snack Box</a:t>
            </a:r>
          </a:p>
        </p:txBody>
      </p:sp>
      <p:sp>
        <p:nvSpPr>
          <p:cNvPr id="53" name="TextBox 52"/>
          <p:cNvSpPr txBox="1"/>
          <p:nvPr/>
        </p:nvSpPr>
        <p:spPr>
          <a:xfrm>
            <a:off x="6355080" y="5751576"/>
            <a:ext cx="5257800" cy="256032"/>
          </a:xfrm>
          <a:prstGeom prst="rect">
            <a:avLst/>
          </a:prstGeom>
          <a:noFill/>
        </p:spPr>
        <p:txBody>
          <a:bodyPr wrap="square">
            <a:spAutoFit/>
          </a:bodyPr>
          <a:lstStyle/>
          <a:p>
            <a:pPr algn="l"/>
            <a:r>
              <a:rPr sz="800" b="0" i="0">
                <a:solidFill>
                  <a:srgbClr val="A0A0A0"/>
                </a:solidFill>
              </a:rPr>
              <a:t>Curated selection of DR snacks + a mini bottle of Mamajuana local liqueur.</a:t>
            </a:r>
          </a:p>
        </p:txBody>
      </p:sp>
      <p:sp>
        <p:nvSpPr>
          <p:cNvPr id="54" name="Rectangle 53"/>
          <p:cNvSpPr/>
          <p:nvPr/>
        </p:nvSpPr>
        <p:spPr>
          <a:xfrm>
            <a:off x="6172200" y="6099048"/>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55080" y="6025896"/>
            <a:ext cx="2286000" cy="256032"/>
          </a:xfrm>
          <a:prstGeom prst="rect">
            <a:avLst/>
          </a:prstGeom>
          <a:noFill/>
        </p:spPr>
        <p:txBody>
          <a:bodyPr wrap="square">
            <a:spAutoFit/>
          </a:bodyPr>
          <a:lstStyle/>
          <a:p>
            <a:pPr algn="l"/>
            <a:r>
              <a:rPr sz="900" b="1" i="0">
                <a:solidFill>
                  <a:srgbClr val="FFFFFF"/>
                </a:solidFill>
              </a:rPr>
              <a:t>Surprise QR Code Card</a:t>
            </a:r>
          </a:p>
        </p:txBody>
      </p:sp>
      <p:sp>
        <p:nvSpPr>
          <p:cNvPr id="56" name="TextBox 55"/>
          <p:cNvSpPr txBox="1"/>
          <p:nvPr/>
        </p:nvSpPr>
        <p:spPr>
          <a:xfrm>
            <a:off x="6355080" y="6281928"/>
            <a:ext cx="5257800" cy="256032"/>
          </a:xfrm>
          <a:prstGeom prst="rect">
            <a:avLst/>
          </a:prstGeom>
          <a:noFill/>
        </p:spPr>
        <p:txBody>
          <a:bodyPr wrap="square">
            <a:spAutoFit/>
          </a:bodyPr>
          <a:lstStyle/>
          <a:p>
            <a:pPr algn="l"/>
            <a:r>
              <a:rPr sz="800" b="0" i="0">
                <a:solidFill>
                  <a:srgbClr val="A0A0A0"/>
                </a:solidFill>
              </a:rPr>
              <a:t>Links to a private Spotify playlist 'Makena Punta Cana 2026' — curated by Baldwin.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B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137160"/>
            <a:ext cx="960120" cy="256032"/>
          </a:xfrm>
          <a:prstGeom prst="rect">
            <a:avLst/>
          </a:prstGeom>
          <a:solidFill>
            <a:srgbClr val="0B2A1A"/>
          </a:solidFill>
          <a:ln w="12700">
            <a:solidFill>
              <a:srgbClr val="86EF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2286000" cy="237744"/>
          </a:xfrm>
          <a:prstGeom prst="rect">
            <a:avLst/>
          </a:prstGeom>
          <a:noFill/>
        </p:spPr>
        <p:txBody>
          <a:bodyPr wrap="square">
            <a:spAutoFit/>
          </a:bodyPr>
          <a:lstStyle/>
          <a:p>
            <a:pPr algn="l"/>
            <a:r>
              <a:rPr sz="800" b="1" i="0">
                <a:solidFill>
                  <a:srgbClr val="86EFA9"/>
                </a:solidFill>
              </a:rPr>
              <a:t>DAY 1</a:t>
            </a:r>
          </a:p>
        </p:txBody>
      </p:sp>
      <p:sp>
        <p:nvSpPr>
          <p:cNvPr id="5" name="TextBox 4"/>
          <p:cNvSpPr txBox="1"/>
          <p:nvPr/>
        </p:nvSpPr>
        <p:spPr>
          <a:xfrm>
            <a:off x="457200" y="475488"/>
            <a:ext cx="10972800" cy="502920"/>
          </a:xfrm>
          <a:prstGeom prst="rect">
            <a:avLst/>
          </a:prstGeom>
          <a:noFill/>
        </p:spPr>
        <p:txBody>
          <a:bodyPr wrap="square">
            <a:spAutoFit/>
          </a:bodyPr>
          <a:lstStyle/>
          <a:p>
            <a:pPr algn="l"/>
            <a:r>
              <a:rPr sz="2600" b="1" i="0">
                <a:solidFill>
                  <a:srgbClr val="FFFFFF"/>
                </a:solidFill>
              </a:rPr>
              <a:t>ARRIVAL &amp; WELCOME MIXER</a:t>
            </a:r>
          </a:p>
        </p:txBody>
      </p:sp>
      <p:sp>
        <p:nvSpPr>
          <p:cNvPr id="6" name="TextBox 5"/>
          <p:cNvSpPr txBox="1"/>
          <p:nvPr/>
        </p:nvSpPr>
        <p:spPr>
          <a:xfrm>
            <a:off x="457200" y="777240"/>
            <a:ext cx="11430000" cy="201168"/>
          </a:xfrm>
          <a:prstGeom prst="rect">
            <a:avLst/>
          </a:prstGeom>
          <a:noFill/>
        </p:spPr>
        <p:txBody>
          <a:bodyPr wrap="square">
            <a:spAutoFit/>
          </a:bodyPr>
          <a:lstStyle/>
          <a:p>
            <a:pPr algn="l"/>
            <a:r>
              <a:rPr sz="900" b="0" i="0">
                <a:solidFill>
                  <a:srgbClr val="86EFA9"/>
                </a:solidFill>
              </a:rPr>
              <a:t>Delegate: Hotel Liaison + Events Lead  |  Vibe: Casual, warm, get-to-know-you energy  |  Time: Sunset (6PM – 9PM)</a:t>
            </a:r>
          </a:p>
        </p:txBody>
      </p:sp>
      <p:sp>
        <p:nvSpPr>
          <p:cNvPr id="7" name="Rectangle 6"/>
          <p:cNvSpPr/>
          <p:nvPr/>
        </p:nvSpPr>
        <p:spPr>
          <a:xfrm>
            <a:off x="365760" y="1051560"/>
            <a:ext cx="5394960" cy="525780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170432"/>
            <a:ext cx="5029200" cy="292608"/>
          </a:xfrm>
          <a:prstGeom prst="rect">
            <a:avLst/>
          </a:prstGeom>
          <a:noFill/>
        </p:spPr>
        <p:txBody>
          <a:bodyPr wrap="square">
            <a:spAutoFit/>
          </a:bodyPr>
          <a:lstStyle/>
          <a:p>
            <a:pPr algn="l"/>
            <a:r>
              <a:rPr sz="1100" b="1" i="0">
                <a:solidFill>
                  <a:srgbClr val="86EFA9"/>
                </a:solidFill>
              </a:rPr>
              <a:t>📋  ACTION ITEMS</a:t>
            </a:r>
          </a:p>
        </p:txBody>
      </p:sp>
      <p:sp>
        <p:nvSpPr>
          <p:cNvPr id="9" name="Rectangle 8"/>
          <p:cNvSpPr/>
          <p:nvPr/>
        </p:nvSpPr>
        <p:spPr>
          <a:xfrm>
            <a:off x="502920" y="1581912"/>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4983480" cy="310896"/>
          </a:xfrm>
          <a:prstGeom prst="rect">
            <a:avLst/>
          </a:prstGeom>
          <a:noFill/>
        </p:spPr>
        <p:txBody>
          <a:bodyPr wrap="square">
            <a:spAutoFit/>
          </a:bodyPr>
          <a:lstStyle/>
          <a:p>
            <a:pPr algn="l"/>
            <a:r>
              <a:rPr sz="900" b="0" i="0">
                <a:solidFill>
                  <a:srgbClr val="FFFFFF"/>
                </a:solidFill>
              </a:rPr>
              <a:t>Reserve pool terrace or beach area exclusively for the group at sunset</a:t>
            </a:r>
          </a:p>
        </p:txBody>
      </p:sp>
      <p:sp>
        <p:nvSpPr>
          <p:cNvPr id="11" name="Rectangle 10"/>
          <p:cNvSpPr/>
          <p:nvPr/>
        </p:nvSpPr>
        <p:spPr>
          <a:xfrm>
            <a:off x="502920" y="192024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847088"/>
            <a:ext cx="4983480" cy="310896"/>
          </a:xfrm>
          <a:prstGeom prst="rect">
            <a:avLst/>
          </a:prstGeom>
          <a:noFill/>
        </p:spPr>
        <p:txBody>
          <a:bodyPr wrap="square">
            <a:spAutoFit/>
          </a:bodyPr>
          <a:lstStyle/>
          <a:p>
            <a:pPr algn="l"/>
            <a:r>
              <a:rPr sz="900" b="0" i="0">
                <a:solidFill>
                  <a:srgbClr val="FFFFFF"/>
                </a:solidFill>
              </a:rPr>
              <a:t>Contract a mixologist or bartender — signature welcome cocktail on arrival</a:t>
            </a:r>
          </a:p>
        </p:txBody>
      </p:sp>
      <p:sp>
        <p:nvSpPr>
          <p:cNvPr id="13" name="Rectangle 12"/>
          <p:cNvSpPr/>
          <p:nvPr/>
        </p:nvSpPr>
        <p:spPr>
          <a:xfrm>
            <a:off x="502920" y="2258568"/>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85416"/>
            <a:ext cx="4983480" cy="310896"/>
          </a:xfrm>
          <a:prstGeom prst="rect">
            <a:avLst/>
          </a:prstGeom>
          <a:noFill/>
        </p:spPr>
        <p:txBody>
          <a:bodyPr wrap="square">
            <a:spAutoFit/>
          </a:bodyPr>
          <a:lstStyle/>
          <a:p>
            <a:pPr algn="l"/>
            <a:r>
              <a:rPr sz="900" b="0" i="0">
                <a:solidFill>
                  <a:srgbClr val="FFFFFF"/>
                </a:solidFill>
              </a:rPr>
              <a:t>Arrange light bites: charcuterie, tropical fruit boards, finger foods</a:t>
            </a:r>
          </a:p>
        </p:txBody>
      </p:sp>
      <p:sp>
        <p:nvSpPr>
          <p:cNvPr id="15" name="Rectangle 14"/>
          <p:cNvSpPr/>
          <p:nvPr/>
        </p:nvSpPr>
        <p:spPr>
          <a:xfrm>
            <a:off x="502920" y="2596896"/>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523744"/>
            <a:ext cx="4983480" cy="310896"/>
          </a:xfrm>
          <a:prstGeom prst="rect">
            <a:avLst/>
          </a:prstGeom>
          <a:noFill/>
        </p:spPr>
        <p:txBody>
          <a:bodyPr wrap="square">
            <a:spAutoFit/>
          </a:bodyPr>
          <a:lstStyle/>
          <a:p>
            <a:pPr algn="l"/>
            <a:r>
              <a:rPr sz="900" b="0" i="0">
                <a:solidFill>
                  <a:srgbClr val="FFFFFF"/>
                </a:solidFill>
              </a:rPr>
              <a:t>Set up a wireless Bluetooth sound system or hire a DJ for ambient background music</a:t>
            </a:r>
          </a:p>
        </p:txBody>
      </p:sp>
      <p:sp>
        <p:nvSpPr>
          <p:cNvPr id="17" name="Rectangle 16"/>
          <p:cNvSpPr/>
          <p:nvPr/>
        </p:nvSpPr>
        <p:spPr>
          <a:xfrm>
            <a:off x="502920" y="2935224"/>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862072"/>
            <a:ext cx="4983480" cy="310896"/>
          </a:xfrm>
          <a:prstGeom prst="rect">
            <a:avLst/>
          </a:prstGeom>
          <a:noFill/>
        </p:spPr>
        <p:txBody>
          <a:bodyPr wrap="square">
            <a:spAutoFit/>
          </a:bodyPr>
          <a:lstStyle/>
          <a:p>
            <a:pPr algn="l"/>
            <a:r>
              <a:rPr sz="900" b="0" i="0">
                <a:solidFill>
                  <a:srgbClr val="FFFFFF"/>
                </a:solidFill>
              </a:rPr>
              <a:t>Prepare name tags or wristbands so guests can mingle with context</a:t>
            </a:r>
          </a:p>
        </p:txBody>
      </p:sp>
      <p:sp>
        <p:nvSpPr>
          <p:cNvPr id="19" name="Rectangle 18"/>
          <p:cNvSpPr/>
          <p:nvPr/>
        </p:nvSpPr>
        <p:spPr>
          <a:xfrm>
            <a:off x="502920" y="3273552"/>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200400"/>
            <a:ext cx="4983480" cy="310896"/>
          </a:xfrm>
          <a:prstGeom prst="rect">
            <a:avLst/>
          </a:prstGeom>
          <a:noFill/>
        </p:spPr>
        <p:txBody>
          <a:bodyPr wrap="square">
            <a:spAutoFit/>
          </a:bodyPr>
          <a:lstStyle/>
          <a:p>
            <a:pPr algn="l"/>
            <a:r>
              <a:rPr sz="900" b="0" i="0">
                <a:solidFill>
                  <a:srgbClr val="FFFFFF"/>
                </a:solidFill>
              </a:rPr>
              <a:t>Brief hotel on setup: lighting, table arrangement, branded signage at entrance</a:t>
            </a:r>
          </a:p>
        </p:txBody>
      </p:sp>
      <p:sp>
        <p:nvSpPr>
          <p:cNvPr id="21" name="Rectangle 20"/>
          <p:cNvSpPr/>
          <p:nvPr/>
        </p:nvSpPr>
        <p:spPr>
          <a:xfrm>
            <a:off x="502920" y="361188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538728"/>
            <a:ext cx="4983480" cy="310896"/>
          </a:xfrm>
          <a:prstGeom prst="rect">
            <a:avLst/>
          </a:prstGeom>
          <a:noFill/>
        </p:spPr>
        <p:txBody>
          <a:bodyPr wrap="square">
            <a:spAutoFit/>
          </a:bodyPr>
          <a:lstStyle/>
          <a:p>
            <a:pPr algn="l"/>
            <a:r>
              <a:rPr sz="900" b="0" i="0">
                <a:solidFill>
                  <a:srgbClr val="FFFFFF"/>
                </a:solidFill>
              </a:rPr>
              <a:t>Ensure Baldwin arrives last — 'grand entrance' moment to set the tone</a:t>
            </a:r>
          </a:p>
        </p:txBody>
      </p:sp>
      <p:sp>
        <p:nvSpPr>
          <p:cNvPr id="23" name="Rectangle 22"/>
          <p:cNvSpPr/>
          <p:nvPr/>
        </p:nvSpPr>
        <p:spPr>
          <a:xfrm>
            <a:off x="502920" y="3950208"/>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877056"/>
            <a:ext cx="4983480" cy="310896"/>
          </a:xfrm>
          <a:prstGeom prst="rect">
            <a:avLst/>
          </a:prstGeom>
          <a:noFill/>
        </p:spPr>
        <p:txBody>
          <a:bodyPr wrap="square">
            <a:spAutoFit/>
          </a:bodyPr>
          <a:lstStyle/>
          <a:p>
            <a:pPr algn="l"/>
            <a:r>
              <a:rPr sz="900" b="0" i="0">
                <a:solidFill>
                  <a:srgbClr val="FFFFFF"/>
                </a:solidFill>
              </a:rPr>
              <a:t>Have Guest Services Lead manage the WhatsApp group with real-time location of mixer</a:t>
            </a:r>
          </a:p>
        </p:txBody>
      </p:sp>
      <p:sp>
        <p:nvSpPr>
          <p:cNvPr id="25" name="Rectangle 24"/>
          <p:cNvSpPr/>
          <p:nvPr/>
        </p:nvSpPr>
        <p:spPr>
          <a:xfrm>
            <a:off x="502920" y="4288536"/>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15384"/>
            <a:ext cx="4983480" cy="310896"/>
          </a:xfrm>
          <a:prstGeom prst="rect">
            <a:avLst/>
          </a:prstGeom>
          <a:noFill/>
        </p:spPr>
        <p:txBody>
          <a:bodyPr wrap="square">
            <a:spAutoFit/>
          </a:bodyPr>
          <a:lstStyle/>
          <a:p>
            <a:pPr algn="l"/>
            <a:r>
              <a:rPr sz="900" b="0" i="0">
                <a:solidFill>
                  <a:srgbClr val="FFFFFF"/>
                </a:solidFill>
              </a:rPr>
              <a:t>Set up a guest book / Polaroid camera station for instant memories</a:t>
            </a:r>
          </a:p>
        </p:txBody>
      </p:sp>
      <p:sp>
        <p:nvSpPr>
          <p:cNvPr id="27" name="Rectangle 26"/>
          <p:cNvSpPr/>
          <p:nvPr/>
        </p:nvSpPr>
        <p:spPr>
          <a:xfrm>
            <a:off x="502920" y="4626864"/>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553712"/>
            <a:ext cx="4983480" cy="310896"/>
          </a:xfrm>
          <a:prstGeom prst="rect">
            <a:avLst/>
          </a:prstGeom>
          <a:noFill/>
        </p:spPr>
        <p:txBody>
          <a:bodyPr wrap="square">
            <a:spAutoFit/>
          </a:bodyPr>
          <a:lstStyle/>
          <a:p>
            <a:pPr algn="l"/>
            <a:r>
              <a:rPr sz="900" b="0" i="0">
                <a:solidFill>
                  <a:srgbClr val="FFFFFF"/>
                </a:solidFill>
              </a:rPr>
              <a:t>Photographer in place 30 min before guests arrive — captures candid arrivals</a:t>
            </a:r>
          </a:p>
        </p:txBody>
      </p:sp>
      <p:sp>
        <p:nvSpPr>
          <p:cNvPr id="29" name="Rectangle 28"/>
          <p:cNvSpPr/>
          <p:nvPr/>
        </p:nvSpPr>
        <p:spPr>
          <a:xfrm>
            <a:off x="6126480" y="1051560"/>
            <a:ext cx="5715000" cy="525780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1170432"/>
            <a:ext cx="5349240" cy="292608"/>
          </a:xfrm>
          <a:prstGeom prst="rect">
            <a:avLst/>
          </a:prstGeom>
          <a:noFill/>
        </p:spPr>
        <p:txBody>
          <a:bodyPr wrap="square">
            <a:spAutoFit/>
          </a:bodyPr>
          <a:lstStyle/>
          <a:p>
            <a:pPr algn="l"/>
            <a:r>
              <a:rPr sz="1100" b="1" i="0">
                <a:solidFill>
                  <a:srgbClr val="86EFA9"/>
                </a:solidFill>
              </a:rPr>
              <a:t>✨  CREATIVE IDEAS</a:t>
            </a:r>
          </a:p>
        </p:txBody>
      </p:sp>
      <p:sp>
        <p:nvSpPr>
          <p:cNvPr id="31" name="TextBox 30"/>
          <p:cNvSpPr txBox="1"/>
          <p:nvPr/>
        </p:nvSpPr>
        <p:spPr>
          <a:xfrm>
            <a:off x="6309360" y="1508760"/>
            <a:ext cx="5349240" cy="237744"/>
          </a:xfrm>
          <a:prstGeom prst="rect">
            <a:avLst/>
          </a:prstGeom>
          <a:noFill/>
        </p:spPr>
        <p:txBody>
          <a:bodyPr wrap="square">
            <a:spAutoFit/>
          </a:bodyPr>
          <a:lstStyle/>
          <a:p>
            <a:pPr algn="l"/>
            <a:r>
              <a:rPr sz="1000" b="1" i="0">
                <a:solidFill>
                  <a:srgbClr val="FFFFFF"/>
                </a:solidFill>
              </a:rPr>
              <a:t>🍹  The 'Makena Mule' Signature Cocktail</a:t>
            </a:r>
          </a:p>
        </p:txBody>
      </p:sp>
      <p:sp>
        <p:nvSpPr>
          <p:cNvPr id="32" name="TextBox 31"/>
          <p:cNvSpPr txBox="1"/>
          <p:nvPr/>
        </p:nvSpPr>
        <p:spPr>
          <a:xfrm>
            <a:off x="6309360" y="1755648"/>
            <a:ext cx="5349240" cy="347472"/>
          </a:xfrm>
          <a:prstGeom prst="rect">
            <a:avLst/>
          </a:prstGeom>
          <a:noFill/>
        </p:spPr>
        <p:txBody>
          <a:bodyPr wrap="square">
            <a:spAutoFit/>
          </a:bodyPr>
          <a:lstStyle/>
          <a:p>
            <a:pPr algn="l"/>
            <a:r>
              <a:rPr sz="850" b="0" i="0">
                <a:solidFill>
                  <a:srgbClr val="A0A0A0"/>
                </a:solidFill>
              </a:rPr>
              <a:t>Create a custom cocktail named after the brand. Recipe card on each table. Guests post it. Marketing.</a:t>
            </a:r>
          </a:p>
        </p:txBody>
      </p:sp>
      <p:sp>
        <p:nvSpPr>
          <p:cNvPr id="33" name="TextBox 32"/>
          <p:cNvSpPr txBox="1"/>
          <p:nvPr/>
        </p:nvSpPr>
        <p:spPr>
          <a:xfrm>
            <a:off x="6309360" y="2185415"/>
            <a:ext cx="5349240" cy="237744"/>
          </a:xfrm>
          <a:prstGeom prst="rect">
            <a:avLst/>
          </a:prstGeom>
          <a:noFill/>
        </p:spPr>
        <p:txBody>
          <a:bodyPr wrap="square">
            <a:spAutoFit/>
          </a:bodyPr>
          <a:lstStyle/>
          <a:p>
            <a:pPr algn="l"/>
            <a:r>
              <a:rPr sz="1000" b="1" i="0">
                <a:solidFill>
                  <a:srgbClr val="FFFFFF"/>
                </a:solidFill>
              </a:rPr>
              <a:t>🎙️  Live Percussionist</a:t>
            </a:r>
          </a:p>
        </p:txBody>
      </p:sp>
      <p:sp>
        <p:nvSpPr>
          <p:cNvPr id="34" name="TextBox 33"/>
          <p:cNvSpPr txBox="1"/>
          <p:nvPr/>
        </p:nvSpPr>
        <p:spPr>
          <a:xfrm>
            <a:off x="6309360" y="2432303"/>
            <a:ext cx="5349240" cy="347472"/>
          </a:xfrm>
          <a:prstGeom prst="rect">
            <a:avLst/>
          </a:prstGeom>
          <a:noFill/>
        </p:spPr>
        <p:txBody>
          <a:bodyPr wrap="square">
            <a:spAutoFit/>
          </a:bodyPr>
          <a:lstStyle/>
          <a:p>
            <a:pPr algn="l"/>
            <a:r>
              <a:rPr sz="850" b="0" i="0">
                <a:solidFill>
                  <a:srgbClr val="A0A0A0"/>
                </a:solidFill>
              </a:rPr>
              <a:t>A local bongo or steel drum player alongside the playlist for the first hour. Sets an elevated, tropical vibe.</a:t>
            </a:r>
          </a:p>
        </p:txBody>
      </p:sp>
      <p:sp>
        <p:nvSpPr>
          <p:cNvPr id="35" name="TextBox 34"/>
          <p:cNvSpPr txBox="1"/>
          <p:nvPr/>
        </p:nvSpPr>
        <p:spPr>
          <a:xfrm>
            <a:off x="6309360" y="2862072"/>
            <a:ext cx="5349240" cy="237744"/>
          </a:xfrm>
          <a:prstGeom prst="rect">
            <a:avLst/>
          </a:prstGeom>
          <a:noFill/>
        </p:spPr>
        <p:txBody>
          <a:bodyPr wrap="square">
            <a:spAutoFit/>
          </a:bodyPr>
          <a:lstStyle/>
          <a:p>
            <a:pPr algn="l"/>
            <a:r>
              <a:rPr sz="1000" b="1" i="0">
                <a:solidFill>
                  <a:srgbClr val="FFFFFF"/>
                </a:solidFill>
              </a:rPr>
              <a:t>📓  Trip Intentions Wall</a:t>
            </a:r>
          </a:p>
        </p:txBody>
      </p:sp>
      <p:sp>
        <p:nvSpPr>
          <p:cNvPr id="36" name="TextBox 35"/>
          <p:cNvSpPr txBox="1"/>
          <p:nvPr/>
        </p:nvSpPr>
        <p:spPr>
          <a:xfrm>
            <a:off x="6309360" y="3108960"/>
            <a:ext cx="5349240" cy="347472"/>
          </a:xfrm>
          <a:prstGeom prst="rect">
            <a:avLst/>
          </a:prstGeom>
          <a:noFill/>
        </p:spPr>
        <p:txBody>
          <a:bodyPr wrap="square">
            <a:spAutoFit/>
          </a:bodyPr>
          <a:lstStyle/>
          <a:p>
            <a:pPr algn="l"/>
            <a:r>
              <a:rPr sz="850" b="0" i="0">
                <a:solidFill>
                  <a:srgbClr val="A0A0A0"/>
                </a:solidFill>
              </a:rPr>
              <a:t>A large card or blackboard where guests write one word or intention for the trip. Photographed and shared.</a:t>
            </a:r>
          </a:p>
        </p:txBody>
      </p:sp>
      <p:sp>
        <p:nvSpPr>
          <p:cNvPr id="37" name="TextBox 36"/>
          <p:cNvSpPr txBox="1"/>
          <p:nvPr/>
        </p:nvSpPr>
        <p:spPr>
          <a:xfrm>
            <a:off x="6309360" y="3538728"/>
            <a:ext cx="5349240" cy="237744"/>
          </a:xfrm>
          <a:prstGeom prst="rect">
            <a:avLst/>
          </a:prstGeom>
          <a:noFill/>
        </p:spPr>
        <p:txBody>
          <a:bodyPr wrap="square">
            <a:spAutoFit/>
          </a:bodyPr>
          <a:lstStyle/>
          <a:p>
            <a:pPr algn="l"/>
            <a:r>
              <a:rPr sz="1000" b="1" i="0">
                <a:solidFill>
                  <a:srgbClr val="FFFFFF"/>
                </a:solidFill>
              </a:rPr>
              <a:t>🏆  'Who Are You?' Ice Breaker Game</a:t>
            </a:r>
          </a:p>
        </p:txBody>
      </p:sp>
      <p:sp>
        <p:nvSpPr>
          <p:cNvPr id="38" name="TextBox 37"/>
          <p:cNvSpPr txBox="1"/>
          <p:nvPr/>
        </p:nvSpPr>
        <p:spPr>
          <a:xfrm>
            <a:off x="6309360" y="3785616"/>
            <a:ext cx="5349240" cy="347472"/>
          </a:xfrm>
          <a:prstGeom prst="rect">
            <a:avLst/>
          </a:prstGeom>
          <a:noFill/>
        </p:spPr>
        <p:txBody>
          <a:bodyPr wrap="square">
            <a:spAutoFit/>
          </a:bodyPr>
          <a:lstStyle/>
          <a:p>
            <a:pPr algn="l"/>
            <a:r>
              <a:rPr sz="850" b="0" i="0">
                <a:solidFill>
                  <a:srgbClr val="A0A0A0"/>
                </a:solidFill>
              </a:rPr>
              <a:t>Hosted by Guest Services Lead. Fun group game that breaks the ice without feeling forced. Prizes for winners.</a:t>
            </a:r>
          </a:p>
        </p:txBody>
      </p:sp>
      <p:sp>
        <p:nvSpPr>
          <p:cNvPr id="39" name="TextBox 38"/>
          <p:cNvSpPr txBox="1"/>
          <p:nvPr/>
        </p:nvSpPr>
        <p:spPr>
          <a:xfrm>
            <a:off x="6309360" y="4215384"/>
            <a:ext cx="5349240" cy="237744"/>
          </a:xfrm>
          <a:prstGeom prst="rect">
            <a:avLst/>
          </a:prstGeom>
          <a:noFill/>
        </p:spPr>
        <p:txBody>
          <a:bodyPr wrap="square">
            <a:spAutoFit/>
          </a:bodyPr>
          <a:lstStyle/>
          <a:p>
            <a:pPr algn="l"/>
            <a:r>
              <a:rPr sz="1000" b="1" i="0">
                <a:solidFill>
                  <a:srgbClr val="FFFFFF"/>
                </a:solidFill>
              </a:rPr>
              <a:t>🌅  Sunset Group Photo</a:t>
            </a:r>
          </a:p>
        </p:txBody>
      </p:sp>
      <p:sp>
        <p:nvSpPr>
          <p:cNvPr id="40" name="TextBox 39"/>
          <p:cNvSpPr txBox="1"/>
          <p:nvPr/>
        </p:nvSpPr>
        <p:spPr>
          <a:xfrm>
            <a:off x="6309360" y="4462272"/>
            <a:ext cx="5349240" cy="347472"/>
          </a:xfrm>
          <a:prstGeom prst="rect">
            <a:avLst/>
          </a:prstGeom>
          <a:noFill/>
        </p:spPr>
        <p:txBody>
          <a:bodyPr wrap="square">
            <a:spAutoFit/>
          </a:bodyPr>
          <a:lstStyle/>
          <a:p>
            <a:pPr algn="l"/>
            <a:r>
              <a:rPr sz="850" b="0" i="0">
                <a:solidFill>
                  <a:srgbClr val="A0A0A0"/>
                </a:solidFill>
              </a:rPr>
              <a:t>At golden hour, photographer positions the whole group for THE group shot of the trip. Posted immediately.</a:t>
            </a:r>
          </a:p>
        </p:txBody>
      </p:sp>
      <p:sp>
        <p:nvSpPr>
          <p:cNvPr id="41" name="TextBox 40"/>
          <p:cNvSpPr txBox="1"/>
          <p:nvPr/>
        </p:nvSpPr>
        <p:spPr>
          <a:xfrm>
            <a:off x="6309360" y="4892040"/>
            <a:ext cx="5349240" cy="237744"/>
          </a:xfrm>
          <a:prstGeom prst="rect">
            <a:avLst/>
          </a:prstGeom>
          <a:noFill/>
        </p:spPr>
        <p:txBody>
          <a:bodyPr wrap="square">
            <a:spAutoFit/>
          </a:bodyPr>
          <a:lstStyle/>
          <a:p>
            <a:pPr algn="l"/>
            <a:r>
              <a:rPr sz="1000" b="1" i="0">
                <a:solidFill>
                  <a:srgbClr val="FFFFFF"/>
                </a:solidFill>
              </a:rPr>
              <a:t>💡  Glow-Up Hour</a:t>
            </a:r>
          </a:p>
        </p:txBody>
      </p:sp>
      <p:sp>
        <p:nvSpPr>
          <p:cNvPr id="42" name="TextBox 41"/>
          <p:cNvSpPr txBox="1"/>
          <p:nvPr/>
        </p:nvSpPr>
        <p:spPr>
          <a:xfrm>
            <a:off x="6309360" y="5138928"/>
            <a:ext cx="5349240" cy="347472"/>
          </a:xfrm>
          <a:prstGeom prst="rect">
            <a:avLst/>
          </a:prstGeom>
          <a:noFill/>
        </p:spPr>
        <p:txBody>
          <a:bodyPr wrap="square">
            <a:spAutoFit/>
          </a:bodyPr>
          <a:lstStyle/>
          <a:p>
            <a:pPr algn="l"/>
            <a:r>
              <a:rPr sz="850" b="0" i="0">
                <a:solidFill>
                  <a:srgbClr val="A0A0A0"/>
                </a:solidFill>
              </a:rPr>
              <a:t>As the sun goes down, distribute glow sticks, LED bracelets and UV accessories. The energy shifts from day to night.</a:t>
            </a:r>
          </a:p>
        </p:txBody>
      </p:sp>
      <p:sp>
        <p:nvSpPr>
          <p:cNvPr id="43" name="TextBox 42"/>
          <p:cNvSpPr txBox="1"/>
          <p:nvPr/>
        </p:nvSpPr>
        <p:spPr>
          <a:xfrm>
            <a:off x="6309360" y="5568696"/>
            <a:ext cx="5349240" cy="237744"/>
          </a:xfrm>
          <a:prstGeom prst="rect">
            <a:avLst/>
          </a:prstGeom>
          <a:noFill/>
        </p:spPr>
        <p:txBody>
          <a:bodyPr wrap="square">
            <a:spAutoFit/>
          </a:bodyPr>
          <a:lstStyle/>
          <a:p>
            <a:pPr algn="l"/>
            <a:r>
              <a:rPr sz="1000" b="1" i="0">
                <a:solidFill>
                  <a:srgbClr val="FFFFFF"/>
                </a:solidFill>
              </a:rPr>
              <a:t>🎤  Welcome Speech by Baldwin</a:t>
            </a:r>
          </a:p>
        </p:txBody>
      </p:sp>
      <p:sp>
        <p:nvSpPr>
          <p:cNvPr id="44" name="TextBox 43"/>
          <p:cNvSpPr txBox="1"/>
          <p:nvPr/>
        </p:nvSpPr>
        <p:spPr>
          <a:xfrm>
            <a:off x="6309360" y="5815584"/>
            <a:ext cx="5349240" cy="347472"/>
          </a:xfrm>
          <a:prstGeom prst="rect">
            <a:avLst/>
          </a:prstGeom>
          <a:noFill/>
        </p:spPr>
        <p:txBody>
          <a:bodyPr wrap="square">
            <a:spAutoFit/>
          </a:bodyPr>
          <a:lstStyle/>
          <a:p>
            <a:pPr algn="l"/>
            <a:r>
              <a:rPr sz="850" b="0" i="0">
                <a:solidFill>
                  <a:srgbClr val="A0A0A0"/>
                </a:solidFill>
              </a:rPr>
              <a:t>Short, personal, grateful. Sets the emotional tone. This is the moment that makes people feel like they're part of something.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B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137160"/>
            <a:ext cx="960120" cy="256032"/>
          </a:xfrm>
          <a:prstGeom prst="rect">
            <a:avLst/>
          </a:prstGeom>
          <a:solidFill>
            <a:srgbClr val="0B2A1A"/>
          </a:solidFill>
          <a:ln w="12700">
            <a:solidFill>
              <a:srgbClr val="86EF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2286000" cy="237744"/>
          </a:xfrm>
          <a:prstGeom prst="rect">
            <a:avLst/>
          </a:prstGeom>
          <a:noFill/>
        </p:spPr>
        <p:txBody>
          <a:bodyPr wrap="square">
            <a:spAutoFit/>
          </a:bodyPr>
          <a:lstStyle/>
          <a:p>
            <a:pPr algn="l"/>
            <a:r>
              <a:rPr sz="800" b="1" i="0">
                <a:solidFill>
                  <a:srgbClr val="86EFA9"/>
                </a:solidFill>
              </a:rPr>
              <a:t>DAY 2</a:t>
            </a:r>
          </a:p>
        </p:txBody>
      </p:sp>
      <p:sp>
        <p:nvSpPr>
          <p:cNvPr id="5" name="TextBox 4"/>
          <p:cNvSpPr txBox="1"/>
          <p:nvPr/>
        </p:nvSpPr>
        <p:spPr>
          <a:xfrm>
            <a:off x="457200" y="475488"/>
            <a:ext cx="10972800" cy="502920"/>
          </a:xfrm>
          <a:prstGeom prst="rect">
            <a:avLst/>
          </a:prstGeom>
          <a:noFill/>
        </p:spPr>
        <p:txBody>
          <a:bodyPr wrap="square">
            <a:spAutoFit/>
          </a:bodyPr>
          <a:lstStyle/>
          <a:p>
            <a:pPr algn="l"/>
            <a:r>
              <a:rPr sz="2600" b="1" i="0">
                <a:solidFill>
                  <a:srgbClr val="FFFFFF"/>
                </a:solidFill>
              </a:rPr>
              <a:t>PRIVATE CATAMARAN BOAT PARTY</a:t>
            </a:r>
          </a:p>
        </p:txBody>
      </p:sp>
      <p:sp>
        <p:nvSpPr>
          <p:cNvPr id="6" name="TextBox 5"/>
          <p:cNvSpPr txBox="1"/>
          <p:nvPr/>
        </p:nvSpPr>
        <p:spPr>
          <a:xfrm>
            <a:off x="457200" y="777240"/>
            <a:ext cx="11430000" cy="201168"/>
          </a:xfrm>
          <a:prstGeom prst="rect">
            <a:avLst/>
          </a:prstGeom>
          <a:noFill/>
        </p:spPr>
        <p:txBody>
          <a:bodyPr wrap="square">
            <a:spAutoFit/>
          </a:bodyPr>
          <a:lstStyle/>
          <a:p>
            <a:pPr algn="l"/>
            <a:r>
              <a:rPr sz="900" b="0" i="0">
                <a:solidFill>
                  <a:srgbClr val="86EFA9"/>
                </a:solidFill>
              </a:rPr>
              <a:t>Delegate: Activities Coordinator + Events Lead  |  Vibe: Peak energy, open ocean, all day  |  Time: 9AM – 6PM</a:t>
            </a:r>
          </a:p>
        </p:txBody>
      </p:sp>
      <p:sp>
        <p:nvSpPr>
          <p:cNvPr id="7" name="Rectangle 6"/>
          <p:cNvSpPr/>
          <p:nvPr/>
        </p:nvSpPr>
        <p:spPr>
          <a:xfrm>
            <a:off x="365760" y="1051560"/>
            <a:ext cx="5394960" cy="525780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170432"/>
            <a:ext cx="5029200" cy="292608"/>
          </a:xfrm>
          <a:prstGeom prst="rect">
            <a:avLst/>
          </a:prstGeom>
          <a:noFill/>
        </p:spPr>
        <p:txBody>
          <a:bodyPr wrap="square">
            <a:spAutoFit/>
          </a:bodyPr>
          <a:lstStyle/>
          <a:p>
            <a:pPr algn="l"/>
            <a:r>
              <a:rPr sz="1100" b="1" i="0">
                <a:solidFill>
                  <a:srgbClr val="86EFA9"/>
                </a:solidFill>
              </a:rPr>
              <a:t>📋  ACTION ITEMS</a:t>
            </a:r>
          </a:p>
        </p:txBody>
      </p:sp>
      <p:sp>
        <p:nvSpPr>
          <p:cNvPr id="9" name="Rectangle 8"/>
          <p:cNvSpPr/>
          <p:nvPr/>
        </p:nvSpPr>
        <p:spPr>
          <a:xfrm>
            <a:off x="502920" y="1581912"/>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4983480" cy="310896"/>
          </a:xfrm>
          <a:prstGeom prst="rect">
            <a:avLst/>
          </a:prstGeom>
          <a:noFill/>
        </p:spPr>
        <p:txBody>
          <a:bodyPr wrap="square">
            <a:spAutoFit/>
          </a:bodyPr>
          <a:lstStyle/>
          <a:p>
            <a:pPr algn="l"/>
            <a:r>
              <a:rPr sz="900" b="0" i="0">
                <a:solidFill>
                  <a:srgbClr val="FFFFFF"/>
                </a:solidFill>
              </a:rPr>
              <a:t>Confirm catamaran booking: capacity, hours, open bar spec, crew count</a:t>
            </a:r>
          </a:p>
        </p:txBody>
      </p:sp>
      <p:sp>
        <p:nvSpPr>
          <p:cNvPr id="11" name="Rectangle 10"/>
          <p:cNvSpPr/>
          <p:nvPr/>
        </p:nvSpPr>
        <p:spPr>
          <a:xfrm>
            <a:off x="502920" y="192024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847088"/>
            <a:ext cx="4983480" cy="310896"/>
          </a:xfrm>
          <a:prstGeom prst="rect">
            <a:avLst/>
          </a:prstGeom>
          <a:noFill/>
        </p:spPr>
        <p:txBody>
          <a:bodyPr wrap="square">
            <a:spAutoFit/>
          </a:bodyPr>
          <a:lstStyle/>
          <a:p>
            <a:pPr algn="l"/>
            <a:r>
              <a:rPr sz="900" b="0" i="0">
                <a:solidFill>
                  <a:srgbClr val="FFFFFF"/>
                </a:solidFill>
              </a:rPr>
              <a:t>Book a DJ experienced in Afrobeats / Amapiano — provide genre brief</a:t>
            </a:r>
          </a:p>
        </p:txBody>
      </p:sp>
      <p:sp>
        <p:nvSpPr>
          <p:cNvPr id="13" name="Rectangle 12"/>
          <p:cNvSpPr/>
          <p:nvPr/>
        </p:nvSpPr>
        <p:spPr>
          <a:xfrm>
            <a:off x="502920" y="2258568"/>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85416"/>
            <a:ext cx="4983480" cy="310896"/>
          </a:xfrm>
          <a:prstGeom prst="rect">
            <a:avLst/>
          </a:prstGeom>
          <a:noFill/>
        </p:spPr>
        <p:txBody>
          <a:bodyPr wrap="square">
            <a:spAutoFit/>
          </a:bodyPr>
          <a:lstStyle/>
          <a:p>
            <a:pPr algn="l"/>
            <a:r>
              <a:rPr sz="900" b="0" i="0">
                <a:solidFill>
                  <a:srgbClr val="FFFFFF"/>
                </a:solidFill>
              </a:rPr>
              <a:t>Confirm departure marina location and arrange hotel-to-marina transport</a:t>
            </a:r>
          </a:p>
        </p:txBody>
      </p:sp>
      <p:sp>
        <p:nvSpPr>
          <p:cNvPr id="15" name="Rectangle 14"/>
          <p:cNvSpPr/>
          <p:nvPr/>
        </p:nvSpPr>
        <p:spPr>
          <a:xfrm>
            <a:off x="502920" y="2596896"/>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523744"/>
            <a:ext cx="4983480" cy="310896"/>
          </a:xfrm>
          <a:prstGeom prst="rect">
            <a:avLst/>
          </a:prstGeom>
          <a:noFill/>
        </p:spPr>
        <p:txBody>
          <a:bodyPr wrap="square">
            <a:spAutoFit/>
          </a:bodyPr>
          <a:lstStyle/>
          <a:p>
            <a:pPr algn="l"/>
            <a:r>
              <a:rPr sz="900" b="0" i="0">
                <a:solidFill>
                  <a:srgbClr val="FFFFFF"/>
                </a:solidFill>
              </a:rPr>
              <a:t>Arrange snorkeling gear for all guests + underwater photographer</a:t>
            </a:r>
          </a:p>
        </p:txBody>
      </p:sp>
      <p:sp>
        <p:nvSpPr>
          <p:cNvPr id="17" name="Rectangle 16"/>
          <p:cNvSpPr/>
          <p:nvPr/>
        </p:nvSpPr>
        <p:spPr>
          <a:xfrm>
            <a:off x="502920" y="2935224"/>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862072"/>
            <a:ext cx="4983480" cy="310896"/>
          </a:xfrm>
          <a:prstGeom prst="rect">
            <a:avLst/>
          </a:prstGeom>
          <a:noFill/>
        </p:spPr>
        <p:txBody>
          <a:bodyPr wrap="square">
            <a:spAutoFit/>
          </a:bodyPr>
          <a:lstStyle/>
          <a:p>
            <a:pPr algn="l"/>
            <a:r>
              <a:rPr sz="900" b="0" i="0">
                <a:solidFill>
                  <a:srgbClr val="FFFFFF"/>
                </a:solidFill>
              </a:rPr>
              <a:t>Confirm lunch menu on board — dietary requirements collected from guests in advance</a:t>
            </a:r>
          </a:p>
        </p:txBody>
      </p:sp>
      <p:sp>
        <p:nvSpPr>
          <p:cNvPr id="19" name="Rectangle 18"/>
          <p:cNvSpPr/>
          <p:nvPr/>
        </p:nvSpPr>
        <p:spPr>
          <a:xfrm>
            <a:off x="502920" y="3273552"/>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200400"/>
            <a:ext cx="4983480" cy="310896"/>
          </a:xfrm>
          <a:prstGeom prst="rect">
            <a:avLst/>
          </a:prstGeom>
          <a:noFill/>
        </p:spPr>
        <p:txBody>
          <a:bodyPr wrap="square">
            <a:spAutoFit/>
          </a:bodyPr>
          <a:lstStyle/>
          <a:p>
            <a:pPr algn="l"/>
            <a:r>
              <a:rPr sz="900" b="0" i="0">
                <a:solidFill>
                  <a:srgbClr val="FFFFFF"/>
                </a:solidFill>
              </a:rPr>
              <a:t>Brief captain on planned stops: snorkeling reef, sandbar, open ocean cruise</a:t>
            </a:r>
          </a:p>
        </p:txBody>
      </p:sp>
      <p:sp>
        <p:nvSpPr>
          <p:cNvPr id="21" name="Rectangle 20"/>
          <p:cNvSpPr/>
          <p:nvPr/>
        </p:nvSpPr>
        <p:spPr>
          <a:xfrm>
            <a:off x="502920" y="361188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538728"/>
            <a:ext cx="4983480" cy="310896"/>
          </a:xfrm>
          <a:prstGeom prst="rect">
            <a:avLst/>
          </a:prstGeom>
          <a:noFill/>
        </p:spPr>
        <p:txBody>
          <a:bodyPr wrap="square">
            <a:spAutoFit/>
          </a:bodyPr>
          <a:lstStyle/>
          <a:p>
            <a:pPr algn="l"/>
            <a:r>
              <a:rPr sz="900" b="0" i="0">
                <a:solidFill>
                  <a:srgbClr val="FFFFFF"/>
                </a:solidFill>
              </a:rPr>
              <a:t>Ensure safety briefing is prepared and delivered to guests before departure</a:t>
            </a:r>
          </a:p>
        </p:txBody>
      </p:sp>
      <p:sp>
        <p:nvSpPr>
          <p:cNvPr id="23" name="Rectangle 22"/>
          <p:cNvSpPr/>
          <p:nvPr/>
        </p:nvSpPr>
        <p:spPr>
          <a:xfrm>
            <a:off x="502920" y="3950208"/>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877056"/>
            <a:ext cx="4983480" cy="310896"/>
          </a:xfrm>
          <a:prstGeom prst="rect">
            <a:avLst/>
          </a:prstGeom>
          <a:noFill/>
        </p:spPr>
        <p:txBody>
          <a:bodyPr wrap="square">
            <a:spAutoFit/>
          </a:bodyPr>
          <a:lstStyle/>
          <a:p>
            <a:pPr algn="l"/>
            <a:r>
              <a:rPr sz="900" b="0" i="0">
                <a:solidFill>
                  <a:srgbClr val="FFFFFF"/>
                </a:solidFill>
              </a:rPr>
              <a:t>Provide each guest with a waterproof bag for phones and valuables</a:t>
            </a:r>
          </a:p>
        </p:txBody>
      </p:sp>
      <p:sp>
        <p:nvSpPr>
          <p:cNvPr id="25" name="Rectangle 24"/>
          <p:cNvSpPr/>
          <p:nvPr/>
        </p:nvSpPr>
        <p:spPr>
          <a:xfrm>
            <a:off x="502920" y="4288536"/>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15384"/>
            <a:ext cx="4983480" cy="310896"/>
          </a:xfrm>
          <a:prstGeom prst="rect">
            <a:avLst/>
          </a:prstGeom>
          <a:noFill/>
        </p:spPr>
        <p:txBody>
          <a:bodyPr wrap="square">
            <a:spAutoFit/>
          </a:bodyPr>
          <a:lstStyle/>
          <a:p>
            <a:pPr algn="l"/>
            <a:r>
              <a:rPr sz="900" b="0" i="0">
                <a:solidFill>
                  <a:srgbClr val="FFFFFF"/>
                </a:solidFill>
              </a:rPr>
              <a:t>Book an additional videographer for aerial drone footage if budget allows</a:t>
            </a:r>
          </a:p>
        </p:txBody>
      </p:sp>
      <p:sp>
        <p:nvSpPr>
          <p:cNvPr id="27" name="Rectangle 26"/>
          <p:cNvSpPr/>
          <p:nvPr/>
        </p:nvSpPr>
        <p:spPr>
          <a:xfrm>
            <a:off x="502920" y="4626864"/>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553712"/>
            <a:ext cx="4983480" cy="310896"/>
          </a:xfrm>
          <a:prstGeom prst="rect">
            <a:avLst/>
          </a:prstGeom>
          <a:noFill/>
        </p:spPr>
        <p:txBody>
          <a:bodyPr wrap="square">
            <a:spAutoFit/>
          </a:bodyPr>
          <a:lstStyle/>
          <a:p>
            <a:pPr algn="l"/>
            <a:r>
              <a:rPr sz="900" b="0" i="0">
                <a:solidFill>
                  <a:srgbClr val="FFFFFF"/>
                </a:solidFill>
              </a:rPr>
              <a:t>Create day-of schedule and share with guests the night before</a:t>
            </a:r>
          </a:p>
        </p:txBody>
      </p:sp>
      <p:sp>
        <p:nvSpPr>
          <p:cNvPr id="29" name="Rectangle 28"/>
          <p:cNvSpPr/>
          <p:nvPr/>
        </p:nvSpPr>
        <p:spPr>
          <a:xfrm>
            <a:off x="6126480" y="1051560"/>
            <a:ext cx="5715000" cy="525780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1170432"/>
            <a:ext cx="5349240" cy="292608"/>
          </a:xfrm>
          <a:prstGeom prst="rect">
            <a:avLst/>
          </a:prstGeom>
          <a:noFill/>
        </p:spPr>
        <p:txBody>
          <a:bodyPr wrap="square">
            <a:spAutoFit/>
          </a:bodyPr>
          <a:lstStyle/>
          <a:p>
            <a:pPr algn="l"/>
            <a:r>
              <a:rPr sz="1100" b="1" i="0">
                <a:solidFill>
                  <a:srgbClr val="86EFA9"/>
                </a:solidFill>
              </a:rPr>
              <a:t>✨  CREATIVE IDEAS</a:t>
            </a:r>
          </a:p>
        </p:txBody>
      </p:sp>
      <p:sp>
        <p:nvSpPr>
          <p:cNvPr id="31" name="TextBox 30"/>
          <p:cNvSpPr txBox="1"/>
          <p:nvPr/>
        </p:nvSpPr>
        <p:spPr>
          <a:xfrm>
            <a:off x="6309360" y="1508760"/>
            <a:ext cx="5349240" cy="237744"/>
          </a:xfrm>
          <a:prstGeom prst="rect">
            <a:avLst/>
          </a:prstGeom>
          <a:noFill/>
        </p:spPr>
        <p:txBody>
          <a:bodyPr wrap="square">
            <a:spAutoFit/>
          </a:bodyPr>
          <a:lstStyle/>
          <a:p>
            <a:pPr algn="l"/>
            <a:r>
              <a:rPr sz="1000" b="1" i="0">
                <a:solidFill>
                  <a:srgbClr val="FFFFFF"/>
                </a:solidFill>
              </a:rPr>
              <a:t>🚩  Makena Flag Flying on the Catamaran</a:t>
            </a:r>
          </a:p>
        </p:txBody>
      </p:sp>
      <p:sp>
        <p:nvSpPr>
          <p:cNvPr id="32" name="TextBox 31"/>
          <p:cNvSpPr txBox="1"/>
          <p:nvPr/>
        </p:nvSpPr>
        <p:spPr>
          <a:xfrm>
            <a:off x="6309360" y="1755648"/>
            <a:ext cx="5349240" cy="347472"/>
          </a:xfrm>
          <a:prstGeom prst="rect">
            <a:avLst/>
          </a:prstGeom>
          <a:noFill/>
        </p:spPr>
        <p:txBody>
          <a:bodyPr wrap="square">
            <a:spAutoFit/>
          </a:bodyPr>
          <a:lstStyle/>
          <a:p>
            <a:pPr algn="l"/>
            <a:r>
              <a:rPr sz="850" b="0" i="0">
                <a:solidFill>
                  <a:srgbClr val="A0A0A0"/>
                </a:solidFill>
              </a:rPr>
              <a:t>Custom Makena flag on the mast. Every photo guests take has it. Every passing boat sees it. Content gold.</a:t>
            </a:r>
          </a:p>
        </p:txBody>
      </p:sp>
      <p:sp>
        <p:nvSpPr>
          <p:cNvPr id="33" name="TextBox 32"/>
          <p:cNvSpPr txBox="1"/>
          <p:nvPr/>
        </p:nvSpPr>
        <p:spPr>
          <a:xfrm>
            <a:off x="6309360" y="2185415"/>
            <a:ext cx="5349240" cy="237744"/>
          </a:xfrm>
          <a:prstGeom prst="rect">
            <a:avLst/>
          </a:prstGeom>
          <a:noFill/>
        </p:spPr>
        <p:txBody>
          <a:bodyPr wrap="square">
            <a:spAutoFit/>
          </a:bodyPr>
          <a:lstStyle/>
          <a:p>
            <a:pPr algn="l"/>
            <a:r>
              <a:rPr sz="1000" b="1" i="0">
                <a:solidFill>
                  <a:srgbClr val="FFFFFF"/>
                </a:solidFill>
              </a:rPr>
              <a:t>🍾  Floating Charcuterie Moment</a:t>
            </a:r>
          </a:p>
        </p:txBody>
      </p:sp>
      <p:sp>
        <p:nvSpPr>
          <p:cNvPr id="34" name="TextBox 33"/>
          <p:cNvSpPr txBox="1"/>
          <p:nvPr/>
        </p:nvSpPr>
        <p:spPr>
          <a:xfrm>
            <a:off x="6309360" y="2432303"/>
            <a:ext cx="5349240" cy="347472"/>
          </a:xfrm>
          <a:prstGeom prst="rect">
            <a:avLst/>
          </a:prstGeom>
          <a:noFill/>
        </p:spPr>
        <p:txBody>
          <a:bodyPr wrap="square">
            <a:spAutoFit/>
          </a:bodyPr>
          <a:lstStyle/>
          <a:p>
            <a:pPr algn="l"/>
            <a:r>
              <a:rPr sz="850" b="0" i="0">
                <a:solidFill>
                  <a:srgbClr val="A0A0A0"/>
                </a:solidFill>
              </a:rPr>
              <a:t>A floating tray of fruits, snacks and drinks passed around while guests are in the water at the sandbar. Instagrammable.</a:t>
            </a:r>
          </a:p>
        </p:txBody>
      </p:sp>
      <p:sp>
        <p:nvSpPr>
          <p:cNvPr id="35" name="TextBox 34"/>
          <p:cNvSpPr txBox="1"/>
          <p:nvPr/>
        </p:nvSpPr>
        <p:spPr>
          <a:xfrm>
            <a:off x="6309360" y="2862072"/>
            <a:ext cx="5349240" cy="237744"/>
          </a:xfrm>
          <a:prstGeom prst="rect">
            <a:avLst/>
          </a:prstGeom>
          <a:noFill/>
        </p:spPr>
        <p:txBody>
          <a:bodyPr wrap="square">
            <a:spAutoFit/>
          </a:bodyPr>
          <a:lstStyle/>
          <a:p>
            <a:pPr algn="l"/>
            <a:r>
              <a:rPr sz="1000" b="1" i="0">
                <a:solidFill>
                  <a:srgbClr val="FFFFFF"/>
                </a:solidFill>
              </a:rPr>
              <a:t>🌅  Sunset Champagne Toast</a:t>
            </a:r>
          </a:p>
        </p:txBody>
      </p:sp>
      <p:sp>
        <p:nvSpPr>
          <p:cNvPr id="36" name="TextBox 35"/>
          <p:cNvSpPr txBox="1"/>
          <p:nvPr/>
        </p:nvSpPr>
        <p:spPr>
          <a:xfrm>
            <a:off x="6309360" y="3108960"/>
            <a:ext cx="5349240" cy="347472"/>
          </a:xfrm>
          <a:prstGeom prst="rect">
            <a:avLst/>
          </a:prstGeom>
          <a:noFill/>
        </p:spPr>
        <p:txBody>
          <a:bodyPr wrap="square">
            <a:spAutoFit/>
          </a:bodyPr>
          <a:lstStyle/>
          <a:p>
            <a:pPr algn="l"/>
            <a:r>
              <a:rPr sz="850" b="0" i="0">
                <a:solidFill>
                  <a:srgbClr val="A0A0A0"/>
                </a:solidFill>
              </a:rPr>
              <a:t>At the sandbar stop as the sun sets — Baldwin gives a toast. Champagne handed to every guest. Photographer captures the clink.</a:t>
            </a:r>
          </a:p>
        </p:txBody>
      </p:sp>
      <p:sp>
        <p:nvSpPr>
          <p:cNvPr id="37" name="TextBox 36"/>
          <p:cNvSpPr txBox="1"/>
          <p:nvPr/>
        </p:nvSpPr>
        <p:spPr>
          <a:xfrm>
            <a:off x="6309360" y="3538728"/>
            <a:ext cx="5349240" cy="237744"/>
          </a:xfrm>
          <a:prstGeom prst="rect">
            <a:avLst/>
          </a:prstGeom>
          <a:noFill/>
        </p:spPr>
        <p:txBody>
          <a:bodyPr wrap="square">
            <a:spAutoFit/>
          </a:bodyPr>
          <a:lstStyle/>
          <a:p>
            <a:pPr algn="l"/>
            <a:r>
              <a:rPr sz="1000" b="1" i="0">
                <a:solidFill>
                  <a:srgbClr val="FFFFFF"/>
                </a:solidFill>
              </a:rPr>
              <a:t>🎷  Live Saxophonist for One Hour</a:t>
            </a:r>
          </a:p>
        </p:txBody>
      </p:sp>
      <p:sp>
        <p:nvSpPr>
          <p:cNvPr id="38" name="TextBox 37"/>
          <p:cNvSpPr txBox="1"/>
          <p:nvPr/>
        </p:nvSpPr>
        <p:spPr>
          <a:xfrm>
            <a:off x="6309360" y="3785616"/>
            <a:ext cx="5349240" cy="347472"/>
          </a:xfrm>
          <a:prstGeom prst="rect">
            <a:avLst/>
          </a:prstGeom>
          <a:noFill/>
        </p:spPr>
        <p:txBody>
          <a:bodyPr wrap="square">
            <a:spAutoFit/>
          </a:bodyPr>
          <a:lstStyle/>
          <a:p>
            <a:pPr algn="l"/>
            <a:r>
              <a:rPr sz="850" b="0" i="0">
                <a:solidFill>
                  <a:srgbClr val="A0A0A0"/>
                </a:solidFill>
              </a:rPr>
              <a:t>A saxophonist joins for the first hour playing over the DJ set. Elevated, unexpected. Guests go wild.</a:t>
            </a:r>
          </a:p>
        </p:txBody>
      </p:sp>
      <p:sp>
        <p:nvSpPr>
          <p:cNvPr id="39" name="TextBox 38"/>
          <p:cNvSpPr txBox="1"/>
          <p:nvPr/>
        </p:nvSpPr>
        <p:spPr>
          <a:xfrm>
            <a:off x="6309360" y="4215384"/>
            <a:ext cx="5349240" cy="237744"/>
          </a:xfrm>
          <a:prstGeom prst="rect">
            <a:avLst/>
          </a:prstGeom>
          <a:noFill/>
        </p:spPr>
        <p:txBody>
          <a:bodyPr wrap="square">
            <a:spAutoFit/>
          </a:bodyPr>
          <a:lstStyle/>
          <a:p>
            <a:pPr algn="l"/>
            <a:r>
              <a:rPr sz="1000" b="1" i="0">
                <a:solidFill>
                  <a:srgbClr val="FFFFFF"/>
                </a:solidFill>
              </a:rPr>
              <a:t>🎨  Boat Party Dress Code: Tropical Vibes</a:t>
            </a:r>
          </a:p>
        </p:txBody>
      </p:sp>
      <p:sp>
        <p:nvSpPr>
          <p:cNvPr id="40" name="TextBox 39"/>
          <p:cNvSpPr txBox="1"/>
          <p:nvPr/>
        </p:nvSpPr>
        <p:spPr>
          <a:xfrm>
            <a:off x="6309360" y="4462272"/>
            <a:ext cx="5349240" cy="347472"/>
          </a:xfrm>
          <a:prstGeom prst="rect">
            <a:avLst/>
          </a:prstGeom>
          <a:noFill/>
        </p:spPr>
        <p:txBody>
          <a:bodyPr wrap="square">
            <a:spAutoFit/>
          </a:bodyPr>
          <a:lstStyle/>
          <a:p>
            <a:pPr algn="l"/>
            <a:r>
              <a:rPr sz="850" b="0" i="0">
                <a:solidFill>
                  <a:srgbClr val="A0A0A0"/>
                </a:solidFill>
              </a:rPr>
              <a:t>Assign a fun dress code (bright colors, florals) — different from the All White party. Group visual identity.</a:t>
            </a:r>
          </a:p>
        </p:txBody>
      </p:sp>
      <p:sp>
        <p:nvSpPr>
          <p:cNvPr id="41" name="TextBox 40"/>
          <p:cNvSpPr txBox="1"/>
          <p:nvPr/>
        </p:nvSpPr>
        <p:spPr>
          <a:xfrm>
            <a:off x="6309360" y="4892040"/>
            <a:ext cx="5349240" cy="237744"/>
          </a:xfrm>
          <a:prstGeom prst="rect">
            <a:avLst/>
          </a:prstGeom>
          <a:noFill/>
        </p:spPr>
        <p:txBody>
          <a:bodyPr wrap="square">
            <a:spAutoFit/>
          </a:bodyPr>
          <a:lstStyle/>
          <a:p>
            <a:pPr algn="l"/>
            <a:r>
              <a:rPr sz="1000" b="1" i="0">
                <a:solidFill>
                  <a:srgbClr val="FFFFFF"/>
                </a:solidFill>
              </a:rPr>
              <a:t>📸  Content Drop That Night</a:t>
            </a:r>
          </a:p>
        </p:txBody>
      </p:sp>
      <p:sp>
        <p:nvSpPr>
          <p:cNvPr id="42" name="TextBox 41"/>
          <p:cNvSpPr txBox="1"/>
          <p:nvPr/>
        </p:nvSpPr>
        <p:spPr>
          <a:xfrm>
            <a:off x="6309360" y="5138928"/>
            <a:ext cx="5349240" cy="347472"/>
          </a:xfrm>
          <a:prstGeom prst="rect">
            <a:avLst/>
          </a:prstGeom>
          <a:noFill/>
        </p:spPr>
        <p:txBody>
          <a:bodyPr wrap="square">
            <a:spAutoFit/>
          </a:bodyPr>
          <a:lstStyle/>
          <a:p>
            <a:pPr algn="l"/>
            <a:r>
              <a:rPr sz="850" b="0" i="0">
                <a:solidFill>
                  <a:srgbClr val="A0A0A0"/>
                </a:solidFill>
              </a:rPr>
              <a:t>Content Creator delivers a 30-second boat party reel to the WhatsApp group same evening. Guests share it.</a:t>
            </a:r>
          </a:p>
        </p:txBody>
      </p:sp>
      <p:sp>
        <p:nvSpPr>
          <p:cNvPr id="43" name="TextBox 42"/>
          <p:cNvSpPr txBox="1"/>
          <p:nvPr/>
        </p:nvSpPr>
        <p:spPr>
          <a:xfrm>
            <a:off x="6309360" y="5568696"/>
            <a:ext cx="5349240" cy="237744"/>
          </a:xfrm>
          <a:prstGeom prst="rect">
            <a:avLst/>
          </a:prstGeom>
          <a:noFill/>
        </p:spPr>
        <p:txBody>
          <a:bodyPr wrap="square">
            <a:spAutoFit/>
          </a:bodyPr>
          <a:lstStyle/>
          <a:p>
            <a:pPr algn="l"/>
            <a:r>
              <a:rPr sz="1000" b="1" i="0">
                <a:solidFill>
                  <a:srgbClr val="FFFFFF"/>
                </a:solidFill>
              </a:rPr>
              <a:t>🏆  'Best Photo from the Water' Contest</a:t>
            </a:r>
          </a:p>
        </p:txBody>
      </p:sp>
      <p:sp>
        <p:nvSpPr>
          <p:cNvPr id="44" name="TextBox 43"/>
          <p:cNvSpPr txBox="1"/>
          <p:nvPr/>
        </p:nvSpPr>
        <p:spPr>
          <a:xfrm>
            <a:off x="6309360" y="5815584"/>
            <a:ext cx="5349240" cy="347472"/>
          </a:xfrm>
          <a:prstGeom prst="rect">
            <a:avLst/>
          </a:prstGeom>
          <a:noFill/>
        </p:spPr>
        <p:txBody>
          <a:bodyPr wrap="square">
            <a:spAutoFit/>
          </a:bodyPr>
          <a:lstStyle/>
          <a:p>
            <a:pPr algn="l"/>
            <a:r>
              <a:rPr sz="850" b="0" i="0">
                <a:solidFill>
                  <a:srgbClr val="A0A0A0"/>
                </a:solidFill>
              </a:rPr>
              <a:t>Guests submit their underwater / sandbar shot to the group. Baldwin picks the winner. Small prize.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B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137160"/>
            <a:ext cx="960120" cy="256032"/>
          </a:xfrm>
          <a:prstGeom prst="rect">
            <a:avLst/>
          </a:prstGeom>
          <a:solidFill>
            <a:srgbClr val="0B2A1A"/>
          </a:solidFill>
          <a:ln w="12700">
            <a:solidFill>
              <a:srgbClr val="86EF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2286000" cy="237744"/>
          </a:xfrm>
          <a:prstGeom prst="rect">
            <a:avLst/>
          </a:prstGeom>
          <a:noFill/>
        </p:spPr>
        <p:txBody>
          <a:bodyPr wrap="square">
            <a:spAutoFit/>
          </a:bodyPr>
          <a:lstStyle/>
          <a:p>
            <a:pPr algn="l"/>
            <a:r>
              <a:rPr sz="800" b="1" i="0">
                <a:solidFill>
                  <a:srgbClr val="86EFA9"/>
                </a:solidFill>
              </a:rPr>
              <a:t>DAY 3</a:t>
            </a:r>
          </a:p>
        </p:txBody>
      </p:sp>
      <p:sp>
        <p:nvSpPr>
          <p:cNvPr id="5" name="TextBox 4"/>
          <p:cNvSpPr txBox="1"/>
          <p:nvPr/>
        </p:nvSpPr>
        <p:spPr>
          <a:xfrm>
            <a:off x="457200" y="475488"/>
            <a:ext cx="10972800" cy="502920"/>
          </a:xfrm>
          <a:prstGeom prst="rect">
            <a:avLst/>
          </a:prstGeom>
          <a:noFill/>
        </p:spPr>
        <p:txBody>
          <a:bodyPr wrap="square">
            <a:spAutoFit/>
          </a:bodyPr>
          <a:lstStyle/>
          <a:p>
            <a:pPr algn="l"/>
            <a:r>
              <a:rPr sz="2600" b="1" i="0">
                <a:solidFill>
                  <a:srgbClr val="FFFFFF"/>
                </a:solidFill>
              </a:rPr>
              <a:t>ISLAND DAY TRIP</a:t>
            </a:r>
          </a:p>
        </p:txBody>
      </p:sp>
      <p:sp>
        <p:nvSpPr>
          <p:cNvPr id="6" name="TextBox 5"/>
          <p:cNvSpPr txBox="1"/>
          <p:nvPr/>
        </p:nvSpPr>
        <p:spPr>
          <a:xfrm>
            <a:off x="457200" y="777240"/>
            <a:ext cx="11430000" cy="201168"/>
          </a:xfrm>
          <a:prstGeom prst="rect">
            <a:avLst/>
          </a:prstGeom>
          <a:noFill/>
        </p:spPr>
        <p:txBody>
          <a:bodyPr wrap="square">
            <a:spAutoFit/>
          </a:bodyPr>
          <a:lstStyle/>
          <a:p>
            <a:pPr algn="l"/>
            <a:r>
              <a:rPr sz="900" b="0" i="0">
                <a:solidFill>
                  <a:srgbClr val="86EFA9"/>
                </a:solidFill>
              </a:rPr>
              <a:t>Delegate: Activities Coordinator  |  Vibe: Explorer, relaxed, scenic  |  Time: 8AM – 5PM (early start to beat crowds)</a:t>
            </a:r>
          </a:p>
        </p:txBody>
      </p:sp>
      <p:sp>
        <p:nvSpPr>
          <p:cNvPr id="7" name="Rectangle 6"/>
          <p:cNvSpPr/>
          <p:nvPr/>
        </p:nvSpPr>
        <p:spPr>
          <a:xfrm>
            <a:off x="365760" y="1051560"/>
            <a:ext cx="5394960" cy="525780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170432"/>
            <a:ext cx="5029200" cy="292608"/>
          </a:xfrm>
          <a:prstGeom prst="rect">
            <a:avLst/>
          </a:prstGeom>
          <a:noFill/>
        </p:spPr>
        <p:txBody>
          <a:bodyPr wrap="square">
            <a:spAutoFit/>
          </a:bodyPr>
          <a:lstStyle/>
          <a:p>
            <a:pPr algn="l"/>
            <a:r>
              <a:rPr sz="1100" b="1" i="0">
                <a:solidFill>
                  <a:srgbClr val="86EFA9"/>
                </a:solidFill>
              </a:rPr>
              <a:t>📋  ACTION ITEMS</a:t>
            </a:r>
          </a:p>
        </p:txBody>
      </p:sp>
      <p:sp>
        <p:nvSpPr>
          <p:cNvPr id="9" name="Rectangle 8"/>
          <p:cNvSpPr/>
          <p:nvPr/>
        </p:nvSpPr>
        <p:spPr>
          <a:xfrm>
            <a:off x="502920" y="1581912"/>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4983480" cy="310896"/>
          </a:xfrm>
          <a:prstGeom prst="rect">
            <a:avLst/>
          </a:prstGeom>
          <a:noFill/>
        </p:spPr>
        <p:txBody>
          <a:bodyPr wrap="square">
            <a:spAutoFit/>
          </a:bodyPr>
          <a:lstStyle/>
          <a:p>
            <a:pPr algn="l"/>
            <a:r>
              <a:rPr sz="900" b="0" i="0">
                <a:solidFill>
                  <a:srgbClr val="FFFFFF"/>
                </a:solidFill>
              </a:rPr>
              <a:t>Book speedboat / private ferry to island (Saona or Catalina Island recommended)</a:t>
            </a:r>
          </a:p>
        </p:txBody>
      </p:sp>
      <p:sp>
        <p:nvSpPr>
          <p:cNvPr id="11" name="Rectangle 10"/>
          <p:cNvSpPr/>
          <p:nvPr/>
        </p:nvSpPr>
        <p:spPr>
          <a:xfrm>
            <a:off x="502920" y="192024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847088"/>
            <a:ext cx="4983480" cy="310896"/>
          </a:xfrm>
          <a:prstGeom prst="rect">
            <a:avLst/>
          </a:prstGeom>
          <a:noFill/>
        </p:spPr>
        <p:txBody>
          <a:bodyPr wrap="square">
            <a:spAutoFit/>
          </a:bodyPr>
          <a:lstStyle/>
          <a:p>
            <a:pPr algn="l"/>
            <a:r>
              <a:rPr sz="900" b="0" i="0">
                <a:solidFill>
                  <a:srgbClr val="FFFFFF"/>
                </a:solidFill>
              </a:rPr>
              <a:t>Secure EARLY departure (8AM) — arrive before the public tours overrun the beach</a:t>
            </a:r>
          </a:p>
        </p:txBody>
      </p:sp>
      <p:sp>
        <p:nvSpPr>
          <p:cNvPr id="13" name="Rectangle 12"/>
          <p:cNvSpPr/>
          <p:nvPr/>
        </p:nvSpPr>
        <p:spPr>
          <a:xfrm>
            <a:off x="502920" y="2258568"/>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85416"/>
            <a:ext cx="4983480" cy="310896"/>
          </a:xfrm>
          <a:prstGeom prst="rect">
            <a:avLst/>
          </a:prstGeom>
          <a:noFill/>
        </p:spPr>
        <p:txBody>
          <a:bodyPr wrap="square">
            <a:spAutoFit/>
          </a:bodyPr>
          <a:lstStyle/>
          <a:p>
            <a:pPr algn="l"/>
            <a:r>
              <a:rPr sz="900" b="0" i="0">
                <a:solidFill>
                  <a:srgbClr val="FFFFFF"/>
                </a:solidFill>
              </a:rPr>
              <a:t>Confirm private beach lunch with open bar — pre-select menu, confirm dietary needs</a:t>
            </a:r>
          </a:p>
        </p:txBody>
      </p:sp>
      <p:sp>
        <p:nvSpPr>
          <p:cNvPr id="15" name="Rectangle 14"/>
          <p:cNvSpPr/>
          <p:nvPr/>
        </p:nvSpPr>
        <p:spPr>
          <a:xfrm>
            <a:off x="502920" y="2596896"/>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523744"/>
            <a:ext cx="4983480" cy="310896"/>
          </a:xfrm>
          <a:prstGeom prst="rect">
            <a:avLst/>
          </a:prstGeom>
          <a:noFill/>
        </p:spPr>
        <p:txBody>
          <a:bodyPr wrap="square">
            <a:spAutoFit/>
          </a:bodyPr>
          <a:lstStyle/>
          <a:p>
            <a:pPr algn="l"/>
            <a:r>
              <a:rPr sz="900" b="0" i="0">
                <a:solidFill>
                  <a:srgbClr val="FFFFFF"/>
                </a:solidFill>
              </a:rPr>
              <a:t>Brief tour guide on group energy: we want fun, not a museum tour</a:t>
            </a:r>
          </a:p>
        </p:txBody>
      </p:sp>
      <p:sp>
        <p:nvSpPr>
          <p:cNvPr id="17" name="Rectangle 16"/>
          <p:cNvSpPr/>
          <p:nvPr/>
        </p:nvSpPr>
        <p:spPr>
          <a:xfrm>
            <a:off x="502920" y="2935224"/>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862072"/>
            <a:ext cx="4983480" cy="310896"/>
          </a:xfrm>
          <a:prstGeom prst="rect">
            <a:avLst/>
          </a:prstGeom>
          <a:noFill/>
        </p:spPr>
        <p:txBody>
          <a:bodyPr wrap="square">
            <a:spAutoFit/>
          </a:bodyPr>
          <a:lstStyle/>
          <a:p>
            <a:pPr algn="l"/>
            <a:r>
              <a:rPr sz="900" b="0" i="0">
                <a:solidFill>
                  <a:srgbClr val="FFFFFF"/>
                </a:solidFill>
              </a:rPr>
              <a:t>Arrange kayaks, paddleboards or beach volleyball for free time activities</a:t>
            </a:r>
          </a:p>
        </p:txBody>
      </p:sp>
      <p:sp>
        <p:nvSpPr>
          <p:cNvPr id="19" name="Rectangle 18"/>
          <p:cNvSpPr/>
          <p:nvPr/>
        </p:nvSpPr>
        <p:spPr>
          <a:xfrm>
            <a:off x="502920" y="3273552"/>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200400"/>
            <a:ext cx="4983480" cy="310896"/>
          </a:xfrm>
          <a:prstGeom prst="rect">
            <a:avLst/>
          </a:prstGeom>
          <a:noFill/>
        </p:spPr>
        <p:txBody>
          <a:bodyPr wrap="square">
            <a:spAutoFit/>
          </a:bodyPr>
          <a:lstStyle/>
          <a:p>
            <a:pPr algn="l"/>
            <a:r>
              <a:rPr sz="900" b="0" i="0">
                <a:solidFill>
                  <a:srgbClr val="FFFFFF"/>
                </a:solidFill>
              </a:rPr>
              <a:t>Provide Makena branded bucket hats to every guest for the day</a:t>
            </a:r>
          </a:p>
        </p:txBody>
      </p:sp>
      <p:sp>
        <p:nvSpPr>
          <p:cNvPr id="21" name="Rectangle 20"/>
          <p:cNvSpPr/>
          <p:nvPr/>
        </p:nvSpPr>
        <p:spPr>
          <a:xfrm>
            <a:off x="502920" y="361188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538728"/>
            <a:ext cx="4983480" cy="310896"/>
          </a:xfrm>
          <a:prstGeom prst="rect">
            <a:avLst/>
          </a:prstGeom>
          <a:noFill/>
        </p:spPr>
        <p:txBody>
          <a:bodyPr wrap="square">
            <a:spAutoFit/>
          </a:bodyPr>
          <a:lstStyle/>
          <a:p>
            <a:pPr algn="l"/>
            <a:r>
              <a:rPr sz="900" b="0" i="0">
                <a:solidFill>
                  <a:srgbClr val="FFFFFF"/>
                </a:solidFill>
              </a:rPr>
              <a:t>Confirm return speedboat timing — sunset return preferred</a:t>
            </a:r>
          </a:p>
        </p:txBody>
      </p:sp>
      <p:sp>
        <p:nvSpPr>
          <p:cNvPr id="23" name="Rectangle 22"/>
          <p:cNvSpPr/>
          <p:nvPr/>
        </p:nvSpPr>
        <p:spPr>
          <a:xfrm>
            <a:off x="502920" y="3950208"/>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877056"/>
            <a:ext cx="4983480" cy="310896"/>
          </a:xfrm>
          <a:prstGeom prst="rect">
            <a:avLst/>
          </a:prstGeom>
          <a:noFill/>
        </p:spPr>
        <p:txBody>
          <a:bodyPr wrap="square">
            <a:spAutoFit/>
          </a:bodyPr>
          <a:lstStyle/>
          <a:p>
            <a:pPr algn="l"/>
            <a:r>
              <a:rPr sz="900" b="0" i="0">
                <a:solidFill>
                  <a:srgbClr val="FFFFFF"/>
                </a:solidFill>
              </a:rPr>
              <a:t>Have Activities Coordinator on the speedboat both ways — point of contact for group</a:t>
            </a:r>
          </a:p>
        </p:txBody>
      </p:sp>
      <p:sp>
        <p:nvSpPr>
          <p:cNvPr id="25" name="Rectangle 24"/>
          <p:cNvSpPr/>
          <p:nvPr/>
        </p:nvSpPr>
        <p:spPr>
          <a:xfrm>
            <a:off x="502920" y="4288536"/>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15384"/>
            <a:ext cx="4983480" cy="310896"/>
          </a:xfrm>
          <a:prstGeom prst="rect">
            <a:avLst/>
          </a:prstGeom>
          <a:noFill/>
        </p:spPr>
        <p:txBody>
          <a:bodyPr wrap="square">
            <a:spAutoFit/>
          </a:bodyPr>
          <a:lstStyle/>
          <a:p>
            <a:pPr algn="l"/>
            <a:r>
              <a:rPr sz="900" b="0" i="0">
                <a:solidFill>
                  <a:srgbClr val="FFFFFF"/>
                </a:solidFill>
              </a:rPr>
              <a:t>Pack a group first aid kit and sunscreen station on the beach</a:t>
            </a:r>
          </a:p>
        </p:txBody>
      </p:sp>
      <p:sp>
        <p:nvSpPr>
          <p:cNvPr id="27" name="Rectangle 26"/>
          <p:cNvSpPr/>
          <p:nvPr/>
        </p:nvSpPr>
        <p:spPr>
          <a:xfrm>
            <a:off x="502920" y="4626864"/>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553712"/>
            <a:ext cx="4983480" cy="310896"/>
          </a:xfrm>
          <a:prstGeom prst="rect">
            <a:avLst/>
          </a:prstGeom>
          <a:noFill/>
        </p:spPr>
        <p:txBody>
          <a:bodyPr wrap="square">
            <a:spAutoFit/>
          </a:bodyPr>
          <a:lstStyle/>
          <a:p>
            <a:pPr algn="l"/>
            <a:r>
              <a:rPr sz="900" b="0" i="0">
                <a:solidFill>
                  <a:srgbClr val="FFFFFF"/>
                </a:solidFill>
              </a:rPr>
              <a:t>Arrange hotel dinner reservation for the evening — guests will be tired but hungry</a:t>
            </a:r>
          </a:p>
        </p:txBody>
      </p:sp>
      <p:sp>
        <p:nvSpPr>
          <p:cNvPr id="29" name="Rectangle 28"/>
          <p:cNvSpPr/>
          <p:nvPr/>
        </p:nvSpPr>
        <p:spPr>
          <a:xfrm>
            <a:off x="6126480" y="1051560"/>
            <a:ext cx="5715000" cy="525780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1170432"/>
            <a:ext cx="5349240" cy="292608"/>
          </a:xfrm>
          <a:prstGeom prst="rect">
            <a:avLst/>
          </a:prstGeom>
          <a:noFill/>
        </p:spPr>
        <p:txBody>
          <a:bodyPr wrap="square">
            <a:spAutoFit/>
          </a:bodyPr>
          <a:lstStyle/>
          <a:p>
            <a:pPr algn="l"/>
            <a:r>
              <a:rPr sz="1100" b="1" i="0">
                <a:solidFill>
                  <a:srgbClr val="86EFA9"/>
                </a:solidFill>
              </a:rPr>
              <a:t>✨  CREATIVE IDEAS</a:t>
            </a:r>
          </a:p>
        </p:txBody>
      </p:sp>
      <p:sp>
        <p:nvSpPr>
          <p:cNvPr id="31" name="TextBox 30"/>
          <p:cNvSpPr txBox="1"/>
          <p:nvPr/>
        </p:nvSpPr>
        <p:spPr>
          <a:xfrm>
            <a:off x="6309360" y="1508760"/>
            <a:ext cx="5349240" cy="237744"/>
          </a:xfrm>
          <a:prstGeom prst="rect">
            <a:avLst/>
          </a:prstGeom>
          <a:noFill/>
        </p:spPr>
        <p:txBody>
          <a:bodyPr wrap="square">
            <a:spAutoFit/>
          </a:bodyPr>
          <a:lstStyle/>
          <a:p>
            <a:pPr algn="l"/>
            <a:r>
              <a:rPr sz="1000" b="1" i="0">
                <a:solidFill>
                  <a:srgbClr val="FFFFFF"/>
                </a:solidFill>
              </a:rPr>
              <a:t>🎵  Local Musician on the Beach</a:t>
            </a:r>
          </a:p>
        </p:txBody>
      </p:sp>
      <p:sp>
        <p:nvSpPr>
          <p:cNvPr id="32" name="TextBox 31"/>
          <p:cNvSpPr txBox="1"/>
          <p:nvPr/>
        </p:nvSpPr>
        <p:spPr>
          <a:xfrm>
            <a:off x="6309360" y="1755648"/>
            <a:ext cx="5349240" cy="347472"/>
          </a:xfrm>
          <a:prstGeom prst="rect">
            <a:avLst/>
          </a:prstGeom>
          <a:noFill/>
        </p:spPr>
        <p:txBody>
          <a:bodyPr wrap="square">
            <a:spAutoFit/>
          </a:bodyPr>
          <a:lstStyle/>
          <a:p>
            <a:pPr algn="l"/>
            <a:r>
              <a:rPr sz="850" b="0" i="0">
                <a:solidFill>
                  <a:srgbClr val="A0A0A0"/>
                </a:solidFill>
              </a:rPr>
              <a:t>Hire a Dominican musician (guitar or merengue) to perform during beach lunch. Authentically local. Unexpected.</a:t>
            </a:r>
          </a:p>
        </p:txBody>
      </p:sp>
      <p:sp>
        <p:nvSpPr>
          <p:cNvPr id="33" name="TextBox 32"/>
          <p:cNvSpPr txBox="1"/>
          <p:nvPr/>
        </p:nvSpPr>
        <p:spPr>
          <a:xfrm>
            <a:off x="6309360" y="2185415"/>
            <a:ext cx="5349240" cy="237744"/>
          </a:xfrm>
          <a:prstGeom prst="rect">
            <a:avLst/>
          </a:prstGeom>
          <a:noFill/>
        </p:spPr>
        <p:txBody>
          <a:bodyPr wrap="square">
            <a:spAutoFit/>
          </a:bodyPr>
          <a:lstStyle/>
          <a:p>
            <a:pPr algn="l"/>
            <a:r>
              <a:rPr sz="1000" b="1" i="0">
                <a:solidFill>
                  <a:srgbClr val="FFFFFF"/>
                </a:solidFill>
              </a:rPr>
              <a:t>📸  'Best Shot of the Day' Photo Contest</a:t>
            </a:r>
          </a:p>
        </p:txBody>
      </p:sp>
      <p:sp>
        <p:nvSpPr>
          <p:cNvPr id="34" name="TextBox 33"/>
          <p:cNvSpPr txBox="1"/>
          <p:nvPr/>
        </p:nvSpPr>
        <p:spPr>
          <a:xfrm>
            <a:off x="6309360" y="2432303"/>
            <a:ext cx="5349240" cy="347472"/>
          </a:xfrm>
          <a:prstGeom prst="rect">
            <a:avLst/>
          </a:prstGeom>
          <a:noFill/>
        </p:spPr>
        <p:txBody>
          <a:bodyPr wrap="square">
            <a:spAutoFit/>
          </a:bodyPr>
          <a:lstStyle/>
          <a:p>
            <a:pPr algn="l"/>
            <a:r>
              <a:rPr sz="850" b="0" i="0">
                <a:solidFill>
                  <a:srgbClr val="A0A0A0"/>
                </a:solidFill>
              </a:rPr>
              <a:t>Guests submit their best island photo by 8PM. Content Creator judges. Winner gets a Makena prize pack.</a:t>
            </a:r>
          </a:p>
        </p:txBody>
      </p:sp>
      <p:sp>
        <p:nvSpPr>
          <p:cNvPr id="35" name="TextBox 34"/>
          <p:cNvSpPr txBox="1"/>
          <p:nvPr/>
        </p:nvSpPr>
        <p:spPr>
          <a:xfrm>
            <a:off x="6309360" y="2862072"/>
            <a:ext cx="5349240" cy="237744"/>
          </a:xfrm>
          <a:prstGeom prst="rect">
            <a:avLst/>
          </a:prstGeom>
          <a:noFill/>
        </p:spPr>
        <p:txBody>
          <a:bodyPr wrap="square">
            <a:spAutoFit/>
          </a:bodyPr>
          <a:lstStyle/>
          <a:p>
            <a:pPr algn="l"/>
            <a:r>
              <a:rPr sz="1000" b="1" i="0">
                <a:solidFill>
                  <a:srgbClr val="FFFFFF"/>
                </a:solidFill>
              </a:rPr>
              <a:t>🍹  Custom Island Cocktail</a:t>
            </a:r>
          </a:p>
        </p:txBody>
      </p:sp>
      <p:sp>
        <p:nvSpPr>
          <p:cNvPr id="36" name="TextBox 35"/>
          <p:cNvSpPr txBox="1"/>
          <p:nvPr/>
        </p:nvSpPr>
        <p:spPr>
          <a:xfrm>
            <a:off x="6309360" y="3108960"/>
            <a:ext cx="5349240" cy="347472"/>
          </a:xfrm>
          <a:prstGeom prst="rect">
            <a:avLst/>
          </a:prstGeom>
          <a:noFill/>
        </p:spPr>
        <p:txBody>
          <a:bodyPr wrap="square">
            <a:spAutoFit/>
          </a:bodyPr>
          <a:lstStyle/>
          <a:p>
            <a:pPr algn="l"/>
            <a:r>
              <a:rPr sz="850" b="0" i="0">
                <a:solidFill>
                  <a:srgbClr val="A0A0A0"/>
                </a:solidFill>
              </a:rPr>
              <a:t>Work with the beach bar to create a cocktail named after the group. 'The Makena Special' — on the menu for the day.</a:t>
            </a:r>
          </a:p>
        </p:txBody>
      </p:sp>
      <p:sp>
        <p:nvSpPr>
          <p:cNvPr id="37" name="TextBox 36"/>
          <p:cNvSpPr txBox="1"/>
          <p:nvPr/>
        </p:nvSpPr>
        <p:spPr>
          <a:xfrm>
            <a:off x="6309360" y="3538728"/>
            <a:ext cx="5349240" cy="237744"/>
          </a:xfrm>
          <a:prstGeom prst="rect">
            <a:avLst/>
          </a:prstGeom>
          <a:noFill/>
        </p:spPr>
        <p:txBody>
          <a:bodyPr wrap="square">
            <a:spAutoFit/>
          </a:bodyPr>
          <a:lstStyle/>
          <a:p>
            <a:pPr algn="l"/>
            <a:r>
              <a:rPr sz="1000" b="1" i="0">
                <a:solidFill>
                  <a:srgbClr val="FFFFFF"/>
                </a:solidFill>
              </a:rPr>
              <a:t>🏐  Beach Olympics</a:t>
            </a:r>
          </a:p>
        </p:txBody>
      </p:sp>
      <p:sp>
        <p:nvSpPr>
          <p:cNvPr id="38" name="TextBox 37"/>
          <p:cNvSpPr txBox="1"/>
          <p:nvPr/>
        </p:nvSpPr>
        <p:spPr>
          <a:xfrm>
            <a:off x="6309360" y="3785616"/>
            <a:ext cx="5349240" cy="347472"/>
          </a:xfrm>
          <a:prstGeom prst="rect">
            <a:avLst/>
          </a:prstGeom>
          <a:noFill/>
        </p:spPr>
        <p:txBody>
          <a:bodyPr wrap="square">
            <a:spAutoFit/>
          </a:bodyPr>
          <a:lstStyle/>
          <a:p>
            <a:pPr algn="l"/>
            <a:r>
              <a:rPr sz="850" b="0" i="0">
                <a:solidFill>
                  <a:srgbClr val="A0A0A0"/>
                </a:solidFill>
              </a:rPr>
              <a:t>Organize quick team games: volleyball, sandcastle contest, relay race. Teams named after Makena event nights.</a:t>
            </a:r>
          </a:p>
        </p:txBody>
      </p:sp>
      <p:sp>
        <p:nvSpPr>
          <p:cNvPr id="39" name="TextBox 38"/>
          <p:cNvSpPr txBox="1"/>
          <p:nvPr/>
        </p:nvSpPr>
        <p:spPr>
          <a:xfrm>
            <a:off x="6309360" y="4215384"/>
            <a:ext cx="5349240" cy="237744"/>
          </a:xfrm>
          <a:prstGeom prst="rect">
            <a:avLst/>
          </a:prstGeom>
          <a:noFill/>
        </p:spPr>
        <p:txBody>
          <a:bodyPr wrap="square">
            <a:spAutoFit/>
          </a:bodyPr>
          <a:lstStyle/>
          <a:p>
            <a:pPr algn="l"/>
            <a:r>
              <a:rPr sz="1000" b="1" i="0">
                <a:solidFill>
                  <a:srgbClr val="FFFFFF"/>
                </a:solidFill>
              </a:rPr>
              <a:t>🐠  Marine Life Guide</a:t>
            </a:r>
          </a:p>
        </p:txBody>
      </p:sp>
      <p:sp>
        <p:nvSpPr>
          <p:cNvPr id="40" name="TextBox 39"/>
          <p:cNvSpPr txBox="1"/>
          <p:nvPr/>
        </p:nvSpPr>
        <p:spPr>
          <a:xfrm>
            <a:off x="6309360" y="4462272"/>
            <a:ext cx="5349240" cy="347472"/>
          </a:xfrm>
          <a:prstGeom prst="rect">
            <a:avLst/>
          </a:prstGeom>
          <a:noFill/>
        </p:spPr>
        <p:txBody>
          <a:bodyPr wrap="square">
            <a:spAutoFit/>
          </a:bodyPr>
          <a:lstStyle/>
          <a:p>
            <a:pPr algn="l"/>
            <a:r>
              <a:rPr sz="850" b="0" i="0">
                <a:solidFill>
                  <a:srgbClr val="A0A0A0"/>
                </a:solidFill>
              </a:rPr>
              <a:t>Print or post a QR code linking to a fun 'what you might see snorkeling' card. Educational &amp; engaging.</a:t>
            </a:r>
          </a:p>
        </p:txBody>
      </p:sp>
      <p:sp>
        <p:nvSpPr>
          <p:cNvPr id="41" name="TextBox 40"/>
          <p:cNvSpPr txBox="1"/>
          <p:nvPr/>
        </p:nvSpPr>
        <p:spPr>
          <a:xfrm>
            <a:off x="6309360" y="4892040"/>
            <a:ext cx="5349240" cy="237744"/>
          </a:xfrm>
          <a:prstGeom prst="rect">
            <a:avLst/>
          </a:prstGeom>
          <a:noFill/>
        </p:spPr>
        <p:txBody>
          <a:bodyPr wrap="square">
            <a:spAutoFit/>
          </a:bodyPr>
          <a:lstStyle/>
          <a:p>
            <a:pPr algn="l"/>
            <a:r>
              <a:rPr sz="1000" b="1" i="0">
                <a:solidFill>
                  <a:srgbClr val="FFFFFF"/>
                </a:solidFill>
              </a:rPr>
              <a:t>🌺  Cultural Moment</a:t>
            </a:r>
          </a:p>
        </p:txBody>
      </p:sp>
      <p:sp>
        <p:nvSpPr>
          <p:cNvPr id="42" name="TextBox 41"/>
          <p:cNvSpPr txBox="1"/>
          <p:nvPr/>
        </p:nvSpPr>
        <p:spPr>
          <a:xfrm>
            <a:off x="6309360" y="5138928"/>
            <a:ext cx="5349240" cy="347472"/>
          </a:xfrm>
          <a:prstGeom prst="rect">
            <a:avLst/>
          </a:prstGeom>
          <a:noFill/>
        </p:spPr>
        <p:txBody>
          <a:bodyPr wrap="square">
            <a:spAutoFit/>
          </a:bodyPr>
          <a:lstStyle/>
          <a:p>
            <a:pPr algn="l"/>
            <a:r>
              <a:rPr sz="850" b="0" i="0">
                <a:solidFill>
                  <a:srgbClr val="A0A0A0"/>
                </a:solidFill>
              </a:rPr>
              <a:t>Brief the guide to share 3 surprising facts about the Dominican Republic during the boat ride. Guests love a story.</a:t>
            </a:r>
          </a:p>
        </p:txBody>
      </p:sp>
      <p:sp>
        <p:nvSpPr>
          <p:cNvPr id="43" name="TextBox 42"/>
          <p:cNvSpPr txBox="1"/>
          <p:nvPr/>
        </p:nvSpPr>
        <p:spPr>
          <a:xfrm>
            <a:off x="6309360" y="5568696"/>
            <a:ext cx="5349240" cy="237744"/>
          </a:xfrm>
          <a:prstGeom prst="rect">
            <a:avLst/>
          </a:prstGeom>
          <a:noFill/>
        </p:spPr>
        <p:txBody>
          <a:bodyPr wrap="square">
            <a:spAutoFit/>
          </a:bodyPr>
          <a:lstStyle/>
          <a:p>
            <a:pPr algn="l"/>
            <a:r>
              <a:rPr sz="1000" b="1" i="0">
                <a:solidFill>
                  <a:srgbClr val="FFFFFF"/>
                </a:solidFill>
              </a:rPr>
              <a:t>🎥  Drone Shot at Natural Pools</a:t>
            </a:r>
          </a:p>
        </p:txBody>
      </p:sp>
      <p:sp>
        <p:nvSpPr>
          <p:cNvPr id="44" name="TextBox 43"/>
          <p:cNvSpPr txBox="1"/>
          <p:nvPr/>
        </p:nvSpPr>
        <p:spPr>
          <a:xfrm>
            <a:off x="6309360" y="5815584"/>
            <a:ext cx="5349240" cy="347472"/>
          </a:xfrm>
          <a:prstGeom prst="rect">
            <a:avLst/>
          </a:prstGeom>
          <a:noFill/>
        </p:spPr>
        <p:txBody>
          <a:bodyPr wrap="square">
            <a:spAutoFit/>
          </a:bodyPr>
          <a:lstStyle/>
          <a:p>
            <a:pPr algn="l"/>
            <a:r>
              <a:rPr sz="850" b="0" i="0">
                <a:solidFill>
                  <a:srgbClr val="A0A0A0"/>
                </a:solidFill>
              </a:rPr>
              <a:t>If Activities Coordinator arranges drone access, the natural pools aerial shot will be THE content piece of the trip.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B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137160"/>
            <a:ext cx="960120" cy="256032"/>
          </a:xfrm>
          <a:prstGeom prst="rect">
            <a:avLst/>
          </a:prstGeom>
          <a:solidFill>
            <a:srgbClr val="0B2A1A"/>
          </a:solidFill>
          <a:ln w="12700">
            <a:solidFill>
              <a:srgbClr val="86EF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2286000" cy="237744"/>
          </a:xfrm>
          <a:prstGeom prst="rect">
            <a:avLst/>
          </a:prstGeom>
          <a:noFill/>
        </p:spPr>
        <p:txBody>
          <a:bodyPr wrap="square">
            <a:spAutoFit/>
          </a:bodyPr>
          <a:lstStyle/>
          <a:p>
            <a:pPr algn="l"/>
            <a:r>
              <a:rPr sz="800" b="1" i="0">
                <a:solidFill>
                  <a:srgbClr val="86EFA9"/>
                </a:solidFill>
              </a:rPr>
              <a:t>DAY 4</a:t>
            </a:r>
          </a:p>
        </p:txBody>
      </p:sp>
      <p:sp>
        <p:nvSpPr>
          <p:cNvPr id="5" name="TextBox 4"/>
          <p:cNvSpPr txBox="1"/>
          <p:nvPr/>
        </p:nvSpPr>
        <p:spPr>
          <a:xfrm>
            <a:off x="457200" y="475488"/>
            <a:ext cx="11430000" cy="502920"/>
          </a:xfrm>
          <a:prstGeom prst="rect">
            <a:avLst/>
          </a:prstGeom>
          <a:noFill/>
        </p:spPr>
        <p:txBody>
          <a:bodyPr wrap="square">
            <a:spAutoFit/>
          </a:bodyPr>
          <a:lstStyle/>
          <a:p>
            <a:pPr algn="l"/>
            <a:r>
              <a:rPr sz="2400" b="1" i="0">
                <a:solidFill>
                  <a:srgbClr val="FFFFFF"/>
                </a:solidFill>
              </a:rPr>
              <a:t>ADVENTURE DAY  +  ALL WHITE MAKENA NIGHT PARTY</a:t>
            </a:r>
          </a:p>
        </p:txBody>
      </p:sp>
      <p:sp>
        <p:nvSpPr>
          <p:cNvPr id="6" name="TextBox 5"/>
          <p:cNvSpPr txBox="1"/>
          <p:nvPr/>
        </p:nvSpPr>
        <p:spPr>
          <a:xfrm>
            <a:off x="457200" y="777240"/>
            <a:ext cx="11430000" cy="201168"/>
          </a:xfrm>
          <a:prstGeom prst="rect">
            <a:avLst/>
          </a:prstGeom>
          <a:noFill/>
        </p:spPr>
        <p:txBody>
          <a:bodyPr wrap="square">
            <a:spAutoFit/>
          </a:bodyPr>
          <a:lstStyle/>
          <a:p>
            <a:pPr algn="l"/>
            <a:r>
              <a:rPr sz="900" b="0" i="0">
                <a:solidFill>
                  <a:srgbClr val="86EFA9"/>
                </a:solidFill>
              </a:rPr>
              <a:t>Delegate: Activities Coordinator (AM) + Events Lead (PM/Night)  |  The biggest night of the trip.</a:t>
            </a:r>
          </a:p>
        </p:txBody>
      </p:sp>
      <p:sp>
        <p:nvSpPr>
          <p:cNvPr id="7" name="Rectangle 6"/>
          <p:cNvSpPr/>
          <p:nvPr/>
        </p:nvSpPr>
        <p:spPr>
          <a:xfrm>
            <a:off x="365760" y="1051560"/>
            <a:ext cx="5394960" cy="525780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170432"/>
            <a:ext cx="5029200" cy="292608"/>
          </a:xfrm>
          <a:prstGeom prst="rect">
            <a:avLst/>
          </a:prstGeom>
          <a:noFill/>
        </p:spPr>
        <p:txBody>
          <a:bodyPr wrap="square">
            <a:spAutoFit/>
          </a:bodyPr>
          <a:lstStyle/>
          <a:p>
            <a:pPr algn="l"/>
            <a:r>
              <a:rPr sz="1100" b="1" i="0">
                <a:solidFill>
                  <a:srgbClr val="86EFA9"/>
                </a:solidFill>
              </a:rPr>
              <a:t>📋  ACTION ITEMS</a:t>
            </a:r>
          </a:p>
        </p:txBody>
      </p:sp>
      <p:sp>
        <p:nvSpPr>
          <p:cNvPr id="9" name="Rectangle 8"/>
          <p:cNvSpPr/>
          <p:nvPr/>
        </p:nvSpPr>
        <p:spPr>
          <a:xfrm>
            <a:off x="502920" y="1581912"/>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4983480" cy="274320"/>
          </a:xfrm>
          <a:prstGeom prst="rect">
            <a:avLst/>
          </a:prstGeom>
          <a:noFill/>
        </p:spPr>
        <p:txBody>
          <a:bodyPr wrap="square">
            <a:spAutoFit/>
          </a:bodyPr>
          <a:lstStyle/>
          <a:p>
            <a:pPr algn="l"/>
            <a:r>
              <a:rPr sz="880" b="0" i="0">
                <a:solidFill>
                  <a:srgbClr val="FFFFFF"/>
                </a:solidFill>
              </a:rPr>
              <a:t>Book adventure activity (dune buggies preferred — most photogenic)</a:t>
            </a:r>
          </a:p>
        </p:txBody>
      </p:sp>
      <p:sp>
        <p:nvSpPr>
          <p:cNvPr id="11" name="Rectangle 10"/>
          <p:cNvSpPr/>
          <p:nvPr/>
        </p:nvSpPr>
        <p:spPr>
          <a:xfrm>
            <a:off x="502920" y="1883664"/>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810512"/>
            <a:ext cx="4983480" cy="274320"/>
          </a:xfrm>
          <a:prstGeom prst="rect">
            <a:avLst/>
          </a:prstGeom>
          <a:noFill/>
        </p:spPr>
        <p:txBody>
          <a:bodyPr wrap="square">
            <a:spAutoFit/>
          </a:bodyPr>
          <a:lstStyle/>
          <a:p>
            <a:pPr algn="l"/>
            <a:r>
              <a:rPr sz="880" b="0" i="0">
                <a:solidFill>
                  <a:srgbClr val="FFFFFF"/>
                </a:solidFill>
              </a:rPr>
              <a:t>Arrange transport to adventure site (7:30AM departure from hotel)</a:t>
            </a:r>
          </a:p>
        </p:txBody>
      </p:sp>
      <p:sp>
        <p:nvSpPr>
          <p:cNvPr id="13" name="Rectangle 12"/>
          <p:cNvSpPr/>
          <p:nvPr/>
        </p:nvSpPr>
        <p:spPr>
          <a:xfrm>
            <a:off x="502920" y="2185416"/>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12264"/>
            <a:ext cx="4983480" cy="274320"/>
          </a:xfrm>
          <a:prstGeom prst="rect">
            <a:avLst/>
          </a:prstGeom>
          <a:noFill/>
        </p:spPr>
        <p:txBody>
          <a:bodyPr wrap="square">
            <a:spAutoFit/>
          </a:bodyPr>
          <a:lstStyle/>
          <a:p>
            <a:pPr algn="l"/>
            <a:r>
              <a:rPr sz="880" b="0" i="0">
                <a:solidFill>
                  <a:srgbClr val="FFFFFF"/>
                </a:solidFill>
              </a:rPr>
              <a:t>Communicate adventure dress code: old clothes you don't mind getting dirty</a:t>
            </a:r>
          </a:p>
        </p:txBody>
      </p:sp>
      <p:sp>
        <p:nvSpPr>
          <p:cNvPr id="15" name="Rectangle 14"/>
          <p:cNvSpPr/>
          <p:nvPr/>
        </p:nvSpPr>
        <p:spPr>
          <a:xfrm>
            <a:off x="502920" y="2487168"/>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414016"/>
            <a:ext cx="4983480" cy="274320"/>
          </a:xfrm>
          <a:prstGeom prst="rect">
            <a:avLst/>
          </a:prstGeom>
          <a:noFill/>
        </p:spPr>
        <p:txBody>
          <a:bodyPr wrap="square">
            <a:spAutoFit/>
          </a:bodyPr>
          <a:lstStyle/>
          <a:p>
            <a:pPr algn="l"/>
            <a:r>
              <a:rPr sz="880" b="0" i="0">
                <a:solidFill>
                  <a:srgbClr val="FFFFFF"/>
                </a:solidFill>
              </a:rPr>
              <a:t>Confirm safety waivers distributed and signed the night before</a:t>
            </a:r>
          </a:p>
        </p:txBody>
      </p:sp>
      <p:sp>
        <p:nvSpPr>
          <p:cNvPr id="17" name="Rectangle 16"/>
          <p:cNvSpPr/>
          <p:nvPr/>
        </p:nvSpPr>
        <p:spPr>
          <a:xfrm>
            <a:off x="502920" y="278892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15768"/>
            <a:ext cx="4983480" cy="274320"/>
          </a:xfrm>
          <a:prstGeom prst="rect">
            <a:avLst/>
          </a:prstGeom>
          <a:noFill/>
        </p:spPr>
        <p:txBody>
          <a:bodyPr wrap="square">
            <a:spAutoFit/>
          </a:bodyPr>
          <a:lstStyle/>
          <a:p>
            <a:pPr algn="l"/>
            <a:r>
              <a:rPr sz="880" b="0" i="0">
                <a:solidFill>
                  <a:srgbClr val="FFFFFF"/>
                </a:solidFill>
              </a:rPr>
              <a:t>Arrange group matching Makena jerseys/shirts for adventure day (worn over swimwear)</a:t>
            </a:r>
          </a:p>
        </p:txBody>
      </p:sp>
      <p:sp>
        <p:nvSpPr>
          <p:cNvPr id="19" name="Rectangle 18"/>
          <p:cNvSpPr/>
          <p:nvPr/>
        </p:nvSpPr>
        <p:spPr>
          <a:xfrm>
            <a:off x="502920" y="3090672"/>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017520"/>
            <a:ext cx="4983480" cy="274320"/>
          </a:xfrm>
          <a:prstGeom prst="rect">
            <a:avLst/>
          </a:prstGeom>
          <a:noFill/>
        </p:spPr>
        <p:txBody>
          <a:bodyPr wrap="square">
            <a:spAutoFit/>
          </a:bodyPr>
          <a:lstStyle/>
          <a:p>
            <a:pPr algn="l"/>
            <a:r>
              <a:rPr sz="880" b="0" i="0">
                <a:solidFill>
                  <a:srgbClr val="FFFFFF"/>
                </a:solidFill>
              </a:rPr>
              <a:t>Book private dinner venue for 7PM — atmosphere, candles, curated menu</a:t>
            </a:r>
          </a:p>
        </p:txBody>
      </p:sp>
      <p:sp>
        <p:nvSpPr>
          <p:cNvPr id="21" name="Rectangle 20"/>
          <p:cNvSpPr/>
          <p:nvPr/>
        </p:nvSpPr>
        <p:spPr>
          <a:xfrm>
            <a:off x="502920" y="3392424"/>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19272"/>
            <a:ext cx="4983480" cy="274320"/>
          </a:xfrm>
          <a:prstGeom prst="rect">
            <a:avLst/>
          </a:prstGeom>
          <a:noFill/>
        </p:spPr>
        <p:txBody>
          <a:bodyPr wrap="square">
            <a:spAutoFit/>
          </a:bodyPr>
          <a:lstStyle/>
          <a:p>
            <a:pPr algn="l"/>
            <a:r>
              <a:rPr sz="880" b="0" i="0">
                <a:solidFill>
                  <a:srgbClr val="FFFFFF"/>
                </a:solidFill>
              </a:rPr>
              <a:t>Send ALL WHITE reminder to every guest on WhatsApp the morning of</a:t>
            </a:r>
          </a:p>
        </p:txBody>
      </p:sp>
      <p:sp>
        <p:nvSpPr>
          <p:cNvPr id="23" name="Rectangle 22"/>
          <p:cNvSpPr/>
          <p:nvPr/>
        </p:nvSpPr>
        <p:spPr>
          <a:xfrm>
            <a:off x="502920" y="3694176"/>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21024"/>
            <a:ext cx="4983480" cy="274320"/>
          </a:xfrm>
          <a:prstGeom prst="rect">
            <a:avLst/>
          </a:prstGeom>
          <a:noFill/>
        </p:spPr>
        <p:txBody>
          <a:bodyPr wrap="square">
            <a:spAutoFit/>
          </a:bodyPr>
          <a:lstStyle/>
          <a:p>
            <a:pPr algn="l"/>
            <a:r>
              <a:rPr sz="880" b="0" i="0">
                <a:solidFill>
                  <a:srgbClr val="FFFFFF"/>
                </a:solidFill>
              </a:rPr>
              <a:t>Brief Events Lead on party timeline: doors, DJ set, peak, close</a:t>
            </a:r>
          </a:p>
        </p:txBody>
      </p:sp>
      <p:sp>
        <p:nvSpPr>
          <p:cNvPr id="25" name="Rectangle 24"/>
          <p:cNvSpPr/>
          <p:nvPr/>
        </p:nvSpPr>
        <p:spPr>
          <a:xfrm>
            <a:off x="502920" y="3995928"/>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922776"/>
            <a:ext cx="4983480" cy="274320"/>
          </a:xfrm>
          <a:prstGeom prst="rect">
            <a:avLst/>
          </a:prstGeom>
          <a:noFill/>
        </p:spPr>
        <p:txBody>
          <a:bodyPr wrap="square">
            <a:spAutoFit/>
          </a:bodyPr>
          <a:lstStyle/>
          <a:p>
            <a:pPr algn="l"/>
            <a:r>
              <a:rPr sz="880" b="0" i="0">
                <a:solidFill>
                  <a:srgbClr val="FFFFFF"/>
                </a:solidFill>
              </a:rPr>
              <a:t>Arrange All White entrance setup: arch, step-and-repeat, velvet rope</a:t>
            </a:r>
          </a:p>
        </p:txBody>
      </p:sp>
      <p:sp>
        <p:nvSpPr>
          <p:cNvPr id="27" name="Rectangle 26"/>
          <p:cNvSpPr/>
          <p:nvPr/>
        </p:nvSpPr>
        <p:spPr>
          <a:xfrm>
            <a:off x="502920" y="429768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224528"/>
            <a:ext cx="4983480" cy="274320"/>
          </a:xfrm>
          <a:prstGeom prst="rect">
            <a:avLst/>
          </a:prstGeom>
          <a:noFill/>
        </p:spPr>
        <p:txBody>
          <a:bodyPr wrap="square">
            <a:spAutoFit/>
          </a:bodyPr>
          <a:lstStyle/>
          <a:p>
            <a:pPr algn="l"/>
            <a:r>
              <a:rPr sz="880" b="0" i="0">
                <a:solidFill>
                  <a:srgbClr val="FFFFFF"/>
                </a:solidFill>
              </a:rPr>
              <a:t>Confirm entry wristbands printed and distributed by Hotel Liaison at dinner</a:t>
            </a:r>
          </a:p>
        </p:txBody>
      </p:sp>
      <p:sp>
        <p:nvSpPr>
          <p:cNvPr id="29" name="Rectangle 28"/>
          <p:cNvSpPr/>
          <p:nvPr/>
        </p:nvSpPr>
        <p:spPr>
          <a:xfrm>
            <a:off x="502920" y="4599432"/>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526280"/>
            <a:ext cx="4983480" cy="274320"/>
          </a:xfrm>
          <a:prstGeom prst="rect">
            <a:avLst/>
          </a:prstGeom>
          <a:noFill/>
        </p:spPr>
        <p:txBody>
          <a:bodyPr wrap="square">
            <a:spAutoFit/>
          </a:bodyPr>
          <a:lstStyle/>
          <a:p>
            <a:pPr algn="l"/>
            <a:r>
              <a:rPr sz="880" b="0" i="0">
                <a:solidFill>
                  <a:srgbClr val="FFFFFF"/>
                </a:solidFill>
              </a:rPr>
              <a:t>Book professional photographer + second shooter for party</a:t>
            </a:r>
          </a:p>
        </p:txBody>
      </p:sp>
      <p:sp>
        <p:nvSpPr>
          <p:cNvPr id="31" name="Rectangle 30"/>
          <p:cNvSpPr/>
          <p:nvPr/>
        </p:nvSpPr>
        <p:spPr>
          <a:xfrm>
            <a:off x="502920" y="4901184"/>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4828032"/>
            <a:ext cx="4983480" cy="274320"/>
          </a:xfrm>
          <a:prstGeom prst="rect">
            <a:avLst/>
          </a:prstGeom>
          <a:noFill/>
        </p:spPr>
        <p:txBody>
          <a:bodyPr wrap="square">
            <a:spAutoFit/>
          </a:bodyPr>
          <a:lstStyle/>
          <a:p>
            <a:pPr algn="l"/>
            <a:r>
              <a:rPr sz="880" b="0" i="0">
                <a:solidFill>
                  <a:srgbClr val="FFFFFF"/>
                </a:solidFill>
              </a:rPr>
              <a:t>Arrange sparklers and light-up accessories for midnight moment</a:t>
            </a:r>
          </a:p>
        </p:txBody>
      </p:sp>
      <p:sp>
        <p:nvSpPr>
          <p:cNvPr id="33" name="Rectangle 32"/>
          <p:cNvSpPr/>
          <p:nvPr/>
        </p:nvSpPr>
        <p:spPr>
          <a:xfrm>
            <a:off x="6126480" y="1051560"/>
            <a:ext cx="5715000" cy="525780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1170432"/>
            <a:ext cx="5349240" cy="292608"/>
          </a:xfrm>
          <a:prstGeom prst="rect">
            <a:avLst/>
          </a:prstGeom>
          <a:noFill/>
        </p:spPr>
        <p:txBody>
          <a:bodyPr wrap="square">
            <a:spAutoFit/>
          </a:bodyPr>
          <a:lstStyle/>
          <a:p>
            <a:pPr algn="l"/>
            <a:r>
              <a:rPr sz="1100" b="1" i="0">
                <a:solidFill>
                  <a:srgbClr val="86EFA9"/>
                </a:solidFill>
              </a:rPr>
              <a:t>✨  CREATIVE IDEAS</a:t>
            </a:r>
          </a:p>
        </p:txBody>
      </p:sp>
      <p:sp>
        <p:nvSpPr>
          <p:cNvPr id="35" name="TextBox 34"/>
          <p:cNvSpPr txBox="1"/>
          <p:nvPr/>
        </p:nvSpPr>
        <p:spPr>
          <a:xfrm>
            <a:off x="6309360" y="1508760"/>
            <a:ext cx="5349240" cy="237744"/>
          </a:xfrm>
          <a:prstGeom prst="rect">
            <a:avLst/>
          </a:prstGeom>
          <a:noFill/>
        </p:spPr>
        <p:txBody>
          <a:bodyPr wrap="square">
            <a:spAutoFit/>
          </a:bodyPr>
          <a:lstStyle/>
          <a:p>
            <a:pPr algn="l"/>
            <a:r>
              <a:rPr sz="1000" b="1" i="0">
                <a:solidFill>
                  <a:srgbClr val="FFFFFF"/>
                </a:solidFill>
              </a:rPr>
              <a:t>🏆  Adventure Day Race Challenge</a:t>
            </a:r>
          </a:p>
        </p:txBody>
      </p:sp>
      <p:sp>
        <p:nvSpPr>
          <p:cNvPr id="36" name="TextBox 35"/>
          <p:cNvSpPr txBox="1"/>
          <p:nvPr/>
        </p:nvSpPr>
        <p:spPr>
          <a:xfrm>
            <a:off x="6309360" y="1755648"/>
            <a:ext cx="5349240" cy="347472"/>
          </a:xfrm>
          <a:prstGeom prst="rect">
            <a:avLst/>
          </a:prstGeom>
          <a:noFill/>
        </p:spPr>
        <p:txBody>
          <a:bodyPr wrap="square">
            <a:spAutoFit/>
          </a:bodyPr>
          <a:lstStyle/>
          <a:p>
            <a:pPr algn="l"/>
            <a:r>
              <a:rPr sz="850" b="0" i="0">
                <a:solidFill>
                  <a:srgbClr val="A0A0A0"/>
                </a:solidFill>
              </a:rPr>
              <a:t>Split into teams for the buggy race. Winning team gets bragging rights trophy (a mini golden buggy or printed certificate).</a:t>
            </a:r>
          </a:p>
        </p:txBody>
      </p:sp>
      <p:sp>
        <p:nvSpPr>
          <p:cNvPr id="37" name="TextBox 36"/>
          <p:cNvSpPr txBox="1"/>
          <p:nvPr/>
        </p:nvSpPr>
        <p:spPr>
          <a:xfrm>
            <a:off x="6309360" y="2185415"/>
            <a:ext cx="5349240" cy="237744"/>
          </a:xfrm>
          <a:prstGeom prst="rect">
            <a:avLst/>
          </a:prstGeom>
          <a:noFill/>
        </p:spPr>
        <p:txBody>
          <a:bodyPr wrap="square">
            <a:spAutoFit/>
          </a:bodyPr>
          <a:lstStyle/>
          <a:p>
            <a:pPr algn="l"/>
            <a:r>
              <a:rPr sz="1000" b="1" i="0">
                <a:solidFill>
                  <a:srgbClr val="FFFFFF"/>
                </a:solidFill>
              </a:rPr>
              <a:t>🍽️  Private Dinner: Makena Menu Card</a:t>
            </a:r>
          </a:p>
        </p:txBody>
      </p:sp>
      <p:sp>
        <p:nvSpPr>
          <p:cNvPr id="38" name="TextBox 37"/>
          <p:cNvSpPr txBox="1"/>
          <p:nvPr/>
        </p:nvSpPr>
        <p:spPr>
          <a:xfrm>
            <a:off x="6309360" y="2432303"/>
            <a:ext cx="5349240" cy="347472"/>
          </a:xfrm>
          <a:prstGeom prst="rect">
            <a:avLst/>
          </a:prstGeom>
          <a:noFill/>
        </p:spPr>
        <p:txBody>
          <a:bodyPr wrap="square">
            <a:spAutoFit/>
          </a:bodyPr>
          <a:lstStyle/>
          <a:p>
            <a:pPr algn="l"/>
            <a:r>
              <a:rPr sz="850" b="0" i="0">
                <a:solidFill>
                  <a:srgbClr val="A0A0A0"/>
                </a:solidFill>
              </a:rPr>
              <a:t>Printed, branded menu card at each place setting. Multilingual. Live acoustic performer during dinner.</a:t>
            </a:r>
          </a:p>
        </p:txBody>
      </p:sp>
      <p:sp>
        <p:nvSpPr>
          <p:cNvPr id="39" name="TextBox 38"/>
          <p:cNvSpPr txBox="1"/>
          <p:nvPr/>
        </p:nvSpPr>
        <p:spPr>
          <a:xfrm>
            <a:off x="6309360" y="2862072"/>
            <a:ext cx="5349240" cy="237744"/>
          </a:xfrm>
          <a:prstGeom prst="rect">
            <a:avLst/>
          </a:prstGeom>
          <a:noFill/>
        </p:spPr>
        <p:txBody>
          <a:bodyPr wrap="square">
            <a:spAutoFit/>
          </a:bodyPr>
          <a:lstStyle/>
          <a:p>
            <a:pPr algn="l"/>
            <a:r>
              <a:rPr sz="1000" b="1" i="0">
                <a:solidFill>
                  <a:srgbClr val="FFFFFF"/>
                </a:solidFill>
              </a:rPr>
              <a:t>🏛️  All White Entrance Experience</a:t>
            </a:r>
          </a:p>
        </p:txBody>
      </p:sp>
      <p:sp>
        <p:nvSpPr>
          <p:cNvPr id="40" name="TextBox 39"/>
          <p:cNvSpPr txBox="1"/>
          <p:nvPr/>
        </p:nvSpPr>
        <p:spPr>
          <a:xfrm>
            <a:off x="6309360" y="3108960"/>
            <a:ext cx="5349240" cy="347472"/>
          </a:xfrm>
          <a:prstGeom prst="rect">
            <a:avLst/>
          </a:prstGeom>
          <a:noFill/>
        </p:spPr>
        <p:txBody>
          <a:bodyPr wrap="square">
            <a:spAutoFit/>
          </a:bodyPr>
          <a:lstStyle/>
          <a:p>
            <a:pPr algn="l"/>
            <a:r>
              <a:rPr sz="850" b="0" i="0">
                <a:solidFill>
                  <a:srgbClr val="A0A0A0"/>
                </a:solidFill>
              </a:rPr>
              <a:t>Red carpet energy: step-and-repeat with Makena logo, velvet rope, bouncer, photographer at the door. Feel like a celebrity.</a:t>
            </a:r>
          </a:p>
        </p:txBody>
      </p:sp>
      <p:sp>
        <p:nvSpPr>
          <p:cNvPr id="41" name="TextBox 40"/>
          <p:cNvSpPr txBox="1"/>
          <p:nvPr/>
        </p:nvSpPr>
        <p:spPr>
          <a:xfrm>
            <a:off x="6309360" y="3538728"/>
            <a:ext cx="5349240" cy="237744"/>
          </a:xfrm>
          <a:prstGeom prst="rect">
            <a:avLst/>
          </a:prstGeom>
          <a:noFill/>
        </p:spPr>
        <p:txBody>
          <a:bodyPr wrap="square">
            <a:spAutoFit/>
          </a:bodyPr>
          <a:lstStyle/>
          <a:p>
            <a:pPr algn="l"/>
            <a:r>
              <a:rPr sz="1000" b="1" i="0">
                <a:solidFill>
                  <a:srgbClr val="FFFFFF"/>
                </a:solidFill>
              </a:rPr>
              <a:t>💡  UV Light Activation</a:t>
            </a:r>
          </a:p>
        </p:txBody>
      </p:sp>
      <p:sp>
        <p:nvSpPr>
          <p:cNvPr id="42" name="TextBox 41"/>
          <p:cNvSpPr txBox="1"/>
          <p:nvPr/>
        </p:nvSpPr>
        <p:spPr>
          <a:xfrm>
            <a:off x="6309360" y="3785616"/>
            <a:ext cx="5349240" cy="347472"/>
          </a:xfrm>
          <a:prstGeom prst="rect">
            <a:avLst/>
          </a:prstGeom>
          <a:noFill/>
        </p:spPr>
        <p:txBody>
          <a:bodyPr wrap="square">
            <a:spAutoFit/>
          </a:bodyPr>
          <a:lstStyle/>
          <a:p>
            <a:pPr algn="l"/>
            <a:r>
              <a:rPr sz="850" b="0" i="0">
                <a:solidFill>
                  <a:srgbClr val="A0A0A0"/>
                </a:solidFill>
              </a:rPr>
              <a:t>Install UV lights at the party — all-white outfits GLOW. Hand out UV body paint pens at the entrance.</a:t>
            </a:r>
          </a:p>
        </p:txBody>
      </p:sp>
      <p:sp>
        <p:nvSpPr>
          <p:cNvPr id="43" name="TextBox 42"/>
          <p:cNvSpPr txBox="1"/>
          <p:nvPr/>
        </p:nvSpPr>
        <p:spPr>
          <a:xfrm>
            <a:off x="6309360" y="4215384"/>
            <a:ext cx="5349240" cy="237744"/>
          </a:xfrm>
          <a:prstGeom prst="rect">
            <a:avLst/>
          </a:prstGeom>
          <a:noFill/>
        </p:spPr>
        <p:txBody>
          <a:bodyPr wrap="square">
            <a:spAutoFit/>
          </a:bodyPr>
          <a:lstStyle/>
          <a:p>
            <a:pPr algn="l"/>
            <a:r>
              <a:rPr sz="1000" b="1" i="0">
                <a:solidFill>
                  <a:srgbClr val="FFFFFF"/>
                </a:solidFill>
              </a:rPr>
              <a:t>🥂  Makena Awards Ceremony</a:t>
            </a:r>
          </a:p>
        </p:txBody>
      </p:sp>
      <p:sp>
        <p:nvSpPr>
          <p:cNvPr id="44" name="TextBox 43"/>
          <p:cNvSpPr txBox="1"/>
          <p:nvPr/>
        </p:nvSpPr>
        <p:spPr>
          <a:xfrm>
            <a:off x="6309360" y="4462272"/>
            <a:ext cx="5349240" cy="347472"/>
          </a:xfrm>
          <a:prstGeom prst="rect">
            <a:avLst/>
          </a:prstGeom>
          <a:noFill/>
        </p:spPr>
        <p:txBody>
          <a:bodyPr wrap="square">
            <a:spAutoFit/>
          </a:bodyPr>
          <a:lstStyle/>
          <a:p>
            <a:pPr algn="l"/>
            <a:r>
              <a:rPr sz="850" b="0" i="0">
                <a:solidFill>
                  <a:srgbClr val="A0A0A0"/>
                </a:solidFill>
              </a:rPr>
              <a:t>'Best Dressed All White,' 'Most Vibes,' 'MVP of the Trip' — Baldwin announces mid-party. Custom mini trophies.</a:t>
            </a:r>
          </a:p>
        </p:txBody>
      </p:sp>
      <p:sp>
        <p:nvSpPr>
          <p:cNvPr id="45" name="TextBox 44"/>
          <p:cNvSpPr txBox="1"/>
          <p:nvPr/>
        </p:nvSpPr>
        <p:spPr>
          <a:xfrm>
            <a:off x="6309360" y="4892040"/>
            <a:ext cx="5349240" cy="237744"/>
          </a:xfrm>
          <a:prstGeom prst="rect">
            <a:avLst/>
          </a:prstGeom>
          <a:noFill/>
        </p:spPr>
        <p:txBody>
          <a:bodyPr wrap="square">
            <a:spAutoFit/>
          </a:bodyPr>
          <a:lstStyle/>
          <a:p>
            <a:pPr algn="l"/>
            <a:r>
              <a:rPr sz="1000" b="1" i="0">
                <a:solidFill>
                  <a:srgbClr val="FFFFFF"/>
                </a:solidFill>
              </a:rPr>
              <a:t>🎆  Sparkler Grand Finale</a:t>
            </a:r>
          </a:p>
        </p:txBody>
      </p:sp>
      <p:sp>
        <p:nvSpPr>
          <p:cNvPr id="46" name="TextBox 45"/>
          <p:cNvSpPr txBox="1"/>
          <p:nvPr/>
        </p:nvSpPr>
        <p:spPr>
          <a:xfrm>
            <a:off x="6309360" y="5138928"/>
            <a:ext cx="5349240" cy="347472"/>
          </a:xfrm>
          <a:prstGeom prst="rect">
            <a:avLst/>
          </a:prstGeom>
          <a:noFill/>
        </p:spPr>
        <p:txBody>
          <a:bodyPr wrap="square">
            <a:spAutoFit/>
          </a:bodyPr>
          <a:lstStyle/>
          <a:p>
            <a:pPr algn="l"/>
            <a:r>
              <a:rPr sz="850" b="0" i="0">
                <a:solidFill>
                  <a:srgbClr val="A0A0A0"/>
                </a:solidFill>
              </a:rPr>
              <a:t>At 1AM: everyone gets a sparkler. DJ drops the hardest song of the night. Photographer captures the wall of light.</a:t>
            </a:r>
          </a:p>
        </p:txBody>
      </p:sp>
      <p:sp>
        <p:nvSpPr>
          <p:cNvPr id="47" name="TextBox 46"/>
          <p:cNvSpPr txBox="1"/>
          <p:nvPr/>
        </p:nvSpPr>
        <p:spPr>
          <a:xfrm>
            <a:off x="6309360" y="5568696"/>
            <a:ext cx="5349240" cy="237744"/>
          </a:xfrm>
          <a:prstGeom prst="rect">
            <a:avLst/>
          </a:prstGeom>
          <a:noFill/>
        </p:spPr>
        <p:txBody>
          <a:bodyPr wrap="square">
            <a:spAutoFit/>
          </a:bodyPr>
          <a:lstStyle/>
          <a:p>
            <a:pPr algn="l"/>
            <a:r>
              <a:rPr sz="1000" b="1" i="0">
                <a:solidFill>
                  <a:srgbClr val="FFFFFF"/>
                </a:solidFill>
              </a:rPr>
              <a:t>🛍️  White Outfit Shop Referral</a:t>
            </a:r>
          </a:p>
        </p:txBody>
      </p:sp>
      <p:sp>
        <p:nvSpPr>
          <p:cNvPr id="48" name="TextBox 47"/>
          <p:cNvSpPr txBox="1"/>
          <p:nvPr/>
        </p:nvSpPr>
        <p:spPr>
          <a:xfrm>
            <a:off x="6309360" y="5815584"/>
            <a:ext cx="5349240" cy="347472"/>
          </a:xfrm>
          <a:prstGeom prst="rect">
            <a:avLst/>
          </a:prstGeom>
          <a:noFill/>
        </p:spPr>
        <p:txBody>
          <a:bodyPr wrap="square">
            <a:spAutoFit/>
          </a:bodyPr>
          <a:lstStyle/>
          <a:p>
            <a:pPr algn="l"/>
            <a:r>
              <a:rPr sz="850" b="0" i="0">
                <a:solidFill>
                  <a:srgbClr val="A0A0A0"/>
                </a:solidFill>
              </a:rPr>
              <a:t>In the WhatsApp group 2 days before: a curated list of nearby shops for guests who forgot their white outfit.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B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137160"/>
            <a:ext cx="960120" cy="256032"/>
          </a:xfrm>
          <a:prstGeom prst="rect">
            <a:avLst/>
          </a:prstGeom>
          <a:solidFill>
            <a:srgbClr val="0B2A1A"/>
          </a:solidFill>
          <a:ln w="12700">
            <a:solidFill>
              <a:srgbClr val="86EF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2286000" cy="237744"/>
          </a:xfrm>
          <a:prstGeom prst="rect">
            <a:avLst/>
          </a:prstGeom>
          <a:noFill/>
        </p:spPr>
        <p:txBody>
          <a:bodyPr wrap="square">
            <a:spAutoFit/>
          </a:bodyPr>
          <a:lstStyle/>
          <a:p>
            <a:pPr algn="l"/>
            <a:r>
              <a:rPr sz="800" b="1" i="0">
                <a:solidFill>
                  <a:srgbClr val="86EFA9"/>
                </a:solidFill>
              </a:rPr>
              <a:t>DAY 5</a:t>
            </a:r>
          </a:p>
        </p:txBody>
      </p:sp>
      <p:sp>
        <p:nvSpPr>
          <p:cNvPr id="5" name="TextBox 4"/>
          <p:cNvSpPr txBox="1"/>
          <p:nvPr/>
        </p:nvSpPr>
        <p:spPr>
          <a:xfrm>
            <a:off x="457200" y="475488"/>
            <a:ext cx="10972800" cy="502920"/>
          </a:xfrm>
          <a:prstGeom prst="rect">
            <a:avLst/>
          </a:prstGeom>
          <a:noFill/>
        </p:spPr>
        <p:txBody>
          <a:bodyPr wrap="square">
            <a:spAutoFit/>
          </a:bodyPr>
          <a:lstStyle/>
          <a:p>
            <a:pPr algn="l"/>
            <a:r>
              <a:rPr sz="2600" b="1" i="0">
                <a:solidFill>
                  <a:srgbClr val="FFFFFF"/>
                </a:solidFill>
              </a:rPr>
              <a:t>FAREWELL BREAKFAST &amp; DEPARTURE</a:t>
            </a:r>
          </a:p>
        </p:txBody>
      </p:sp>
      <p:sp>
        <p:nvSpPr>
          <p:cNvPr id="6" name="TextBox 5"/>
          <p:cNvSpPr txBox="1"/>
          <p:nvPr/>
        </p:nvSpPr>
        <p:spPr>
          <a:xfrm>
            <a:off x="457200" y="777240"/>
            <a:ext cx="11430000" cy="201168"/>
          </a:xfrm>
          <a:prstGeom prst="rect">
            <a:avLst/>
          </a:prstGeom>
          <a:noFill/>
        </p:spPr>
        <p:txBody>
          <a:bodyPr wrap="square">
            <a:spAutoFit/>
          </a:bodyPr>
          <a:lstStyle/>
          <a:p>
            <a:pPr algn="l"/>
            <a:r>
              <a:rPr sz="900" b="0" i="0">
                <a:solidFill>
                  <a:srgbClr val="86EFA9"/>
                </a:solidFill>
              </a:rPr>
              <a:t>Delegate: Guest Services Lead + Airport Lead  |  Leave them wanting to book the next trip before they even land home.</a:t>
            </a:r>
          </a:p>
        </p:txBody>
      </p:sp>
      <p:sp>
        <p:nvSpPr>
          <p:cNvPr id="7" name="Rectangle 6"/>
          <p:cNvSpPr/>
          <p:nvPr/>
        </p:nvSpPr>
        <p:spPr>
          <a:xfrm>
            <a:off x="365760" y="1051560"/>
            <a:ext cx="5394960" cy="525780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170432"/>
            <a:ext cx="5029200" cy="292608"/>
          </a:xfrm>
          <a:prstGeom prst="rect">
            <a:avLst/>
          </a:prstGeom>
          <a:noFill/>
        </p:spPr>
        <p:txBody>
          <a:bodyPr wrap="square">
            <a:spAutoFit/>
          </a:bodyPr>
          <a:lstStyle/>
          <a:p>
            <a:pPr algn="l"/>
            <a:r>
              <a:rPr sz="1100" b="1" i="0">
                <a:solidFill>
                  <a:srgbClr val="86EFA9"/>
                </a:solidFill>
              </a:rPr>
              <a:t>📋  ACTION ITEMS</a:t>
            </a:r>
          </a:p>
        </p:txBody>
      </p:sp>
      <p:sp>
        <p:nvSpPr>
          <p:cNvPr id="9" name="Rectangle 8"/>
          <p:cNvSpPr/>
          <p:nvPr/>
        </p:nvSpPr>
        <p:spPr>
          <a:xfrm>
            <a:off x="502920" y="1581912"/>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4983480" cy="274320"/>
          </a:xfrm>
          <a:prstGeom prst="rect">
            <a:avLst/>
          </a:prstGeom>
          <a:noFill/>
        </p:spPr>
        <p:txBody>
          <a:bodyPr wrap="square">
            <a:spAutoFit/>
          </a:bodyPr>
          <a:lstStyle/>
          <a:p>
            <a:pPr algn="l"/>
            <a:r>
              <a:rPr sz="880" b="0" i="0">
                <a:solidFill>
                  <a:srgbClr val="FFFFFF"/>
                </a:solidFill>
              </a:rPr>
              <a:t>Communicate checkout times to all guests the night before (via WhatsApp)</a:t>
            </a:r>
          </a:p>
        </p:txBody>
      </p:sp>
      <p:sp>
        <p:nvSpPr>
          <p:cNvPr id="11" name="Rectangle 10"/>
          <p:cNvSpPr/>
          <p:nvPr/>
        </p:nvSpPr>
        <p:spPr>
          <a:xfrm>
            <a:off x="502920" y="1883664"/>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810512"/>
            <a:ext cx="4983480" cy="274320"/>
          </a:xfrm>
          <a:prstGeom prst="rect">
            <a:avLst/>
          </a:prstGeom>
          <a:noFill/>
        </p:spPr>
        <p:txBody>
          <a:bodyPr wrap="square">
            <a:spAutoFit/>
          </a:bodyPr>
          <a:lstStyle/>
          <a:p>
            <a:pPr algn="l"/>
            <a:r>
              <a:rPr sz="880" b="0" i="0">
                <a:solidFill>
                  <a:srgbClr val="FFFFFF"/>
                </a:solidFill>
              </a:rPr>
              <a:t>Arrange staggered departure transfers to PUJ airport — no guest left scrambling</a:t>
            </a:r>
          </a:p>
        </p:txBody>
      </p:sp>
      <p:sp>
        <p:nvSpPr>
          <p:cNvPr id="13" name="Rectangle 12"/>
          <p:cNvSpPr/>
          <p:nvPr/>
        </p:nvSpPr>
        <p:spPr>
          <a:xfrm>
            <a:off x="502920" y="2185416"/>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12264"/>
            <a:ext cx="4983480" cy="274320"/>
          </a:xfrm>
          <a:prstGeom prst="rect">
            <a:avLst/>
          </a:prstGeom>
          <a:noFill/>
        </p:spPr>
        <p:txBody>
          <a:bodyPr wrap="square">
            <a:spAutoFit/>
          </a:bodyPr>
          <a:lstStyle/>
          <a:p>
            <a:pPr algn="l"/>
            <a:r>
              <a:rPr sz="880" b="0" i="0">
                <a:solidFill>
                  <a:srgbClr val="FFFFFF"/>
                </a:solidFill>
              </a:rPr>
              <a:t>Reserve a private group breakfast area at the resort (7AM – 10AM)</a:t>
            </a:r>
          </a:p>
        </p:txBody>
      </p:sp>
      <p:sp>
        <p:nvSpPr>
          <p:cNvPr id="15" name="Rectangle 14"/>
          <p:cNvSpPr/>
          <p:nvPr/>
        </p:nvSpPr>
        <p:spPr>
          <a:xfrm>
            <a:off x="502920" y="2487168"/>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414016"/>
            <a:ext cx="4983480" cy="274320"/>
          </a:xfrm>
          <a:prstGeom prst="rect">
            <a:avLst/>
          </a:prstGeom>
          <a:noFill/>
        </p:spPr>
        <p:txBody>
          <a:bodyPr wrap="square">
            <a:spAutoFit/>
          </a:bodyPr>
          <a:lstStyle/>
          <a:p>
            <a:pPr algn="l"/>
            <a:r>
              <a:rPr sz="880" b="0" i="0">
                <a:solidFill>
                  <a:srgbClr val="FFFFFF"/>
                </a:solidFill>
              </a:rPr>
              <a:t>Arrange Content Creator to compile trip highlight reel overnight (from Day 1–4 footage)</a:t>
            </a:r>
          </a:p>
        </p:txBody>
      </p:sp>
      <p:sp>
        <p:nvSpPr>
          <p:cNvPr id="17" name="Rectangle 16"/>
          <p:cNvSpPr/>
          <p:nvPr/>
        </p:nvSpPr>
        <p:spPr>
          <a:xfrm>
            <a:off x="502920" y="278892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15768"/>
            <a:ext cx="4983480" cy="274320"/>
          </a:xfrm>
          <a:prstGeom prst="rect">
            <a:avLst/>
          </a:prstGeom>
          <a:noFill/>
        </p:spPr>
        <p:txBody>
          <a:bodyPr wrap="square">
            <a:spAutoFit/>
          </a:bodyPr>
          <a:lstStyle/>
          <a:p>
            <a:pPr algn="l"/>
            <a:r>
              <a:rPr sz="880" b="0" i="0">
                <a:solidFill>
                  <a:srgbClr val="FFFFFF"/>
                </a:solidFill>
              </a:rPr>
              <a:t>Set up a screen or TV at breakfast to play the highlight reel on loop</a:t>
            </a:r>
          </a:p>
        </p:txBody>
      </p:sp>
      <p:sp>
        <p:nvSpPr>
          <p:cNvPr id="19" name="Rectangle 18"/>
          <p:cNvSpPr/>
          <p:nvPr/>
        </p:nvSpPr>
        <p:spPr>
          <a:xfrm>
            <a:off x="502920" y="3090672"/>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017520"/>
            <a:ext cx="4983480" cy="274320"/>
          </a:xfrm>
          <a:prstGeom prst="rect">
            <a:avLst/>
          </a:prstGeom>
          <a:noFill/>
        </p:spPr>
        <p:txBody>
          <a:bodyPr wrap="square">
            <a:spAutoFit/>
          </a:bodyPr>
          <a:lstStyle/>
          <a:p>
            <a:pPr algn="l"/>
            <a:r>
              <a:rPr sz="880" b="0" i="0">
                <a:solidFill>
                  <a:srgbClr val="FFFFFF"/>
                </a:solidFill>
              </a:rPr>
              <a:t>Prepare farewell gift for each guest (in room or handed at breakfast)</a:t>
            </a:r>
          </a:p>
        </p:txBody>
      </p:sp>
      <p:sp>
        <p:nvSpPr>
          <p:cNvPr id="21" name="Rectangle 20"/>
          <p:cNvSpPr/>
          <p:nvPr/>
        </p:nvSpPr>
        <p:spPr>
          <a:xfrm>
            <a:off x="502920" y="3392424"/>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19272"/>
            <a:ext cx="4983480" cy="274320"/>
          </a:xfrm>
          <a:prstGeom prst="rect">
            <a:avLst/>
          </a:prstGeom>
          <a:noFill/>
        </p:spPr>
        <p:txBody>
          <a:bodyPr wrap="square">
            <a:spAutoFit/>
          </a:bodyPr>
          <a:lstStyle/>
          <a:p>
            <a:pPr algn="l"/>
            <a:r>
              <a:rPr sz="880" b="0" i="0">
                <a:solidFill>
                  <a:srgbClr val="FFFFFF"/>
                </a:solidFill>
              </a:rPr>
              <a:t>Collect and review guest feedback forms — digital link shared in WhatsApp</a:t>
            </a:r>
          </a:p>
        </p:txBody>
      </p:sp>
      <p:sp>
        <p:nvSpPr>
          <p:cNvPr id="23" name="Rectangle 22"/>
          <p:cNvSpPr/>
          <p:nvPr/>
        </p:nvSpPr>
        <p:spPr>
          <a:xfrm>
            <a:off x="502920" y="3694176"/>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21024"/>
            <a:ext cx="4983480" cy="274320"/>
          </a:xfrm>
          <a:prstGeom prst="rect">
            <a:avLst/>
          </a:prstGeom>
          <a:noFill/>
        </p:spPr>
        <p:txBody>
          <a:bodyPr wrap="square">
            <a:spAutoFit/>
          </a:bodyPr>
          <a:lstStyle/>
          <a:p>
            <a:pPr algn="l"/>
            <a:r>
              <a:rPr sz="880" b="0" i="0">
                <a:solidFill>
                  <a:srgbClr val="FFFFFF"/>
                </a:solidFill>
              </a:rPr>
              <a:t>Final group photo in Makena gear before first departure</a:t>
            </a:r>
          </a:p>
        </p:txBody>
      </p:sp>
      <p:sp>
        <p:nvSpPr>
          <p:cNvPr id="25" name="Rectangle 24"/>
          <p:cNvSpPr/>
          <p:nvPr/>
        </p:nvSpPr>
        <p:spPr>
          <a:xfrm>
            <a:off x="502920" y="3995928"/>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922776"/>
            <a:ext cx="4983480" cy="274320"/>
          </a:xfrm>
          <a:prstGeom prst="rect">
            <a:avLst/>
          </a:prstGeom>
          <a:noFill/>
        </p:spPr>
        <p:txBody>
          <a:bodyPr wrap="square">
            <a:spAutoFit/>
          </a:bodyPr>
          <a:lstStyle/>
          <a:p>
            <a:pPr algn="l"/>
            <a:r>
              <a:rPr sz="880" b="0" i="0">
                <a:solidFill>
                  <a:srgbClr val="FFFFFF"/>
                </a:solidFill>
              </a:rPr>
              <a:t>Settle all outstanding hotel charges before guests check out</a:t>
            </a:r>
          </a:p>
        </p:txBody>
      </p:sp>
      <p:sp>
        <p:nvSpPr>
          <p:cNvPr id="27" name="Rectangle 26"/>
          <p:cNvSpPr/>
          <p:nvPr/>
        </p:nvSpPr>
        <p:spPr>
          <a:xfrm>
            <a:off x="502920" y="429768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224528"/>
            <a:ext cx="4983480" cy="274320"/>
          </a:xfrm>
          <a:prstGeom prst="rect">
            <a:avLst/>
          </a:prstGeom>
          <a:noFill/>
        </p:spPr>
        <p:txBody>
          <a:bodyPr wrap="square">
            <a:spAutoFit/>
          </a:bodyPr>
          <a:lstStyle/>
          <a:p>
            <a:pPr algn="l"/>
            <a:r>
              <a:rPr sz="880" b="0" i="0">
                <a:solidFill>
                  <a:srgbClr val="FFFFFF"/>
                </a:solidFill>
              </a:rPr>
              <a:t>Personally thank each delegate — recognition matters</a:t>
            </a:r>
          </a:p>
        </p:txBody>
      </p:sp>
      <p:sp>
        <p:nvSpPr>
          <p:cNvPr id="29" name="Rectangle 28"/>
          <p:cNvSpPr/>
          <p:nvPr/>
        </p:nvSpPr>
        <p:spPr>
          <a:xfrm>
            <a:off x="502920" y="4599432"/>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526280"/>
            <a:ext cx="4983480" cy="274320"/>
          </a:xfrm>
          <a:prstGeom prst="rect">
            <a:avLst/>
          </a:prstGeom>
          <a:noFill/>
        </p:spPr>
        <p:txBody>
          <a:bodyPr wrap="square">
            <a:spAutoFit/>
          </a:bodyPr>
          <a:lstStyle/>
          <a:p>
            <a:pPr algn="l"/>
            <a:r>
              <a:rPr sz="880" b="0" i="0">
                <a:solidFill>
                  <a:srgbClr val="FFFFFF"/>
                </a:solidFill>
              </a:rPr>
              <a:t>Share post-trip social post from Makena official account same day</a:t>
            </a:r>
          </a:p>
        </p:txBody>
      </p:sp>
      <p:sp>
        <p:nvSpPr>
          <p:cNvPr id="31" name="Rectangle 30"/>
          <p:cNvSpPr/>
          <p:nvPr/>
        </p:nvSpPr>
        <p:spPr>
          <a:xfrm>
            <a:off x="502920" y="4901184"/>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4828032"/>
            <a:ext cx="4983480" cy="274320"/>
          </a:xfrm>
          <a:prstGeom prst="rect">
            <a:avLst/>
          </a:prstGeom>
          <a:noFill/>
        </p:spPr>
        <p:txBody>
          <a:bodyPr wrap="square">
            <a:spAutoFit/>
          </a:bodyPr>
          <a:lstStyle/>
          <a:p>
            <a:pPr algn="l"/>
            <a:r>
              <a:rPr sz="880" b="0" i="0">
                <a:solidFill>
                  <a:srgbClr val="FFFFFF"/>
                </a:solidFill>
              </a:rPr>
              <a:t>Send 'Thank You + Next Trip Teaser' email to all guests within 48 hours</a:t>
            </a:r>
          </a:p>
        </p:txBody>
      </p:sp>
      <p:sp>
        <p:nvSpPr>
          <p:cNvPr id="33" name="Rectangle 32"/>
          <p:cNvSpPr/>
          <p:nvPr/>
        </p:nvSpPr>
        <p:spPr>
          <a:xfrm>
            <a:off x="6126480" y="1051560"/>
            <a:ext cx="5715000" cy="525780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1170432"/>
            <a:ext cx="5349240" cy="292608"/>
          </a:xfrm>
          <a:prstGeom prst="rect">
            <a:avLst/>
          </a:prstGeom>
          <a:noFill/>
        </p:spPr>
        <p:txBody>
          <a:bodyPr wrap="square">
            <a:spAutoFit/>
          </a:bodyPr>
          <a:lstStyle/>
          <a:p>
            <a:pPr algn="l"/>
            <a:r>
              <a:rPr sz="1100" b="1" i="0">
                <a:solidFill>
                  <a:srgbClr val="86EFA9"/>
                </a:solidFill>
              </a:rPr>
              <a:t>✨  CREATIVE IDEAS</a:t>
            </a:r>
          </a:p>
        </p:txBody>
      </p:sp>
      <p:sp>
        <p:nvSpPr>
          <p:cNvPr id="35" name="TextBox 34"/>
          <p:cNvSpPr txBox="1"/>
          <p:nvPr/>
        </p:nvSpPr>
        <p:spPr>
          <a:xfrm>
            <a:off x="6309360" y="1508760"/>
            <a:ext cx="5349240" cy="237744"/>
          </a:xfrm>
          <a:prstGeom prst="rect">
            <a:avLst/>
          </a:prstGeom>
          <a:noFill/>
        </p:spPr>
        <p:txBody>
          <a:bodyPr wrap="square">
            <a:spAutoFit/>
          </a:bodyPr>
          <a:lstStyle/>
          <a:p>
            <a:pPr algn="l"/>
            <a:r>
              <a:rPr sz="1000" b="1" i="0">
                <a:solidFill>
                  <a:srgbClr val="FFFFFF"/>
                </a:solidFill>
              </a:rPr>
              <a:t>🎬  Trip Highlight Reel at Breakfast</a:t>
            </a:r>
          </a:p>
        </p:txBody>
      </p:sp>
      <p:sp>
        <p:nvSpPr>
          <p:cNvPr id="36" name="TextBox 35"/>
          <p:cNvSpPr txBox="1"/>
          <p:nvPr/>
        </p:nvSpPr>
        <p:spPr>
          <a:xfrm>
            <a:off x="6309360" y="1755648"/>
            <a:ext cx="5349240" cy="347472"/>
          </a:xfrm>
          <a:prstGeom prst="rect">
            <a:avLst/>
          </a:prstGeom>
          <a:noFill/>
        </p:spPr>
        <p:txBody>
          <a:bodyPr wrap="square">
            <a:spAutoFit/>
          </a:bodyPr>
          <a:lstStyle/>
          <a:p>
            <a:pPr algn="l"/>
            <a:r>
              <a:rPr sz="850" b="0" i="0">
                <a:solidFill>
                  <a:srgbClr val="A0A0A0"/>
                </a:solidFill>
              </a:rPr>
              <a:t>A 60–90 second video of every day plays on a screen. Guests see themselves. Emotional moment. Everyone shares it.</a:t>
            </a:r>
          </a:p>
        </p:txBody>
      </p:sp>
      <p:sp>
        <p:nvSpPr>
          <p:cNvPr id="37" name="TextBox 36"/>
          <p:cNvSpPr txBox="1"/>
          <p:nvPr/>
        </p:nvSpPr>
        <p:spPr>
          <a:xfrm>
            <a:off x="6309360" y="2185415"/>
            <a:ext cx="5349240" cy="237744"/>
          </a:xfrm>
          <a:prstGeom prst="rect">
            <a:avLst/>
          </a:prstGeom>
          <a:noFill/>
        </p:spPr>
        <p:txBody>
          <a:bodyPr wrap="square">
            <a:spAutoFit/>
          </a:bodyPr>
          <a:lstStyle/>
          <a:p>
            <a:pPr algn="l"/>
            <a:r>
              <a:rPr sz="1000" b="1" i="0">
                <a:solidFill>
                  <a:srgbClr val="FFFFFF"/>
                </a:solidFill>
              </a:rPr>
              <a:t>📦  Farewell Gift in the Room</a:t>
            </a:r>
          </a:p>
        </p:txBody>
      </p:sp>
      <p:sp>
        <p:nvSpPr>
          <p:cNvPr id="38" name="TextBox 37"/>
          <p:cNvSpPr txBox="1"/>
          <p:nvPr/>
        </p:nvSpPr>
        <p:spPr>
          <a:xfrm>
            <a:off x="6309360" y="2432303"/>
            <a:ext cx="5349240" cy="347472"/>
          </a:xfrm>
          <a:prstGeom prst="rect">
            <a:avLst/>
          </a:prstGeom>
          <a:noFill/>
        </p:spPr>
        <p:txBody>
          <a:bodyPr wrap="square">
            <a:spAutoFit/>
          </a:bodyPr>
          <a:lstStyle/>
          <a:p>
            <a:pPr algn="l"/>
            <a:r>
              <a:rPr sz="850" b="0" i="0">
                <a:solidFill>
                  <a:srgbClr val="A0A0A0"/>
                </a:solidFill>
              </a:rPr>
              <a:t>Guests wake up to a final Makena gift on the bed: a photo print from the trip, branded keychain, and a card that says 'See you at the next one.'</a:t>
            </a:r>
          </a:p>
        </p:txBody>
      </p:sp>
      <p:sp>
        <p:nvSpPr>
          <p:cNvPr id="39" name="TextBox 38"/>
          <p:cNvSpPr txBox="1"/>
          <p:nvPr/>
        </p:nvSpPr>
        <p:spPr>
          <a:xfrm>
            <a:off x="6309360" y="2862072"/>
            <a:ext cx="5349240" cy="237744"/>
          </a:xfrm>
          <a:prstGeom prst="rect">
            <a:avLst/>
          </a:prstGeom>
          <a:noFill/>
        </p:spPr>
        <p:txBody>
          <a:bodyPr wrap="square">
            <a:spAutoFit/>
          </a:bodyPr>
          <a:lstStyle/>
          <a:p>
            <a:pPr algn="l"/>
            <a:r>
              <a:rPr sz="1000" b="1" i="0">
                <a:solidFill>
                  <a:srgbClr val="FFFFFF"/>
                </a:solidFill>
              </a:rPr>
              <a:t>✍️  Guest Book Signing</a:t>
            </a:r>
          </a:p>
        </p:txBody>
      </p:sp>
      <p:sp>
        <p:nvSpPr>
          <p:cNvPr id="40" name="TextBox 39"/>
          <p:cNvSpPr txBox="1"/>
          <p:nvPr/>
        </p:nvSpPr>
        <p:spPr>
          <a:xfrm>
            <a:off x="6309360" y="3108960"/>
            <a:ext cx="5349240" cy="347472"/>
          </a:xfrm>
          <a:prstGeom prst="rect">
            <a:avLst/>
          </a:prstGeom>
          <a:noFill/>
        </p:spPr>
        <p:txBody>
          <a:bodyPr wrap="square">
            <a:spAutoFit/>
          </a:bodyPr>
          <a:lstStyle/>
          <a:p>
            <a:pPr algn="l"/>
            <a:r>
              <a:rPr sz="850" b="0" i="0">
                <a:solidFill>
                  <a:srgbClr val="A0A0A0"/>
                </a:solidFill>
              </a:rPr>
              <a:t>A Makena trip journal passed around at breakfast — every guest signs a page. Baldwin keeps it as a brand artifact.</a:t>
            </a:r>
          </a:p>
        </p:txBody>
      </p:sp>
      <p:sp>
        <p:nvSpPr>
          <p:cNvPr id="41" name="TextBox 40"/>
          <p:cNvSpPr txBox="1"/>
          <p:nvPr/>
        </p:nvSpPr>
        <p:spPr>
          <a:xfrm>
            <a:off x="6309360" y="3538728"/>
            <a:ext cx="5349240" cy="237744"/>
          </a:xfrm>
          <a:prstGeom prst="rect">
            <a:avLst/>
          </a:prstGeom>
          <a:noFill/>
        </p:spPr>
        <p:txBody>
          <a:bodyPr wrap="square">
            <a:spAutoFit/>
          </a:bodyPr>
          <a:lstStyle/>
          <a:p>
            <a:pPr algn="l"/>
            <a:r>
              <a:rPr sz="1000" b="1" i="0">
                <a:solidFill>
                  <a:srgbClr val="FFFFFF"/>
                </a:solidFill>
              </a:rPr>
              <a:t>🏅  'Makena Alumni' WhatsApp Group</a:t>
            </a:r>
          </a:p>
        </p:txBody>
      </p:sp>
      <p:sp>
        <p:nvSpPr>
          <p:cNvPr id="42" name="TextBox 41"/>
          <p:cNvSpPr txBox="1"/>
          <p:nvPr/>
        </p:nvSpPr>
        <p:spPr>
          <a:xfrm>
            <a:off x="6309360" y="3785616"/>
            <a:ext cx="5349240" cy="347472"/>
          </a:xfrm>
          <a:prstGeom prst="rect">
            <a:avLst/>
          </a:prstGeom>
          <a:noFill/>
        </p:spPr>
        <p:txBody>
          <a:bodyPr wrap="square">
            <a:spAutoFit/>
          </a:bodyPr>
          <a:lstStyle/>
          <a:p>
            <a:pPr algn="l"/>
            <a:r>
              <a:rPr sz="850" b="0" i="0">
                <a:solidFill>
                  <a:srgbClr val="A0A0A0"/>
                </a:solidFill>
              </a:rPr>
              <a:t>Create a new group at breakfast: 'Makena Punta Cana Alumni.' Keeps the community alive. Seeds the next trip's audience.</a:t>
            </a:r>
          </a:p>
        </p:txBody>
      </p:sp>
      <p:sp>
        <p:nvSpPr>
          <p:cNvPr id="43" name="TextBox 42"/>
          <p:cNvSpPr txBox="1"/>
          <p:nvPr/>
        </p:nvSpPr>
        <p:spPr>
          <a:xfrm>
            <a:off x="6309360" y="4215384"/>
            <a:ext cx="5349240" cy="237744"/>
          </a:xfrm>
          <a:prstGeom prst="rect">
            <a:avLst/>
          </a:prstGeom>
          <a:noFill/>
        </p:spPr>
        <p:txBody>
          <a:bodyPr wrap="square">
            <a:spAutoFit/>
          </a:bodyPr>
          <a:lstStyle/>
          <a:p>
            <a:pPr algn="l"/>
            <a:r>
              <a:rPr sz="1000" b="1" i="0">
                <a:solidFill>
                  <a:srgbClr val="FFFFFF"/>
                </a:solidFill>
              </a:rPr>
              <a:t>📢  Next Trip Teaser Announcement</a:t>
            </a:r>
          </a:p>
        </p:txBody>
      </p:sp>
      <p:sp>
        <p:nvSpPr>
          <p:cNvPr id="44" name="TextBox 43"/>
          <p:cNvSpPr txBox="1"/>
          <p:nvPr/>
        </p:nvSpPr>
        <p:spPr>
          <a:xfrm>
            <a:off x="6309360" y="4462272"/>
            <a:ext cx="5349240" cy="347472"/>
          </a:xfrm>
          <a:prstGeom prst="rect">
            <a:avLst/>
          </a:prstGeom>
          <a:noFill/>
        </p:spPr>
        <p:txBody>
          <a:bodyPr wrap="square">
            <a:spAutoFit/>
          </a:bodyPr>
          <a:lstStyle/>
          <a:p>
            <a:pPr algn="l"/>
            <a:r>
              <a:rPr sz="850" b="0" i="0">
                <a:solidFill>
                  <a:srgbClr val="A0A0A0"/>
                </a:solidFill>
              </a:rPr>
              <a:t>Baldwin announces the NEXT Makena group trip at breakfast. Creates immediate FOMO and early interest.</a:t>
            </a:r>
          </a:p>
        </p:txBody>
      </p:sp>
      <p:sp>
        <p:nvSpPr>
          <p:cNvPr id="45" name="TextBox 44"/>
          <p:cNvSpPr txBox="1"/>
          <p:nvPr/>
        </p:nvSpPr>
        <p:spPr>
          <a:xfrm>
            <a:off x="6309360" y="4892040"/>
            <a:ext cx="5349240" cy="237744"/>
          </a:xfrm>
          <a:prstGeom prst="rect">
            <a:avLst/>
          </a:prstGeom>
          <a:noFill/>
        </p:spPr>
        <p:txBody>
          <a:bodyPr wrap="square">
            <a:spAutoFit/>
          </a:bodyPr>
          <a:lstStyle/>
          <a:p>
            <a:pPr algn="l"/>
            <a:r>
              <a:rPr sz="1000" b="1" i="0">
                <a:solidFill>
                  <a:srgbClr val="FFFFFF"/>
                </a:solidFill>
              </a:rPr>
              <a:t>✈️  In-Airport Surprise</a:t>
            </a:r>
          </a:p>
        </p:txBody>
      </p:sp>
      <p:sp>
        <p:nvSpPr>
          <p:cNvPr id="46" name="TextBox 45"/>
          <p:cNvSpPr txBox="1"/>
          <p:nvPr/>
        </p:nvSpPr>
        <p:spPr>
          <a:xfrm>
            <a:off x="6309360" y="5138928"/>
            <a:ext cx="5349240" cy="347472"/>
          </a:xfrm>
          <a:prstGeom prst="rect">
            <a:avLst/>
          </a:prstGeom>
          <a:noFill/>
        </p:spPr>
        <p:txBody>
          <a:bodyPr wrap="square">
            <a:spAutoFit/>
          </a:bodyPr>
          <a:lstStyle/>
          <a:p>
            <a:pPr algn="l"/>
            <a:r>
              <a:rPr sz="850" b="0" i="0">
                <a:solidFill>
                  <a:srgbClr val="A0A0A0"/>
                </a:solidFill>
              </a:rPr>
              <a:t>Airport Lead hands each guest a small sealed envelope to open on the plane: a discount code or priority access for the next trip.</a:t>
            </a:r>
          </a:p>
        </p:txBody>
      </p:sp>
      <p:sp>
        <p:nvSpPr>
          <p:cNvPr id="47" name="TextBox 46"/>
          <p:cNvSpPr txBox="1"/>
          <p:nvPr/>
        </p:nvSpPr>
        <p:spPr>
          <a:xfrm>
            <a:off x="6309360" y="5568696"/>
            <a:ext cx="5349240" cy="237744"/>
          </a:xfrm>
          <a:prstGeom prst="rect">
            <a:avLst/>
          </a:prstGeom>
          <a:noFill/>
        </p:spPr>
        <p:txBody>
          <a:bodyPr wrap="square">
            <a:spAutoFit/>
          </a:bodyPr>
          <a:lstStyle/>
          <a:p>
            <a:pPr algn="l"/>
            <a:r>
              <a:rPr sz="1000" b="1" i="0">
                <a:solidFill>
                  <a:srgbClr val="FFFFFF"/>
                </a:solidFill>
              </a:rPr>
              <a:t>📱  Real-Time Social Takeover</a:t>
            </a:r>
          </a:p>
        </p:txBody>
      </p:sp>
      <p:sp>
        <p:nvSpPr>
          <p:cNvPr id="48" name="TextBox 47"/>
          <p:cNvSpPr txBox="1"/>
          <p:nvPr/>
        </p:nvSpPr>
        <p:spPr>
          <a:xfrm>
            <a:off x="6309360" y="5815584"/>
            <a:ext cx="5349240" cy="347472"/>
          </a:xfrm>
          <a:prstGeom prst="rect">
            <a:avLst/>
          </a:prstGeom>
          <a:noFill/>
        </p:spPr>
        <p:txBody>
          <a:bodyPr wrap="square">
            <a:spAutoFit/>
          </a:bodyPr>
          <a:lstStyle/>
          <a:p>
            <a:pPr algn="l"/>
            <a:r>
              <a:rPr sz="850" b="0" i="0">
                <a:solidFill>
                  <a:srgbClr val="A0A0A0"/>
                </a:solidFill>
              </a:rPr>
              <a:t>Content Creator posts the reel to @makena_entertainment during breakfast. Tag the guests. The algorithm loves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B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594360"/>
          </a:xfrm>
          <a:prstGeom prst="rect">
            <a:avLst/>
          </a:prstGeom>
          <a:noFill/>
        </p:spPr>
        <p:txBody>
          <a:bodyPr wrap="square">
            <a:spAutoFit/>
          </a:bodyPr>
          <a:lstStyle/>
          <a:p>
            <a:pPr algn="l"/>
            <a:r>
              <a:rPr sz="2600" b="1" i="0">
                <a:solidFill>
                  <a:srgbClr val="FFFFFF"/>
                </a:solidFill>
              </a:rPr>
              <a:t>📣  MARKETING — SELLING THE TRIP ONLINE</a:t>
            </a:r>
          </a:p>
        </p:txBody>
      </p:sp>
      <p:sp>
        <p:nvSpPr>
          <p:cNvPr id="4" name="TextBox 3"/>
          <p:cNvSpPr txBox="1"/>
          <p:nvPr/>
        </p:nvSpPr>
        <p:spPr>
          <a:xfrm>
            <a:off x="457200" y="713232"/>
            <a:ext cx="10972800" cy="228600"/>
          </a:xfrm>
          <a:prstGeom prst="rect">
            <a:avLst/>
          </a:prstGeom>
          <a:noFill/>
        </p:spPr>
        <p:txBody>
          <a:bodyPr wrap="square">
            <a:spAutoFit/>
          </a:bodyPr>
          <a:lstStyle/>
          <a:p>
            <a:pPr algn="l"/>
            <a:r>
              <a:rPr sz="1000" b="0" i="0">
                <a:solidFill>
                  <a:srgbClr val="86EFA9"/>
                </a:solidFill>
              </a:rPr>
              <a:t>How to fill every spot before the trip and create a waitlist for the next one.</a:t>
            </a:r>
          </a:p>
        </p:txBody>
      </p:sp>
      <p:sp>
        <p:nvSpPr>
          <p:cNvPr id="5" name="Rectangle 4"/>
          <p:cNvSpPr/>
          <p:nvPr/>
        </p:nvSpPr>
        <p:spPr>
          <a:xfrm>
            <a:off x="365760" y="1078992"/>
            <a:ext cx="5669280" cy="26060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70432"/>
            <a:ext cx="5303520" cy="292608"/>
          </a:xfrm>
          <a:prstGeom prst="rect">
            <a:avLst/>
          </a:prstGeom>
          <a:noFill/>
        </p:spPr>
        <p:txBody>
          <a:bodyPr wrap="square">
            <a:spAutoFit/>
          </a:bodyPr>
          <a:lstStyle/>
          <a:p>
            <a:pPr algn="l"/>
            <a:r>
              <a:rPr sz="1100" b="1" i="0">
                <a:solidFill>
                  <a:srgbClr val="86EFA9"/>
                </a:solidFill>
              </a:rPr>
              <a:t>🌐  Website (makenaevents.com/trips)</a:t>
            </a:r>
          </a:p>
        </p:txBody>
      </p:sp>
      <p:sp>
        <p:nvSpPr>
          <p:cNvPr id="7" name="Rectangle 6"/>
          <p:cNvSpPr/>
          <p:nvPr/>
        </p:nvSpPr>
        <p:spPr>
          <a:xfrm>
            <a:off x="548640" y="1591056"/>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517904"/>
            <a:ext cx="5166360" cy="274320"/>
          </a:xfrm>
          <a:prstGeom prst="rect">
            <a:avLst/>
          </a:prstGeom>
          <a:noFill/>
        </p:spPr>
        <p:txBody>
          <a:bodyPr wrap="square">
            <a:spAutoFit/>
          </a:bodyPr>
          <a:lstStyle/>
          <a:p>
            <a:pPr algn="l"/>
            <a:r>
              <a:rPr sz="900" b="0" i="0">
                <a:solidFill>
                  <a:srgbClr val="FFFFFF"/>
                </a:solidFill>
              </a:rPr>
              <a:t>Dedicated Punta Cana trip landing page with full itinerary</a:t>
            </a:r>
          </a:p>
        </p:txBody>
      </p:sp>
      <p:sp>
        <p:nvSpPr>
          <p:cNvPr id="9" name="Rectangle 8"/>
          <p:cNvSpPr/>
          <p:nvPr/>
        </p:nvSpPr>
        <p:spPr>
          <a:xfrm>
            <a:off x="548640" y="1938528"/>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865376"/>
            <a:ext cx="5166360" cy="274320"/>
          </a:xfrm>
          <a:prstGeom prst="rect">
            <a:avLst/>
          </a:prstGeom>
          <a:noFill/>
        </p:spPr>
        <p:txBody>
          <a:bodyPr wrap="square">
            <a:spAutoFit/>
          </a:bodyPr>
          <a:lstStyle/>
          <a:p>
            <a:pPr algn="l"/>
            <a:r>
              <a:rPr sz="900" b="0" i="0">
                <a:solidFill>
                  <a:srgbClr val="FFFFFF"/>
                </a:solidFill>
              </a:rPr>
              <a:t>Interest form live NOW — collect leads immediately</a:t>
            </a:r>
          </a:p>
        </p:txBody>
      </p:sp>
      <p:sp>
        <p:nvSpPr>
          <p:cNvPr id="11" name="Rectangle 10"/>
          <p:cNvSpPr/>
          <p:nvPr/>
        </p:nvSpPr>
        <p:spPr>
          <a:xfrm>
            <a:off x="548640" y="228600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212848"/>
            <a:ext cx="5166360" cy="274320"/>
          </a:xfrm>
          <a:prstGeom prst="rect">
            <a:avLst/>
          </a:prstGeom>
          <a:noFill/>
        </p:spPr>
        <p:txBody>
          <a:bodyPr wrap="square">
            <a:spAutoFit/>
          </a:bodyPr>
          <a:lstStyle/>
          <a:p>
            <a:pPr algn="l"/>
            <a:r>
              <a:rPr sz="900" b="0" i="0">
                <a:solidFill>
                  <a:srgbClr val="FFFFFF"/>
                </a:solidFill>
              </a:rPr>
              <a:t>Countdown timer to booking deadline</a:t>
            </a:r>
          </a:p>
        </p:txBody>
      </p:sp>
      <p:sp>
        <p:nvSpPr>
          <p:cNvPr id="13" name="Rectangle 12"/>
          <p:cNvSpPr/>
          <p:nvPr/>
        </p:nvSpPr>
        <p:spPr>
          <a:xfrm>
            <a:off x="548640" y="2633472"/>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560320"/>
            <a:ext cx="5166360" cy="274320"/>
          </a:xfrm>
          <a:prstGeom prst="rect">
            <a:avLst/>
          </a:prstGeom>
          <a:noFill/>
        </p:spPr>
        <p:txBody>
          <a:bodyPr wrap="square">
            <a:spAutoFit/>
          </a:bodyPr>
          <a:lstStyle/>
          <a:p>
            <a:pPr algn="l"/>
            <a:r>
              <a:rPr sz="900" b="0" i="0">
                <a:solidFill>
                  <a:srgbClr val="FFFFFF"/>
                </a:solidFill>
              </a:rPr>
              <a:t>FAQ section addressing price, flights, roommate matching</a:t>
            </a:r>
          </a:p>
        </p:txBody>
      </p:sp>
      <p:sp>
        <p:nvSpPr>
          <p:cNvPr id="15" name="Rectangle 14"/>
          <p:cNvSpPr/>
          <p:nvPr/>
        </p:nvSpPr>
        <p:spPr>
          <a:xfrm>
            <a:off x="548640" y="2980944"/>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907791"/>
            <a:ext cx="5166360" cy="274320"/>
          </a:xfrm>
          <a:prstGeom prst="rect">
            <a:avLst/>
          </a:prstGeom>
          <a:noFill/>
        </p:spPr>
        <p:txBody>
          <a:bodyPr wrap="square">
            <a:spAutoFit/>
          </a:bodyPr>
          <a:lstStyle/>
          <a:p>
            <a:pPr algn="l"/>
            <a:r>
              <a:rPr sz="900" b="0" i="0">
                <a:solidFill>
                  <a:srgbClr val="FFFFFF"/>
                </a:solidFill>
              </a:rPr>
              <a:t>Testimonials section (use quotes from DC event attendees)</a:t>
            </a:r>
          </a:p>
        </p:txBody>
      </p:sp>
      <p:sp>
        <p:nvSpPr>
          <p:cNvPr id="17" name="Rectangle 16"/>
          <p:cNvSpPr/>
          <p:nvPr/>
        </p:nvSpPr>
        <p:spPr>
          <a:xfrm>
            <a:off x="6263640" y="1078992"/>
            <a:ext cx="5669280" cy="26060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170432"/>
            <a:ext cx="5303520" cy="292608"/>
          </a:xfrm>
          <a:prstGeom prst="rect">
            <a:avLst/>
          </a:prstGeom>
          <a:noFill/>
        </p:spPr>
        <p:txBody>
          <a:bodyPr wrap="square">
            <a:spAutoFit/>
          </a:bodyPr>
          <a:lstStyle/>
          <a:p>
            <a:pPr algn="l"/>
            <a:r>
              <a:rPr sz="1100" b="1" i="0">
                <a:solidFill>
                  <a:srgbClr val="86EFA9"/>
                </a:solidFill>
              </a:rPr>
              <a:t>📱  Instagram Strategy</a:t>
            </a:r>
          </a:p>
        </p:txBody>
      </p:sp>
      <p:sp>
        <p:nvSpPr>
          <p:cNvPr id="19" name="Rectangle 18"/>
          <p:cNvSpPr/>
          <p:nvPr/>
        </p:nvSpPr>
        <p:spPr>
          <a:xfrm>
            <a:off x="6446520" y="1591056"/>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11112" y="1517904"/>
            <a:ext cx="5166360" cy="274320"/>
          </a:xfrm>
          <a:prstGeom prst="rect">
            <a:avLst/>
          </a:prstGeom>
          <a:noFill/>
        </p:spPr>
        <p:txBody>
          <a:bodyPr wrap="square">
            <a:spAutoFit/>
          </a:bodyPr>
          <a:lstStyle/>
          <a:p>
            <a:pPr algn="l"/>
            <a:r>
              <a:rPr sz="900" b="0" i="0">
                <a:solidFill>
                  <a:srgbClr val="FFFFFF"/>
                </a:solidFill>
              </a:rPr>
              <a:t>Launch a 'Punta Cana Trip' Story Highlight — keep it updated</a:t>
            </a:r>
          </a:p>
        </p:txBody>
      </p:sp>
      <p:sp>
        <p:nvSpPr>
          <p:cNvPr id="21" name="Rectangle 20"/>
          <p:cNvSpPr/>
          <p:nvPr/>
        </p:nvSpPr>
        <p:spPr>
          <a:xfrm>
            <a:off x="6446520" y="1938528"/>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11112" y="1865376"/>
            <a:ext cx="5166360" cy="274320"/>
          </a:xfrm>
          <a:prstGeom prst="rect">
            <a:avLst/>
          </a:prstGeom>
          <a:noFill/>
        </p:spPr>
        <p:txBody>
          <a:bodyPr wrap="square">
            <a:spAutoFit/>
          </a:bodyPr>
          <a:lstStyle/>
          <a:p>
            <a:pPr algn="l"/>
            <a:r>
              <a:rPr sz="900" b="0" i="0">
                <a:solidFill>
                  <a:srgbClr val="FFFFFF"/>
                </a:solidFill>
              </a:rPr>
              <a:t>Post a teaser reel: tropical footage + Makena music</a:t>
            </a:r>
          </a:p>
        </p:txBody>
      </p:sp>
      <p:sp>
        <p:nvSpPr>
          <p:cNvPr id="23" name="Rectangle 22"/>
          <p:cNvSpPr/>
          <p:nvPr/>
        </p:nvSpPr>
        <p:spPr>
          <a:xfrm>
            <a:off x="6446520" y="2286000"/>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11112" y="2212848"/>
            <a:ext cx="5166360" cy="274320"/>
          </a:xfrm>
          <a:prstGeom prst="rect">
            <a:avLst/>
          </a:prstGeom>
          <a:noFill/>
        </p:spPr>
        <p:txBody>
          <a:bodyPr wrap="square">
            <a:spAutoFit/>
          </a:bodyPr>
          <a:lstStyle/>
          <a:p>
            <a:pPr algn="l"/>
            <a:r>
              <a:rPr sz="900" b="0" i="0">
                <a:solidFill>
                  <a:srgbClr val="FFFFFF"/>
                </a:solidFill>
              </a:rPr>
              <a:t>Weekly countdown posts ('X weeks until we're in DR')</a:t>
            </a:r>
          </a:p>
        </p:txBody>
      </p:sp>
      <p:sp>
        <p:nvSpPr>
          <p:cNvPr id="25" name="Rectangle 24"/>
          <p:cNvSpPr/>
          <p:nvPr/>
        </p:nvSpPr>
        <p:spPr>
          <a:xfrm>
            <a:off x="6446520" y="2633472"/>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11112" y="2560320"/>
            <a:ext cx="5166360" cy="274320"/>
          </a:xfrm>
          <a:prstGeom prst="rect">
            <a:avLst/>
          </a:prstGeom>
          <a:noFill/>
        </p:spPr>
        <p:txBody>
          <a:bodyPr wrap="square">
            <a:spAutoFit/>
          </a:bodyPr>
          <a:lstStyle/>
          <a:p>
            <a:pPr algn="l"/>
            <a:r>
              <a:rPr sz="900" b="0" i="0">
                <a:solidFill>
                  <a:srgbClr val="FFFFFF"/>
                </a:solidFill>
              </a:rPr>
              <a:t>DM all previous event attendees personally — warm leads convert</a:t>
            </a:r>
          </a:p>
        </p:txBody>
      </p:sp>
      <p:sp>
        <p:nvSpPr>
          <p:cNvPr id="27" name="Rectangle 26"/>
          <p:cNvSpPr/>
          <p:nvPr/>
        </p:nvSpPr>
        <p:spPr>
          <a:xfrm>
            <a:off x="6446520" y="2980944"/>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11112" y="2907791"/>
            <a:ext cx="5166360" cy="274320"/>
          </a:xfrm>
          <a:prstGeom prst="rect">
            <a:avLst/>
          </a:prstGeom>
          <a:noFill/>
        </p:spPr>
        <p:txBody>
          <a:bodyPr wrap="square">
            <a:spAutoFit/>
          </a:bodyPr>
          <a:lstStyle/>
          <a:p>
            <a:pPr algn="l"/>
            <a:r>
              <a:rPr sz="900" b="0" i="0">
                <a:solidFill>
                  <a:srgbClr val="FFFFFF"/>
                </a:solidFill>
              </a:rPr>
              <a:t>Collaborate with Afrobeats/Amapiano influencers for reach</a:t>
            </a:r>
          </a:p>
        </p:txBody>
      </p:sp>
      <p:sp>
        <p:nvSpPr>
          <p:cNvPr id="29" name="Rectangle 28"/>
          <p:cNvSpPr/>
          <p:nvPr/>
        </p:nvSpPr>
        <p:spPr>
          <a:xfrm>
            <a:off x="365760" y="3867911"/>
            <a:ext cx="5669280" cy="26060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959351"/>
            <a:ext cx="5303520" cy="292608"/>
          </a:xfrm>
          <a:prstGeom prst="rect">
            <a:avLst/>
          </a:prstGeom>
          <a:noFill/>
        </p:spPr>
        <p:txBody>
          <a:bodyPr wrap="square">
            <a:spAutoFit/>
          </a:bodyPr>
          <a:lstStyle/>
          <a:p>
            <a:pPr algn="l"/>
            <a:r>
              <a:rPr sz="1100" b="1" i="0">
                <a:solidFill>
                  <a:srgbClr val="86EFA9"/>
                </a:solidFill>
              </a:rPr>
              <a:t>💬  WhatsApp &amp; Community</a:t>
            </a:r>
          </a:p>
        </p:txBody>
      </p:sp>
      <p:sp>
        <p:nvSpPr>
          <p:cNvPr id="31" name="Rectangle 30"/>
          <p:cNvSpPr/>
          <p:nvPr/>
        </p:nvSpPr>
        <p:spPr>
          <a:xfrm>
            <a:off x="548640" y="4379975"/>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306823"/>
            <a:ext cx="5166360" cy="274320"/>
          </a:xfrm>
          <a:prstGeom prst="rect">
            <a:avLst/>
          </a:prstGeom>
          <a:noFill/>
        </p:spPr>
        <p:txBody>
          <a:bodyPr wrap="square">
            <a:spAutoFit/>
          </a:bodyPr>
          <a:lstStyle/>
          <a:p>
            <a:pPr algn="l"/>
            <a:r>
              <a:rPr sz="900" b="0" i="0">
                <a:solidFill>
                  <a:srgbClr val="FFFFFF"/>
                </a:solidFill>
              </a:rPr>
              <a:t>Create a 'Punta Cana Interest List' WhatsApp broadcast</a:t>
            </a:r>
          </a:p>
        </p:txBody>
      </p:sp>
      <p:sp>
        <p:nvSpPr>
          <p:cNvPr id="33" name="Rectangle 32"/>
          <p:cNvSpPr/>
          <p:nvPr/>
        </p:nvSpPr>
        <p:spPr>
          <a:xfrm>
            <a:off x="548640" y="4727447"/>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654295"/>
            <a:ext cx="5166360" cy="274320"/>
          </a:xfrm>
          <a:prstGeom prst="rect">
            <a:avLst/>
          </a:prstGeom>
          <a:noFill/>
        </p:spPr>
        <p:txBody>
          <a:bodyPr wrap="square">
            <a:spAutoFit/>
          </a:bodyPr>
          <a:lstStyle/>
          <a:p>
            <a:pPr algn="l"/>
            <a:r>
              <a:rPr sz="900" b="0" i="0">
                <a:solidFill>
                  <a:srgbClr val="FFFFFF"/>
                </a:solidFill>
              </a:rPr>
              <a:t>Send regular voice notes from Baldwin — personal touch drives sign-ups</a:t>
            </a:r>
          </a:p>
        </p:txBody>
      </p:sp>
      <p:sp>
        <p:nvSpPr>
          <p:cNvPr id="35" name="Rectangle 34"/>
          <p:cNvSpPr/>
          <p:nvPr/>
        </p:nvSpPr>
        <p:spPr>
          <a:xfrm>
            <a:off x="548640" y="507491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5001767"/>
            <a:ext cx="5166360" cy="274320"/>
          </a:xfrm>
          <a:prstGeom prst="rect">
            <a:avLst/>
          </a:prstGeom>
          <a:noFill/>
        </p:spPr>
        <p:txBody>
          <a:bodyPr wrap="square">
            <a:spAutoFit/>
          </a:bodyPr>
          <a:lstStyle/>
          <a:p>
            <a:pPr algn="l"/>
            <a:r>
              <a:rPr sz="900" b="0" i="0">
                <a:solidFill>
                  <a:srgbClr val="FFFFFF"/>
                </a:solidFill>
              </a:rPr>
              <a:t>Leverage DC event attendee list — they know Makena already</a:t>
            </a:r>
          </a:p>
        </p:txBody>
      </p:sp>
      <p:sp>
        <p:nvSpPr>
          <p:cNvPr id="37" name="Rectangle 36"/>
          <p:cNvSpPr/>
          <p:nvPr/>
        </p:nvSpPr>
        <p:spPr>
          <a:xfrm>
            <a:off x="548640" y="5422391"/>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3232" y="5349239"/>
            <a:ext cx="5166360" cy="274320"/>
          </a:xfrm>
          <a:prstGeom prst="rect">
            <a:avLst/>
          </a:prstGeom>
          <a:noFill/>
        </p:spPr>
        <p:txBody>
          <a:bodyPr wrap="square">
            <a:spAutoFit/>
          </a:bodyPr>
          <a:lstStyle/>
          <a:p>
            <a:pPr algn="l"/>
            <a:r>
              <a:rPr sz="900" b="0" i="0">
                <a:solidFill>
                  <a:srgbClr val="FFFFFF"/>
                </a:solidFill>
              </a:rPr>
              <a:t>Offer a referral incentive: bring 2 friends, get $50 off</a:t>
            </a:r>
          </a:p>
        </p:txBody>
      </p:sp>
      <p:sp>
        <p:nvSpPr>
          <p:cNvPr id="39" name="Rectangle 38"/>
          <p:cNvSpPr/>
          <p:nvPr/>
        </p:nvSpPr>
        <p:spPr>
          <a:xfrm>
            <a:off x="548640" y="5769863"/>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5696711"/>
            <a:ext cx="5166360" cy="274320"/>
          </a:xfrm>
          <a:prstGeom prst="rect">
            <a:avLst/>
          </a:prstGeom>
          <a:noFill/>
        </p:spPr>
        <p:txBody>
          <a:bodyPr wrap="square">
            <a:spAutoFit/>
          </a:bodyPr>
          <a:lstStyle/>
          <a:p>
            <a:pPr algn="l"/>
            <a:r>
              <a:rPr sz="900" b="0" i="0">
                <a:solidFill>
                  <a:srgbClr val="FFFFFF"/>
                </a:solidFill>
              </a:rPr>
              <a:t>Weekly updates to keep the community warm</a:t>
            </a:r>
          </a:p>
        </p:txBody>
      </p:sp>
      <p:sp>
        <p:nvSpPr>
          <p:cNvPr id="41" name="Rectangle 40"/>
          <p:cNvSpPr/>
          <p:nvPr/>
        </p:nvSpPr>
        <p:spPr>
          <a:xfrm>
            <a:off x="6263640" y="3867911"/>
            <a:ext cx="5669280" cy="26060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46520" y="3959351"/>
            <a:ext cx="5303520" cy="292608"/>
          </a:xfrm>
          <a:prstGeom prst="rect">
            <a:avLst/>
          </a:prstGeom>
          <a:noFill/>
        </p:spPr>
        <p:txBody>
          <a:bodyPr wrap="square">
            <a:spAutoFit/>
          </a:bodyPr>
          <a:lstStyle/>
          <a:p>
            <a:pPr algn="l"/>
            <a:r>
              <a:rPr sz="1100" b="1" i="0">
                <a:solidFill>
                  <a:srgbClr val="86EFA9"/>
                </a:solidFill>
              </a:rPr>
              <a:t>💰  Pricing &amp; Packages</a:t>
            </a:r>
          </a:p>
        </p:txBody>
      </p:sp>
      <p:sp>
        <p:nvSpPr>
          <p:cNvPr id="43" name="Rectangle 42"/>
          <p:cNvSpPr/>
          <p:nvPr/>
        </p:nvSpPr>
        <p:spPr>
          <a:xfrm>
            <a:off x="6446520" y="4379975"/>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11112" y="4306823"/>
            <a:ext cx="5166360" cy="274320"/>
          </a:xfrm>
          <a:prstGeom prst="rect">
            <a:avLst/>
          </a:prstGeom>
          <a:noFill/>
        </p:spPr>
        <p:txBody>
          <a:bodyPr wrap="square">
            <a:spAutoFit/>
          </a:bodyPr>
          <a:lstStyle/>
          <a:p>
            <a:pPr algn="l"/>
            <a:r>
              <a:rPr sz="900" b="0" i="0">
                <a:solidFill>
                  <a:srgbClr val="FFFFFF"/>
                </a:solidFill>
              </a:rPr>
              <a:t>Create 2–3 tiers: Standard Room, Deluxe, VIP Suite</a:t>
            </a:r>
          </a:p>
        </p:txBody>
      </p:sp>
      <p:sp>
        <p:nvSpPr>
          <p:cNvPr id="45" name="Rectangle 44"/>
          <p:cNvSpPr/>
          <p:nvPr/>
        </p:nvSpPr>
        <p:spPr>
          <a:xfrm>
            <a:off x="6446520" y="4727447"/>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11112" y="4654295"/>
            <a:ext cx="5166360" cy="274320"/>
          </a:xfrm>
          <a:prstGeom prst="rect">
            <a:avLst/>
          </a:prstGeom>
          <a:noFill/>
        </p:spPr>
        <p:txBody>
          <a:bodyPr wrap="square">
            <a:spAutoFit/>
          </a:bodyPr>
          <a:lstStyle/>
          <a:p>
            <a:pPr algn="l"/>
            <a:r>
              <a:rPr sz="900" b="0" i="0">
                <a:solidFill>
                  <a:srgbClr val="FFFFFF"/>
                </a:solidFill>
              </a:rPr>
              <a:t>Offer an Early Bird rate — creates urgency and locks in cash early</a:t>
            </a:r>
          </a:p>
        </p:txBody>
      </p:sp>
      <p:sp>
        <p:nvSpPr>
          <p:cNvPr id="47" name="Rectangle 46"/>
          <p:cNvSpPr/>
          <p:nvPr/>
        </p:nvSpPr>
        <p:spPr>
          <a:xfrm>
            <a:off x="6446520" y="5074919"/>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11112" y="5001767"/>
            <a:ext cx="5166360" cy="274320"/>
          </a:xfrm>
          <a:prstGeom prst="rect">
            <a:avLst/>
          </a:prstGeom>
          <a:noFill/>
        </p:spPr>
        <p:txBody>
          <a:bodyPr wrap="square">
            <a:spAutoFit/>
          </a:bodyPr>
          <a:lstStyle/>
          <a:p>
            <a:pPr algn="l"/>
            <a:r>
              <a:rPr sz="900" b="0" i="0">
                <a:solidFill>
                  <a:srgbClr val="FFFFFF"/>
                </a:solidFill>
              </a:rPr>
              <a:t>Payment plan option: deposit + 2 installments</a:t>
            </a:r>
          </a:p>
        </p:txBody>
      </p:sp>
      <p:sp>
        <p:nvSpPr>
          <p:cNvPr id="49" name="Rectangle 48"/>
          <p:cNvSpPr/>
          <p:nvPr/>
        </p:nvSpPr>
        <p:spPr>
          <a:xfrm>
            <a:off x="6446520" y="5422391"/>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611112" y="5349239"/>
            <a:ext cx="5166360" cy="274320"/>
          </a:xfrm>
          <a:prstGeom prst="rect">
            <a:avLst/>
          </a:prstGeom>
          <a:noFill/>
        </p:spPr>
        <p:txBody>
          <a:bodyPr wrap="square">
            <a:spAutoFit/>
          </a:bodyPr>
          <a:lstStyle/>
          <a:p>
            <a:pPr algn="l"/>
            <a:r>
              <a:rPr sz="900" b="0" i="0">
                <a:solidFill>
                  <a:srgbClr val="FFFFFF"/>
                </a:solidFill>
              </a:rPr>
              <a:t>All-inclusive price — guests love knowing the total upfront</a:t>
            </a:r>
          </a:p>
        </p:txBody>
      </p:sp>
      <p:sp>
        <p:nvSpPr>
          <p:cNvPr id="51" name="Rectangle 50"/>
          <p:cNvSpPr/>
          <p:nvPr/>
        </p:nvSpPr>
        <p:spPr>
          <a:xfrm>
            <a:off x="6446520" y="5769863"/>
            <a:ext cx="73152" cy="7315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11112" y="5696711"/>
            <a:ext cx="5166360" cy="274320"/>
          </a:xfrm>
          <a:prstGeom prst="rect">
            <a:avLst/>
          </a:prstGeom>
          <a:noFill/>
        </p:spPr>
        <p:txBody>
          <a:bodyPr wrap="square">
            <a:spAutoFit/>
          </a:bodyPr>
          <a:lstStyle/>
          <a:p>
            <a:pPr algn="l"/>
            <a:r>
              <a:rPr sz="900" b="0" i="0">
                <a:solidFill>
                  <a:srgbClr val="FFFFFF"/>
                </a:solidFill>
              </a:rPr>
              <a:t>Clear 'What's Included' vs 'Not Included' breakdown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B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594360"/>
          </a:xfrm>
          <a:prstGeom prst="rect">
            <a:avLst/>
          </a:prstGeom>
          <a:noFill/>
        </p:spPr>
        <p:txBody>
          <a:bodyPr wrap="square">
            <a:spAutoFit/>
          </a:bodyPr>
          <a:lstStyle/>
          <a:p>
            <a:pPr algn="l"/>
            <a:r>
              <a:rPr sz="2600" b="1" i="0">
                <a:solidFill>
                  <a:srgbClr val="FFFFFF"/>
                </a:solidFill>
              </a:rPr>
              <a:t>💰  REVENUE MODEL &amp; TRIP ECONOMICS</a:t>
            </a:r>
          </a:p>
        </p:txBody>
      </p:sp>
      <p:sp>
        <p:nvSpPr>
          <p:cNvPr id="4" name="TextBox 3"/>
          <p:cNvSpPr txBox="1"/>
          <p:nvPr/>
        </p:nvSpPr>
        <p:spPr>
          <a:xfrm>
            <a:off x="457200" y="713232"/>
            <a:ext cx="10972800" cy="228600"/>
          </a:xfrm>
          <a:prstGeom prst="rect">
            <a:avLst/>
          </a:prstGeom>
          <a:noFill/>
        </p:spPr>
        <p:txBody>
          <a:bodyPr wrap="square">
            <a:spAutoFit/>
          </a:bodyPr>
          <a:lstStyle/>
          <a:p>
            <a:pPr algn="l"/>
            <a:r>
              <a:rPr sz="1000" b="0" i="0">
                <a:solidFill>
                  <a:srgbClr val="86EFA9"/>
                </a:solidFill>
              </a:rPr>
              <a:t>Know your numbers. Run this like a business.</a:t>
            </a:r>
          </a:p>
        </p:txBody>
      </p:sp>
      <p:sp>
        <p:nvSpPr>
          <p:cNvPr id="5" name="TextBox 4"/>
          <p:cNvSpPr txBox="1"/>
          <p:nvPr/>
        </p:nvSpPr>
        <p:spPr>
          <a:xfrm>
            <a:off x="365760" y="1024128"/>
            <a:ext cx="11430000" cy="228600"/>
          </a:xfrm>
          <a:prstGeom prst="rect">
            <a:avLst/>
          </a:prstGeom>
          <a:noFill/>
        </p:spPr>
        <p:txBody>
          <a:bodyPr wrap="square">
            <a:spAutoFit/>
          </a:bodyPr>
          <a:lstStyle/>
          <a:p>
            <a:pPr algn="l"/>
            <a:r>
              <a:rPr sz="900" b="0" i="1">
                <a:solidFill>
                  <a:srgbClr val="A0A0A0"/>
                </a:solidFill>
              </a:rPr>
              <a:t>These are illustrative figures — refine with your actual vendor quotes.</a:t>
            </a:r>
          </a:p>
        </p:txBody>
      </p:sp>
      <p:sp>
        <p:nvSpPr>
          <p:cNvPr id="6" name="Rectangle 5"/>
          <p:cNvSpPr/>
          <p:nvPr/>
        </p:nvSpPr>
        <p:spPr>
          <a:xfrm>
            <a:off x="365760" y="1325880"/>
            <a:ext cx="4572000" cy="274320"/>
          </a:xfrm>
          <a:prstGeom prst="rect">
            <a:avLst/>
          </a:prstGeom>
          <a:solidFill>
            <a:srgbClr val="0B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62456"/>
            <a:ext cx="4480560" cy="219456"/>
          </a:xfrm>
          <a:prstGeom prst="rect">
            <a:avLst/>
          </a:prstGeom>
          <a:noFill/>
        </p:spPr>
        <p:txBody>
          <a:bodyPr wrap="square">
            <a:spAutoFit/>
          </a:bodyPr>
          <a:lstStyle/>
          <a:p>
            <a:pPr algn="l"/>
            <a:r>
              <a:rPr sz="900" b="1" i="0">
                <a:solidFill>
                  <a:srgbClr val="86EFA9"/>
                </a:solidFill>
              </a:rPr>
              <a:t>COST CATEGORY</a:t>
            </a:r>
          </a:p>
        </p:txBody>
      </p:sp>
      <p:sp>
        <p:nvSpPr>
          <p:cNvPr id="8" name="Rectangle 7"/>
          <p:cNvSpPr/>
          <p:nvPr/>
        </p:nvSpPr>
        <p:spPr>
          <a:xfrm>
            <a:off x="5029200" y="1325880"/>
            <a:ext cx="3474720" cy="274320"/>
          </a:xfrm>
          <a:prstGeom prst="rect">
            <a:avLst/>
          </a:prstGeom>
          <a:solidFill>
            <a:srgbClr val="0B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0" y="1362456"/>
            <a:ext cx="3383279" cy="219456"/>
          </a:xfrm>
          <a:prstGeom prst="rect">
            <a:avLst/>
          </a:prstGeom>
          <a:noFill/>
        </p:spPr>
        <p:txBody>
          <a:bodyPr wrap="square">
            <a:spAutoFit/>
          </a:bodyPr>
          <a:lstStyle/>
          <a:p>
            <a:pPr algn="l"/>
            <a:r>
              <a:rPr sz="900" b="1" i="0">
                <a:solidFill>
                  <a:srgbClr val="86EFA9"/>
                </a:solidFill>
              </a:rPr>
              <a:t>EST. COST PER PERSON</a:t>
            </a:r>
          </a:p>
        </p:txBody>
      </p:sp>
      <p:sp>
        <p:nvSpPr>
          <p:cNvPr id="10" name="Rectangle 9"/>
          <p:cNvSpPr/>
          <p:nvPr/>
        </p:nvSpPr>
        <p:spPr>
          <a:xfrm>
            <a:off x="8686800" y="1325880"/>
            <a:ext cx="3200400" cy="274320"/>
          </a:xfrm>
          <a:prstGeom prst="rect">
            <a:avLst/>
          </a:prstGeom>
          <a:solidFill>
            <a:srgbClr val="0B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0" y="1362456"/>
            <a:ext cx="3108960" cy="219456"/>
          </a:xfrm>
          <a:prstGeom prst="rect">
            <a:avLst/>
          </a:prstGeom>
          <a:noFill/>
        </p:spPr>
        <p:txBody>
          <a:bodyPr wrap="square">
            <a:spAutoFit/>
          </a:bodyPr>
          <a:lstStyle/>
          <a:p>
            <a:pPr algn="l"/>
            <a:r>
              <a:rPr sz="900" b="1" i="0">
                <a:solidFill>
                  <a:srgbClr val="86EFA9"/>
                </a:solidFill>
              </a:rPr>
              <a:t>NOTES</a:t>
            </a:r>
          </a:p>
        </p:txBody>
      </p:sp>
      <p:sp>
        <p:nvSpPr>
          <p:cNvPr id="12" name="Rectangle 11"/>
          <p:cNvSpPr/>
          <p:nvPr/>
        </p:nvSpPr>
        <p:spPr>
          <a:xfrm>
            <a:off x="365760" y="1618488"/>
            <a:ext cx="4572000" cy="265176"/>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655064"/>
            <a:ext cx="4480560" cy="219456"/>
          </a:xfrm>
          <a:prstGeom prst="rect">
            <a:avLst/>
          </a:prstGeom>
          <a:noFill/>
        </p:spPr>
        <p:txBody>
          <a:bodyPr wrap="square">
            <a:spAutoFit/>
          </a:bodyPr>
          <a:lstStyle/>
          <a:p>
            <a:pPr algn="l"/>
            <a:r>
              <a:rPr sz="900" b="0" i="0">
                <a:solidFill>
                  <a:srgbClr val="FFFFFF"/>
                </a:solidFill>
              </a:rPr>
              <a:t>4-Night All-Inclusive Resort</a:t>
            </a:r>
          </a:p>
        </p:txBody>
      </p:sp>
      <p:sp>
        <p:nvSpPr>
          <p:cNvPr id="14" name="Rectangle 13"/>
          <p:cNvSpPr/>
          <p:nvPr/>
        </p:nvSpPr>
        <p:spPr>
          <a:xfrm>
            <a:off x="5029200" y="1618488"/>
            <a:ext cx="3474720" cy="265176"/>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0" y="1655064"/>
            <a:ext cx="3383279" cy="219456"/>
          </a:xfrm>
          <a:prstGeom prst="rect">
            <a:avLst/>
          </a:prstGeom>
          <a:noFill/>
        </p:spPr>
        <p:txBody>
          <a:bodyPr wrap="square">
            <a:spAutoFit/>
          </a:bodyPr>
          <a:lstStyle/>
          <a:p>
            <a:pPr algn="l"/>
            <a:r>
              <a:rPr sz="900" b="0" i="0">
                <a:solidFill>
                  <a:srgbClr val="FFFFFF"/>
                </a:solidFill>
              </a:rPr>
              <a:t>$350 – $600</a:t>
            </a:r>
          </a:p>
        </p:txBody>
      </p:sp>
      <p:sp>
        <p:nvSpPr>
          <p:cNvPr id="16" name="Rectangle 15"/>
          <p:cNvSpPr/>
          <p:nvPr/>
        </p:nvSpPr>
        <p:spPr>
          <a:xfrm>
            <a:off x="8686800" y="1618488"/>
            <a:ext cx="3200400" cy="265176"/>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0" y="1655064"/>
            <a:ext cx="3108960" cy="219456"/>
          </a:xfrm>
          <a:prstGeom prst="rect">
            <a:avLst/>
          </a:prstGeom>
          <a:noFill/>
        </p:spPr>
        <p:txBody>
          <a:bodyPr wrap="square">
            <a:spAutoFit/>
          </a:bodyPr>
          <a:lstStyle/>
          <a:p>
            <a:pPr algn="l"/>
            <a:r>
              <a:rPr sz="900" b="0" i="0">
                <a:solidFill>
                  <a:srgbClr val="FFFFFF"/>
                </a:solidFill>
              </a:rPr>
              <a:t>Negotiate group rate — target 20–30 guests</a:t>
            </a:r>
          </a:p>
        </p:txBody>
      </p:sp>
      <p:sp>
        <p:nvSpPr>
          <p:cNvPr id="18" name="Rectangle 17"/>
          <p:cNvSpPr/>
          <p:nvPr/>
        </p:nvSpPr>
        <p:spPr>
          <a:xfrm>
            <a:off x="365760" y="1892807"/>
            <a:ext cx="4572000" cy="265176"/>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929384"/>
            <a:ext cx="4480560" cy="219456"/>
          </a:xfrm>
          <a:prstGeom prst="rect">
            <a:avLst/>
          </a:prstGeom>
          <a:noFill/>
        </p:spPr>
        <p:txBody>
          <a:bodyPr wrap="square">
            <a:spAutoFit/>
          </a:bodyPr>
          <a:lstStyle/>
          <a:p>
            <a:pPr algn="l"/>
            <a:r>
              <a:rPr sz="900" b="0" i="0">
                <a:solidFill>
                  <a:srgbClr val="FFFFFF"/>
                </a:solidFill>
              </a:rPr>
              <a:t>Private Catamaran (Boat Party)</a:t>
            </a:r>
          </a:p>
        </p:txBody>
      </p:sp>
      <p:sp>
        <p:nvSpPr>
          <p:cNvPr id="20" name="Rectangle 19"/>
          <p:cNvSpPr/>
          <p:nvPr/>
        </p:nvSpPr>
        <p:spPr>
          <a:xfrm>
            <a:off x="5029200" y="1892807"/>
            <a:ext cx="3474720" cy="265176"/>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0" y="1929384"/>
            <a:ext cx="3383279" cy="219456"/>
          </a:xfrm>
          <a:prstGeom prst="rect">
            <a:avLst/>
          </a:prstGeom>
          <a:noFill/>
        </p:spPr>
        <p:txBody>
          <a:bodyPr wrap="square">
            <a:spAutoFit/>
          </a:bodyPr>
          <a:lstStyle/>
          <a:p>
            <a:pPr algn="l"/>
            <a:r>
              <a:rPr sz="900" b="0" i="0">
                <a:solidFill>
                  <a:srgbClr val="FFFFFF"/>
                </a:solidFill>
              </a:rPr>
              <a:t>$80 – $120</a:t>
            </a:r>
          </a:p>
        </p:txBody>
      </p:sp>
      <p:sp>
        <p:nvSpPr>
          <p:cNvPr id="22" name="Rectangle 21"/>
          <p:cNvSpPr/>
          <p:nvPr/>
        </p:nvSpPr>
        <p:spPr>
          <a:xfrm>
            <a:off x="8686800" y="1892807"/>
            <a:ext cx="3200400" cy="265176"/>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0" y="1929384"/>
            <a:ext cx="3108960" cy="219456"/>
          </a:xfrm>
          <a:prstGeom prst="rect">
            <a:avLst/>
          </a:prstGeom>
          <a:noFill/>
        </p:spPr>
        <p:txBody>
          <a:bodyPr wrap="square">
            <a:spAutoFit/>
          </a:bodyPr>
          <a:lstStyle/>
          <a:p>
            <a:pPr algn="l"/>
            <a:r>
              <a:rPr sz="900" b="0" i="0">
                <a:solidFill>
                  <a:srgbClr val="FFFFFF"/>
                </a:solidFill>
              </a:rPr>
              <a:t>Split across group — private charter</a:t>
            </a:r>
          </a:p>
        </p:txBody>
      </p:sp>
      <p:sp>
        <p:nvSpPr>
          <p:cNvPr id="24" name="Rectangle 23"/>
          <p:cNvSpPr/>
          <p:nvPr/>
        </p:nvSpPr>
        <p:spPr>
          <a:xfrm>
            <a:off x="365760" y="2167127"/>
            <a:ext cx="4572000" cy="265176"/>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2203703"/>
            <a:ext cx="4480560" cy="219456"/>
          </a:xfrm>
          <a:prstGeom prst="rect">
            <a:avLst/>
          </a:prstGeom>
          <a:noFill/>
        </p:spPr>
        <p:txBody>
          <a:bodyPr wrap="square">
            <a:spAutoFit/>
          </a:bodyPr>
          <a:lstStyle/>
          <a:p>
            <a:pPr algn="l"/>
            <a:r>
              <a:rPr sz="900" b="0" i="0">
                <a:solidFill>
                  <a:srgbClr val="FFFFFF"/>
                </a:solidFill>
              </a:rPr>
              <a:t>Island Day Trip (Saona)</a:t>
            </a:r>
          </a:p>
        </p:txBody>
      </p:sp>
      <p:sp>
        <p:nvSpPr>
          <p:cNvPr id="26" name="Rectangle 25"/>
          <p:cNvSpPr/>
          <p:nvPr/>
        </p:nvSpPr>
        <p:spPr>
          <a:xfrm>
            <a:off x="5029200" y="2167127"/>
            <a:ext cx="3474720" cy="265176"/>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20640" y="2203703"/>
            <a:ext cx="3383279" cy="219456"/>
          </a:xfrm>
          <a:prstGeom prst="rect">
            <a:avLst/>
          </a:prstGeom>
          <a:noFill/>
        </p:spPr>
        <p:txBody>
          <a:bodyPr wrap="square">
            <a:spAutoFit/>
          </a:bodyPr>
          <a:lstStyle/>
          <a:p>
            <a:pPr algn="l"/>
            <a:r>
              <a:rPr sz="900" b="0" i="0">
                <a:solidFill>
                  <a:srgbClr val="FFFFFF"/>
                </a:solidFill>
              </a:rPr>
              <a:t>$60 – $90</a:t>
            </a:r>
          </a:p>
        </p:txBody>
      </p:sp>
      <p:sp>
        <p:nvSpPr>
          <p:cNvPr id="28" name="Rectangle 27"/>
          <p:cNvSpPr/>
          <p:nvPr/>
        </p:nvSpPr>
        <p:spPr>
          <a:xfrm>
            <a:off x="8686800" y="2167127"/>
            <a:ext cx="3200400" cy="265176"/>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78240" y="2203703"/>
            <a:ext cx="3108960" cy="219456"/>
          </a:xfrm>
          <a:prstGeom prst="rect">
            <a:avLst/>
          </a:prstGeom>
          <a:noFill/>
        </p:spPr>
        <p:txBody>
          <a:bodyPr wrap="square">
            <a:spAutoFit/>
          </a:bodyPr>
          <a:lstStyle/>
          <a:p>
            <a:pPr algn="l"/>
            <a:r>
              <a:rPr sz="900" b="0" i="0">
                <a:solidFill>
                  <a:srgbClr val="FFFFFF"/>
                </a:solidFill>
              </a:rPr>
              <a:t>Private vs. shared — go private</a:t>
            </a:r>
          </a:p>
        </p:txBody>
      </p:sp>
      <p:sp>
        <p:nvSpPr>
          <p:cNvPr id="30" name="Rectangle 29"/>
          <p:cNvSpPr/>
          <p:nvPr/>
        </p:nvSpPr>
        <p:spPr>
          <a:xfrm>
            <a:off x="365760" y="2441447"/>
            <a:ext cx="4572000" cy="265176"/>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2478023"/>
            <a:ext cx="4480560" cy="219456"/>
          </a:xfrm>
          <a:prstGeom prst="rect">
            <a:avLst/>
          </a:prstGeom>
          <a:noFill/>
        </p:spPr>
        <p:txBody>
          <a:bodyPr wrap="square">
            <a:spAutoFit/>
          </a:bodyPr>
          <a:lstStyle/>
          <a:p>
            <a:pPr algn="l"/>
            <a:r>
              <a:rPr sz="900" b="0" i="0">
                <a:solidFill>
                  <a:srgbClr val="FFFFFF"/>
                </a:solidFill>
              </a:rPr>
              <a:t>Adventure Day (Dune Buggies)</a:t>
            </a:r>
          </a:p>
        </p:txBody>
      </p:sp>
      <p:sp>
        <p:nvSpPr>
          <p:cNvPr id="32" name="Rectangle 31"/>
          <p:cNvSpPr/>
          <p:nvPr/>
        </p:nvSpPr>
        <p:spPr>
          <a:xfrm>
            <a:off x="5029200" y="2441447"/>
            <a:ext cx="3474720" cy="265176"/>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20640" y="2478023"/>
            <a:ext cx="3383279" cy="219456"/>
          </a:xfrm>
          <a:prstGeom prst="rect">
            <a:avLst/>
          </a:prstGeom>
          <a:noFill/>
        </p:spPr>
        <p:txBody>
          <a:bodyPr wrap="square">
            <a:spAutoFit/>
          </a:bodyPr>
          <a:lstStyle/>
          <a:p>
            <a:pPr algn="l"/>
            <a:r>
              <a:rPr sz="900" b="0" i="0">
                <a:solidFill>
                  <a:srgbClr val="FFFFFF"/>
                </a:solidFill>
              </a:rPr>
              <a:t>$70 – $100</a:t>
            </a:r>
          </a:p>
        </p:txBody>
      </p:sp>
      <p:sp>
        <p:nvSpPr>
          <p:cNvPr id="34" name="Rectangle 33"/>
          <p:cNvSpPr/>
          <p:nvPr/>
        </p:nvSpPr>
        <p:spPr>
          <a:xfrm>
            <a:off x="8686800" y="2441447"/>
            <a:ext cx="3200400" cy="265176"/>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78240" y="2478023"/>
            <a:ext cx="3108960" cy="219456"/>
          </a:xfrm>
          <a:prstGeom prst="rect">
            <a:avLst/>
          </a:prstGeom>
          <a:noFill/>
        </p:spPr>
        <p:txBody>
          <a:bodyPr wrap="square">
            <a:spAutoFit/>
          </a:bodyPr>
          <a:lstStyle/>
          <a:p>
            <a:pPr algn="l"/>
            <a:r>
              <a:rPr sz="900" b="0" i="0">
                <a:solidFill>
                  <a:srgbClr val="FFFFFF"/>
                </a:solidFill>
              </a:rPr>
              <a:t>Per person incl. transfer</a:t>
            </a:r>
          </a:p>
        </p:txBody>
      </p:sp>
      <p:sp>
        <p:nvSpPr>
          <p:cNvPr id="36" name="Rectangle 35"/>
          <p:cNvSpPr/>
          <p:nvPr/>
        </p:nvSpPr>
        <p:spPr>
          <a:xfrm>
            <a:off x="365760" y="2715767"/>
            <a:ext cx="4572000" cy="265176"/>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2752343"/>
            <a:ext cx="4480560" cy="219456"/>
          </a:xfrm>
          <a:prstGeom prst="rect">
            <a:avLst/>
          </a:prstGeom>
          <a:noFill/>
        </p:spPr>
        <p:txBody>
          <a:bodyPr wrap="square">
            <a:spAutoFit/>
          </a:bodyPr>
          <a:lstStyle/>
          <a:p>
            <a:pPr algn="l"/>
            <a:r>
              <a:rPr sz="900" b="0" i="0">
                <a:solidFill>
                  <a:srgbClr val="FFFFFF"/>
                </a:solidFill>
              </a:rPr>
              <a:t>Private Group Dinner</a:t>
            </a:r>
          </a:p>
        </p:txBody>
      </p:sp>
      <p:sp>
        <p:nvSpPr>
          <p:cNvPr id="38" name="Rectangle 37"/>
          <p:cNvSpPr/>
          <p:nvPr/>
        </p:nvSpPr>
        <p:spPr>
          <a:xfrm>
            <a:off x="5029200" y="2715767"/>
            <a:ext cx="3474720" cy="265176"/>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20640" y="2752343"/>
            <a:ext cx="3383279" cy="219456"/>
          </a:xfrm>
          <a:prstGeom prst="rect">
            <a:avLst/>
          </a:prstGeom>
          <a:noFill/>
        </p:spPr>
        <p:txBody>
          <a:bodyPr wrap="square">
            <a:spAutoFit/>
          </a:bodyPr>
          <a:lstStyle/>
          <a:p>
            <a:pPr algn="l"/>
            <a:r>
              <a:rPr sz="900" b="0" i="0">
                <a:solidFill>
                  <a:srgbClr val="FFFFFF"/>
                </a:solidFill>
              </a:rPr>
              <a:t>$40 – $70</a:t>
            </a:r>
          </a:p>
        </p:txBody>
      </p:sp>
      <p:sp>
        <p:nvSpPr>
          <p:cNvPr id="40" name="Rectangle 39"/>
          <p:cNvSpPr/>
          <p:nvPr/>
        </p:nvSpPr>
        <p:spPr>
          <a:xfrm>
            <a:off x="8686800" y="2715767"/>
            <a:ext cx="3200400" cy="265176"/>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78240" y="2752343"/>
            <a:ext cx="3108960" cy="219456"/>
          </a:xfrm>
          <a:prstGeom prst="rect">
            <a:avLst/>
          </a:prstGeom>
          <a:noFill/>
        </p:spPr>
        <p:txBody>
          <a:bodyPr wrap="square">
            <a:spAutoFit/>
          </a:bodyPr>
          <a:lstStyle/>
          <a:p>
            <a:pPr algn="l"/>
            <a:r>
              <a:rPr sz="900" b="0" i="0">
                <a:solidFill>
                  <a:srgbClr val="FFFFFF"/>
                </a:solidFill>
              </a:rPr>
              <a:t>Set menu + drinks per head</a:t>
            </a:r>
          </a:p>
        </p:txBody>
      </p:sp>
      <p:sp>
        <p:nvSpPr>
          <p:cNvPr id="42" name="Rectangle 41"/>
          <p:cNvSpPr/>
          <p:nvPr/>
        </p:nvSpPr>
        <p:spPr>
          <a:xfrm>
            <a:off x="365760" y="2990087"/>
            <a:ext cx="4572000" cy="265176"/>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3026663"/>
            <a:ext cx="4480560" cy="219456"/>
          </a:xfrm>
          <a:prstGeom prst="rect">
            <a:avLst/>
          </a:prstGeom>
          <a:noFill/>
        </p:spPr>
        <p:txBody>
          <a:bodyPr wrap="square">
            <a:spAutoFit/>
          </a:bodyPr>
          <a:lstStyle/>
          <a:p>
            <a:pPr algn="l"/>
            <a:r>
              <a:rPr sz="900" b="0" i="0">
                <a:solidFill>
                  <a:srgbClr val="FFFFFF"/>
                </a:solidFill>
              </a:rPr>
              <a:t>All White Night Party (Venue + DJ)</a:t>
            </a:r>
          </a:p>
        </p:txBody>
      </p:sp>
      <p:sp>
        <p:nvSpPr>
          <p:cNvPr id="44" name="Rectangle 43"/>
          <p:cNvSpPr/>
          <p:nvPr/>
        </p:nvSpPr>
        <p:spPr>
          <a:xfrm>
            <a:off x="5029200" y="2990087"/>
            <a:ext cx="3474720" cy="265176"/>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3026663"/>
            <a:ext cx="3383279" cy="219456"/>
          </a:xfrm>
          <a:prstGeom prst="rect">
            <a:avLst/>
          </a:prstGeom>
          <a:noFill/>
        </p:spPr>
        <p:txBody>
          <a:bodyPr wrap="square">
            <a:spAutoFit/>
          </a:bodyPr>
          <a:lstStyle/>
          <a:p>
            <a:pPr algn="l"/>
            <a:r>
              <a:rPr sz="900" b="0" i="0">
                <a:solidFill>
                  <a:srgbClr val="FFFFFF"/>
                </a:solidFill>
              </a:rPr>
              <a:t>$50 – $80</a:t>
            </a:r>
          </a:p>
        </p:txBody>
      </p:sp>
      <p:sp>
        <p:nvSpPr>
          <p:cNvPr id="46" name="Rectangle 45"/>
          <p:cNvSpPr/>
          <p:nvPr/>
        </p:nvSpPr>
        <p:spPr>
          <a:xfrm>
            <a:off x="8686800" y="2990087"/>
            <a:ext cx="3200400" cy="265176"/>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778240" y="3026663"/>
            <a:ext cx="3108960" cy="219456"/>
          </a:xfrm>
          <a:prstGeom prst="rect">
            <a:avLst/>
          </a:prstGeom>
          <a:noFill/>
        </p:spPr>
        <p:txBody>
          <a:bodyPr wrap="square">
            <a:spAutoFit/>
          </a:bodyPr>
          <a:lstStyle/>
          <a:p>
            <a:pPr algn="l"/>
            <a:r>
              <a:rPr sz="900" b="0" i="0">
                <a:solidFill>
                  <a:srgbClr val="FFFFFF"/>
                </a:solidFill>
              </a:rPr>
              <a:t>Per person share of venue cost</a:t>
            </a:r>
          </a:p>
        </p:txBody>
      </p:sp>
      <p:sp>
        <p:nvSpPr>
          <p:cNvPr id="48" name="Rectangle 47"/>
          <p:cNvSpPr/>
          <p:nvPr/>
        </p:nvSpPr>
        <p:spPr>
          <a:xfrm>
            <a:off x="365760" y="3264407"/>
            <a:ext cx="4572000" cy="265176"/>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3300983"/>
            <a:ext cx="4480560" cy="219456"/>
          </a:xfrm>
          <a:prstGeom prst="rect">
            <a:avLst/>
          </a:prstGeom>
          <a:noFill/>
        </p:spPr>
        <p:txBody>
          <a:bodyPr wrap="square">
            <a:spAutoFit/>
          </a:bodyPr>
          <a:lstStyle/>
          <a:p>
            <a:pPr algn="l"/>
            <a:r>
              <a:rPr sz="900" b="0" i="0">
                <a:solidFill>
                  <a:srgbClr val="FFFFFF"/>
                </a:solidFill>
              </a:rPr>
              <a:t>Airport Transfers (Round Trip)</a:t>
            </a:r>
          </a:p>
        </p:txBody>
      </p:sp>
      <p:sp>
        <p:nvSpPr>
          <p:cNvPr id="50" name="Rectangle 49"/>
          <p:cNvSpPr/>
          <p:nvPr/>
        </p:nvSpPr>
        <p:spPr>
          <a:xfrm>
            <a:off x="5029200" y="3264407"/>
            <a:ext cx="3474720" cy="265176"/>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20640" y="3300983"/>
            <a:ext cx="3383279" cy="219456"/>
          </a:xfrm>
          <a:prstGeom prst="rect">
            <a:avLst/>
          </a:prstGeom>
          <a:noFill/>
        </p:spPr>
        <p:txBody>
          <a:bodyPr wrap="square">
            <a:spAutoFit/>
          </a:bodyPr>
          <a:lstStyle/>
          <a:p>
            <a:pPr algn="l"/>
            <a:r>
              <a:rPr sz="900" b="0" i="0">
                <a:solidFill>
                  <a:srgbClr val="FFFFFF"/>
                </a:solidFill>
              </a:rPr>
              <a:t>$30 – $50</a:t>
            </a:r>
          </a:p>
        </p:txBody>
      </p:sp>
      <p:sp>
        <p:nvSpPr>
          <p:cNvPr id="52" name="Rectangle 51"/>
          <p:cNvSpPr/>
          <p:nvPr/>
        </p:nvSpPr>
        <p:spPr>
          <a:xfrm>
            <a:off x="8686800" y="3264407"/>
            <a:ext cx="3200400" cy="265176"/>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778240" y="3300983"/>
            <a:ext cx="3108960" cy="219456"/>
          </a:xfrm>
          <a:prstGeom prst="rect">
            <a:avLst/>
          </a:prstGeom>
          <a:noFill/>
        </p:spPr>
        <p:txBody>
          <a:bodyPr wrap="square">
            <a:spAutoFit/>
          </a:bodyPr>
          <a:lstStyle/>
          <a:p>
            <a:pPr algn="l"/>
            <a:r>
              <a:rPr sz="900" b="0" i="0">
                <a:solidFill>
                  <a:srgbClr val="FFFFFF"/>
                </a:solidFill>
              </a:rPr>
              <a:t>Group van — split cost</a:t>
            </a:r>
          </a:p>
        </p:txBody>
      </p:sp>
      <p:sp>
        <p:nvSpPr>
          <p:cNvPr id="54" name="Rectangle 53"/>
          <p:cNvSpPr/>
          <p:nvPr/>
        </p:nvSpPr>
        <p:spPr>
          <a:xfrm>
            <a:off x="365760" y="3538727"/>
            <a:ext cx="4572000" cy="265176"/>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3575303"/>
            <a:ext cx="4480560" cy="219456"/>
          </a:xfrm>
          <a:prstGeom prst="rect">
            <a:avLst/>
          </a:prstGeom>
          <a:noFill/>
        </p:spPr>
        <p:txBody>
          <a:bodyPr wrap="square">
            <a:spAutoFit/>
          </a:bodyPr>
          <a:lstStyle/>
          <a:p>
            <a:pPr algn="l"/>
            <a:r>
              <a:rPr sz="900" b="0" i="0">
                <a:solidFill>
                  <a:srgbClr val="FFFFFF"/>
                </a:solidFill>
              </a:rPr>
              <a:t>Welcome Gift Bag (Makena Branded)</a:t>
            </a:r>
          </a:p>
        </p:txBody>
      </p:sp>
      <p:sp>
        <p:nvSpPr>
          <p:cNvPr id="56" name="Rectangle 55"/>
          <p:cNvSpPr/>
          <p:nvPr/>
        </p:nvSpPr>
        <p:spPr>
          <a:xfrm>
            <a:off x="5029200" y="3538727"/>
            <a:ext cx="3474720" cy="265176"/>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120640" y="3575303"/>
            <a:ext cx="3383279" cy="219456"/>
          </a:xfrm>
          <a:prstGeom prst="rect">
            <a:avLst/>
          </a:prstGeom>
          <a:noFill/>
        </p:spPr>
        <p:txBody>
          <a:bodyPr wrap="square">
            <a:spAutoFit/>
          </a:bodyPr>
          <a:lstStyle/>
          <a:p>
            <a:pPr algn="l"/>
            <a:r>
              <a:rPr sz="900" b="0" i="0">
                <a:solidFill>
                  <a:srgbClr val="FFFFFF"/>
                </a:solidFill>
              </a:rPr>
              <a:t>$40 – $60</a:t>
            </a:r>
          </a:p>
        </p:txBody>
      </p:sp>
      <p:sp>
        <p:nvSpPr>
          <p:cNvPr id="58" name="Rectangle 57"/>
          <p:cNvSpPr/>
          <p:nvPr/>
        </p:nvSpPr>
        <p:spPr>
          <a:xfrm>
            <a:off x="8686800" y="3538727"/>
            <a:ext cx="3200400" cy="265176"/>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78240" y="3575303"/>
            <a:ext cx="3108960" cy="219456"/>
          </a:xfrm>
          <a:prstGeom prst="rect">
            <a:avLst/>
          </a:prstGeom>
          <a:noFill/>
        </p:spPr>
        <p:txBody>
          <a:bodyPr wrap="square">
            <a:spAutoFit/>
          </a:bodyPr>
          <a:lstStyle/>
          <a:p>
            <a:pPr algn="l"/>
            <a:r>
              <a:rPr sz="900" b="0" i="0">
                <a:solidFill>
                  <a:srgbClr val="FFFFFF"/>
                </a:solidFill>
              </a:rPr>
              <a:t>Tote, towel, wristband, snacks, etc.</a:t>
            </a:r>
          </a:p>
        </p:txBody>
      </p:sp>
      <p:sp>
        <p:nvSpPr>
          <p:cNvPr id="60" name="Rectangle 59"/>
          <p:cNvSpPr/>
          <p:nvPr/>
        </p:nvSpPr>
        <p:spPr>
          <a:xfrm>
            <a:off x="365760" y="3813047"/>
            <a:ext cx="4572000" cy="265176"/>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3849623"/>
            <a:ext cx="4480560" cy="219456"/>
          </a:xfrm>
          <a:prstGeom prst="rect">
            <a:avLst/>
          </a:prstGeom>
          <a:noFill/>
        </p:spPr>
        <p:txBody>
          <a:bodyPr wrap="square">
            <a:spAutoFit/>
          </a:bodyPr>
          <a:lstStyle/>
          <a:p>
            <a:pPr algn="l"/>
            <a:r>
              <a:rPr sz="900" b="0" i="0">
                <a:solidFill>
                  <a:srgbClr val="FFFFFF"/>
                </a:solidFill>
              </a:rPr>
              <a:t>Content Creator / Photographer</a:t>
            </a:r>
          </a:p>
        </p:txBody>
      </p:sp>
      <p:sp>
        <p:nvSpPr>
          <p:cNvPr id="62" name="Rectangle 61"/>
          <p:cNvSpPr/>
          <p:nvPr/>
        </p:nvSpPr>
        <p:spPr>
          <a:xfrm>
            <a:off x="5029200" y="3813047"/>
            <a:ext cx="3474720" cy="265176"/>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120640" y="3849623"/>
            <a:ext cx="3383279" cy="219456"/>
          </a:xfrm>
          <a:prstGeom prst="rect">
            <a:avLst/>
          </a:prstGeom>
          <a:noFill/>
        </p:spPr>
        <p:txBody>
          <a:bodyPr wrap="square">
            <a:spAutoFit/>
          </a:bodyPr>
          <a:lstStyle/>
          <a:p>
            <a:pPr algn="l"/>
            <a:r>
              <a:rPr sz="900" b="0" i="0">
                <a:solidFill>
                  <a:srgbClr val="FFFFFF"/>
                </a:solidFill>
              </a:rPr>
              <a:t>$15 – $25</a:t>
            </a:r>
          </a:p>
        </p:txBody>
      </p:sp>
      <p:sp>
        <p:nvSpPr>
          <p:cNvPr id="64" name="Rectangle 63"/>
          <p:cNvSpPr/>
          <p:nvPr/>
        </p:nvSpPr>
        <p:spPr>
          <a:xfrm>
            <a:off x="8686800" y="3813047"/>
            <a:ext cx="3200400" cy="265176"/>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778240" y="3849623"/>
            <a:ext cx="3108960" cy="219456"/>
          </a:xfrm>
          <a:prstGeom prst="rect">
            <a:avLst/>
          </a:prstGeom>
          <a:noFill/>
        </p:spPr>
        <p:txBody>
          <a:bodyPr wrap="square">
            <a:spAutoFit/>
          </a:bodyPr>
          <a:lstStyle/>
          <a:p>
            <a:pPr algn="l"/>
            <a:r>
              <a:rPr sz="900" b="0" i="0">
                <a:solidFill>
                  <a:srgbClr val="FFFFFF"/>
                </a:solidFill>
              </a:rPr>
              <a:t>Split across group</a:t>
            </a:r>
          </a:p>
        </p:txBody>
      </p:sp>
      <p:sp>
        <p:nvSpPr>
          <p:cNvPr id="66" name="Rectangle 65"/>
          <p:cNvSpPr/>
          <p:nvPr/>
        </p:nvSpPr>
        <p:spPr>
          <a:xfrm>
            <a:off x="365760" y="4087367"/>
            <a:ext cx="4572000" cy="265176"/>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57200" y="4123943"/>
            <a:ext cx="4480560" cy="219456"/>
          </a:xfrm>
          <a:prstGeom prst="rect">
            <a:avLst/>
          </a:prstGeom>
          <a:noFill/>
        </p:spPr>
        <p:txBody>
          <a:bodyPr wrap="square">
            <a:spAutoFit/>
          </a:bodyPr>
          <a:lstStyle/>
          <a:p>
            <a:pPr algn="l"/>
            <a:r>
              <a:rPr sz="900" b="0" i="0">
                <a:solidFill>
                  <a:srgbClr val="FFFFFF"/>
                </a:solidFill>
              </a:rPr>
              <a:t>Ground Coordinator</a:t>
            </a:r>
          </a:p>
        </p:txBody>
      </p:sp>
      <p:sp>
        <p:nvSpPr>
          <p:cNvPr id="68" name="Rectangle 67"/>
          <p:cNvSpPr/>
          <p:nvPr/>
        </p:nvSpPr>
        <p:spPr>
          <a:xfrm>
            <a:off x="5029200" y="4087367"/>
            <a:ext cx="3474720" cy="265176"/>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120640" y="4123943"/>
            <a:ext cx="3383279" cy="219456"/>
          </a:xfrm>
          <a:prstGeom prst="rect">
            <a:avLst/>
          </a:prstGeom>
          <a:noFill/>
        </p:spPr>
        <p:txBody>
          <a:bodyPr wrap="square">
            <a:spAutoFit/>
          </a:bodyPr>
          <a:lstStyle/>
          <a:p>
            <a:pPr algn="l"/>
            <a:r>
              <a:rPr sz="900" b="0" i="0">
                <a:solidFill>
                  <a:srgbClr val="FFFFFF"/>
                </a:solidFill>
              </a:rPr>
              <a:t>$10 – $20</a:t>
            </a:r>
          </a:p>
        </p:txBody>
      </p:sp>
      <p:sp>
        <p:nvSpPr>
          <p:cNvPr id="70" name="Rectangle 69"/>
          <p:cNvSpPr/>
          <p:nvPr/>
        </p:nvSpPr>
        <p:spPr>
          <a:xfrm>
            <a:off x="8686800" y="4087367"/>
            <a:ext cx="3200400" cy="265176"/>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778240" y="4123943"/>
            <a:ext cx="3108960" cy="219456"/>
          </a:xfrm>
          <a:prstGeom prst="rect">
            <a:avLst/>
          </a:prstGeom>
          <a:noFill/>
        </p:spPr>
        <p:txBody>
          <a:bodyPr wrap="square">
            <a:spAutoFit/>
          </a:bodyPr>
          <a:lstStyle/>
          <a:p>
            <a:pPr algn="l"/>
            <a:r>
              <a:rPr sz="900" b="0" i="0">
                <a:solidFill>
                  <a:srgbClr val="FFFFFF"/>
                </a:solidFill>
              </a:rPr>
              <a:t>Local hire for the week</a:t>
            </a:r>
          </a:p>
        </p:txBody>
      </p:sp>
      <p:sp>
        <p:nvSpPr>
          <p:cNvPr id="72" name="Rectangle 71"/>
          <p:cNvSpPr/>
          <p:nvPr/>
        </p:nvSpPr>
        <p:spPr>
          <a:xfrm>
            <a:off x="365760" y="4361687"/>
            <a:ext cx="4572000" cy="265176"/>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57200" y="4398263"/>
            <a:ext cx="4480560" cy="219456"/>
          </a:xfrm>
          <a:prstGeom prst="rect">
            <a:avLst/>
          </a:prstGeom>
          <a:noFill/>
        </p:spPr>
        <p:txBody>
          <a:bodyPr wrap="square">
            <a:spAutoFit/>
          </a:bodyPr>
          <a:lstStyle/>
          <a:p>
            <a:pPr algn="l"/>
            <a:r>
              <a:rPr sz="900" b="1" i="0">
                <a:solidFill>
                  <a:srgbClr val="86EFA9"/>
                </a:solidFill>
              </a:rPr>
              <a:t>TOTAL COST PER PERSON</a:t>
            </a:r>
          </a:p>
        </p:txBody>
      </p:sp>
      <p:sp>
        <p:nvSpPr>
          <p:cNvPr id="74" name="Rectangle 73"/>
          <p:cNvSpPr/>
          <p:nvPr/>
        </p:nvSpPr>
        <p:spPr>
          <a:xfrm>
            <a:off x="5029200" y="4361687"/>
            <a:ext cx="3474720" cy="265176"/>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120640" y="4398263"/>
            <a:ext cx="3383279" cy="219456"/>
          </a:xfrm>
          <a:prstGeom prst="rect">
            <a:avLst/>
          </a:prstGeom>
          <a:noFill/>
        </p:spPr>
        <p:txBody>
          <a:bodyPr wrap="square">
            <a:spAutoFit/>
          </a:bodyPr>
          <a:lstStyle/>
          <a:p>
            <a:pPr algn="l"/>
            <a:r>
              <a:rPr sz="900" b="1" i="0">
                <a:solidFill>
                  <a:srgbClr val="86EFA9"/>
                </a:solidFill>
              </a:rPr>
              <a:t>$745 – $1,215</a:t>
            </a:r>
          </a:p>
        </p:txBody>
      </p:sp>
      <p:sp>
        <p:nvSpPr>
          <p:cNvPr id="76" name="Rectangle 75"/>
          <p:cNvSpPr/>
          <p:nvPr/>
        </p:nvSpPr>
        <p:spPr>
          <a:xfrm>
            <a:off x="8686800" y="4361687"/>
            <a:ext cx="3200400" cy="265176"/>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778240" y="4398263"/>
            <a:ext cx="3108960" cy="219456"/>
          </a:xfrm>
          <a:prstGeom prst="rect">
            <a:avLst/>
          </a:prstGeom>
          <a:noFill/>
        </p:spPr>
        <p:txBody>
          <a:bodyPr wrap="square">
            <a:spAutoFit/>
          </a:bodyPr>
          <a:lstStyle/>
          <a:p>
            <a:pPr algn="l"/>
            <a:r>
              <a:rPr sz="900" b="1" i="0">
                <a:solidFill>
                  <a:srgbClr val="86EFA9"/>
                </a:solidFill>
              </a:rPr>
              <a:t>Target retail: $1,500 – $2,000+</a:t>
            </a:r>
          </a:p>
        </p:txBody>
      </p:sp>
      <p:sp>
        <p:nvSpPr>
          <p:cNvPr id="78" name="Rectangle 77"/>
          <p:cNvSpPr/>
          <p:nvPr/>
        </p:nvSpPr>
        <p:spPr>
          <a:xfrm>
            <a:off x="365760" y="4727447"/>
            <a:ext cx="11457432" cy="640080"/>
          </a:xfrm>
          <a:prstGeom prst="rect">
            <a:avLst/>
          </a:prstGeom>
          <a:solidFill>
            <a:srgbClr val="0B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48640" y="4818887"/>
            <a:ext cx="11064240" cy="457200"/>
          </a:xfrm>
          <a:prstGeom prst="rect">
            <a:avLst/>
          </a:prstGeom>
          <a:noFill/>
        </p:spPr>
        <p:txBody>
          <a:bodyPr wrap="square">
            <a:spAutoFit/>
          </a:bodyPr>
          <a:lstStyle/>
          <a:p>
            <a:pPr algn="l"/>
            <a:r>
              <a:rPr sz="1000" b="1" i="0">
                <a:solidFill>
                  <a:srgbClr val="86EFA9"/>
                </a:solidFill>
              </a:rPr>
              <a:t>📈  POTENTIAL MARGIN:  At 25 guests paying $1,800 each = $45,000 revenue.  Estimated costs at $1,100/head = $27,500.  Gross margin: ~$17,500.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B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594360"/>
          </a:xfrm>
          <a:prstGeom prst="rect">
            <a:avLst/>
          </a:prstGeom>
          <a:noFill/>
        </p:spPr>
        <p:txBody>
          <a:bodyPr wrap="square">
            <a:spAutoFit/>
          </a:bodyPr>
          <a:lstStyle/>
          <a:p>
            <a:pPr algn="l"/>
            <a:r>
              <a:rPr sz="2600" b="1" i="0">
                <a:solidFill>
                  <a:srgbClr val="FFFFFF"/>
                </a:solidFill>
              </a:rPr>
              <a:t>📋  DAILY MANAGER CHECK-IN PROTOCOL</a:t>
            </a:r>
          </a:p>
        </p:txBody>
      </p:sp>
      <p:sp>
        <p:nvSpPr>
          <p:cNvPr id="4" name="TextBox 3"/>
          <p:cNvSpPr txBox="1"/>
          <p:nvPr/>
        </p:nvSpPr>
        <p:spPr>
          <a:xfrm>
            <a:off x="457200" y="713232"/>
            <a:ext cx="10972800" cy="228600"/>
          </a:xfrm>
          <a:prstGeom prst="rect">
            <a:avLst/>
          </a:prstGeom>
          <a:noFill/>
        </p:spPr>
        <p:txBody>
          <a:bodyPr wrap="square">
            <a:spAutoFit/>
          </a:bodyPr>
          <a:lstStyle/>
          <a:p>
            <a:pPr algn="l"/>
            <a:r>
              <a:rPr sz="1000" b="0" i="0">
                <a:solidFill>
                  <a:srgbClr val="86EFA9"/>
                </a:solidFill>
              </a:rPr>
              <a:t>You run the team, not the tasks. These daily rituals keep you in control without doing the work yourself.</a:t>
            </a:r>
          </a:p>
        </p:txBody>
      </p:sp>
      <p:sp>
        <p:nvSpPr>
          <p:cNvPr id="5" name="Rectangle 4"/>
          <p:cNvSpPr/>
          <p:nvPr/>
        </p:nvSpPr>
        <p:spPr>
          <a:xfrm>
            <a:off x="365760" y="1078992"/>
            <a:ext cx="5669280" cy="178308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170432"/>
            <a:ext cx="5303520" cy="274320"/>
          </a:xfrm>
          <a:prstGeom prst="rect">
            <a:avLst/>
          </a:prstGeom>
          <a:noFill/>
        </p:spPr>
        <p:txBody>
          <a:bodyPr wrap="square">
            <a:spAutoFit/>
          </a:bodyPr>
          <a:lstStyle/>
          <a:p>
            <a:pPr algn="l"/>
            <a:r>
              <a:rPr sz="1000" b="1" i="0">
                <a:solidFill>
                  <a:srgbClr val="86EFA9"/>
                </a:solidFill>
              </a:rPr>
              <a:t>🌅  7:00 AM — Morning Standup (15 min)</a:t>
            </a:r>
          </a:p>
        </p:txBody>
      </p:sp>
      <p:sp>
        <p:nvSpPr>
          <p:cNvPr id="7" name="TextBox 6"/>
          <p:cNvSpPr txBox="1"/>
          <p:nvPr/>
        </p:nvSpPr>
        <p:spPr>
          <a:xfrm>
            <a:off x="530352" y="1481328"/>
            <a:ext cx="5303520" cy="1280160"/>
          </a:xfrm>
          <a:prstGeom prst="rect">
            <a:avLst/>
          </a:prstGeom>
          <a:noFill/>
        </p:spPr>
        <p:txBody>
          <a:bodyPr wrap="square">
            <a:spAutoFit/>
          </a:bodyPr>
          <a:lstStyle/>
          <a:p>
            <a:pPr algn="l"/>
            <a:r>
              <a:rPr sz="850" b="0" i="0">
                <a:solidFill>
                  <a:srgbClr val="FFFFFF"/>
                </a:solidFill>
              </a:rPr>
              <a:t>Every morning: quick voice/video call with all delegates. Each person gives:
• What they have confirmed for today
• Any blockers or issues
• What they need from you
You listen, make one or two decisions, and let them execute. Keep it under 15 minutes.</a:t>
            </a:r>
          </a:p>
        </p:txBody>
      </p:sp>
      <p:sp>
        <p:nvSpPr>
          <p:cNvPr id="8" name="Rectangle 7"/>
          <p:cNvSpPr/>
          <p:nvPr/>
        </p:nvSpPr>
        <p:spPr>
          <a:xfrm>
            <a:off x="6263640" y="1078992"/>
            <a:ext cx="5669280" cy="178308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2" y="1170432"/>
            <a:ext cx="5303520" cy="274320"/>
          </a:xfrm>
          <a:prstGeom prst="rect">
            <a:avLst/>
          </a:prstGeom>
          <a:noFill/>
        </p:spPr>
        <p:txBody>
          <a:bodyPr wrap="square">
            <a:spAutoFit/>
          </a:bodyPr>
          <a:lstStyle/>
          <a:p>
            <a:pPr algn="l"/>
            <a:r>
              <a:rPr sz="1000" b="1" i="0">
                <a:solidFill>
                  <a:srgbClr val="86EFA9"/>
                </a:solidFill>
              </a:rPr>
              <a:t>📱  Throughout the Day — Delegate Pings</a:t>
            </a:r>
          </a:p>
        </p:txBody>
      </p:sp>
      <p:sp>
        <p:nvSpPr>
          <p:cNvPr id="10" name="TextBox 9"/>
          <p:cNvSpPr txBox="1"/>
          <p:nvPr/>
        </p:nvSpPr>
        <p:spPr>
          <a:xfrm>
            <a:off x="6428232" y="1481328"/>
            <a:ext cx="5303520" cy="1280160"/>
          </a:xfrm>
          <a:prstGeom prst="rect">
            <a:avLst/>
          </a:prstGeom>
          <a:noFill/>
        </p:spPr>
        <p:txBody>
          <a:bodyPr wrap="square">
            <a:spAutoFit/>
          </a:bodyPr>
          <a:lstStyle/>
          <a:p>
            <a:pPr algn="l"/>
            <a:r>
              <a:rPr sz="850" b="0" i="0">
                <a:solidFill>
                  <a:srgbClr val="FFFFFF"/>
                </a:solidFill>
              </a:rPr>
              <a:t>Each delegate sends you a simple status update at the start of each activity:
'Catamaran departed. 24 guests on board. Open bar running. DJ is great.'
You reply with a thumbs up or a redirect. You are never surprised by what's happening.</a:t>
            </a:r>
          </a:p>
        </p:txBody>
      </p:sp>
      <p:sp>
        <p:nvSpPr>
          <p:cNvPr id="11" name="Rectangle 10"/>
          <p:cNvSpPr/>
          <p:nvPr/>
        </p:nvSpPr>
        <p:spPr>
          <a:xfrm>
            <a:off x="365760" y="2953511"/>
            <a:ext cx="5669280" cy="178308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3044951"/>
            <a:ext cx="5303520" cy="274320"/>
          </a:xfrm>
          <a:prstGeom prst="rect">
            <a:avLst/>
          </a:prstGeom>
          <a:noFill/>
        </p:spPr>
        <p:txBody>
          <a:bodyPr wrap="square">
            <a:spAutoFit/>
          </a:bodyPr>
          <a:lstStyle/>
          <a:p>
            <a:pPr algn="l"/>
            <a:r>
              <a:rPr sz="1000" b="1" i="0">
                <a:solidFill>
                  <a:srgbClr val="86EFA9"/>
                </a:solidFill>
              </a:rPr>
              <a:t>🌙  9:00 PM — Evening Review (10 min)</a:t>
            </a:r>
          </a:p>
        </p:txBody>
      </p:sp>
      <p:sp>
        <p:nvSpPr>
          <p:cNvPr id="13" name="TextBox 12"/>
          <p:cNvSpPr txBox="1"/>
          <p:nvPr/>
        </p:nvSpPr>
        <p:spPr>
          <a:xfrm>
            <a:off x="530352" y="3355847"/>
            <a:ext cx="5303520" cy="1280160"/>
          </a:xfrm>
          <a:prstGeom prst="rect">
            <a:avLst/>
          </a:prstGeom>
          <a:noFill/>
        </p:spPr>
        <p:txBody>
          <a:bodyPr wrap="square">
            <a:spAutoFit/>
          </a:bodyPr>
          <a:lstStyle/>
          <a:p>
            <a:pPr algn="l"/>
            <a:r>
              <a:rPr sz="850" b="0" i="0">
                <a:solidFill>
                  <a:srgbClr val="FFFFFF"/>
                </a:solidFill>
              </a:rPr>
              <a:t>End-of-day quick chat with Ground Coordinator:
• What went well today (celebrate it)
• What needs fixing for tomorrow
• Confirm next day's schedule
You update the group WhatsApp with a short 'Day X wrap' message to guests.</a:t>
            </a:r>
          </a:p>
        </p:txBody>
      </p:sp>
      <p:sp>
        <p:nvSpPr>
          <p:cNvPr id="14" name="Rectangle 13"/>
          <p:cNvSpPr/>
          <p:nvPr/>
        </p:nvSpPr>
        <p:spPr>
          <a:xfrm>
            <a:off x="6263640" y="2953511"/>
            <a:ext cx="5669280" cy="178308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2" y="3044951"/>
            <a:ext cx="5303520" cy="274320"/>
          </a:xfrm>
          <a:prstGeom prst="rect">
            <a:avLst/>
          </a:prstGeom>
          <a:noFill/>
        </p:spPr>
        <p:txBody>
          <a:bodyPr wrap="square">
            <a:spAutoFit/>
          </a:bodyPr>
          <a:lstStyle/>
          <a:p>
            <a:pPr algn="l"/>
            <a:r>
              <a:rPr sz="1000" b="1" i="0">
                <a:solidFill>
                  <a:srgbClr val="86EFA9"/>
                </a:solidFill>
              </a:rPr>
              <a:t>🚨  Issue Escalation Protocol</a:t>
            </a:r>
          </a:p>
        </p:txBody>
      </p:sp>
      <p:sp>
        <p:nvSpPr>
          <p:cNvPr id="16" name="TextBox 15"/>
          <p:cNvSpPr txBox="1"/>
          <p:nvPr/>
        </p:nvSpPr>
        <p:spPr>
          <a:xfrm>
            <a:off x="6428232" y="3355847"/>
            <a:ext cx="5303520" cy="1280160"/>
          </a:xfrm>
          <a:prstGeom prst="rect">
            <a:avLst/>
          </a:prstGeom>
          <a:noFill/>
        </p:spPr>
        <p:txBody>
          <a:bodyPr wrap="square">
            <a:spAutoFit/>
          </a:bodyPr>
          <a:lstStyle/>
          <a:p>
            <a:pPr algn="l"/>
            <a:r>
              <a:rPr sz="850" b="0" i="0">
                <a:solidFill>
                  <a:srgbClr val="FFFFFF"/>
                </a:solidFill>
              </a:rPr>
              <a:t>Delegates handle Level 1 (minor issues) independently.
Delegate escalates Level 2 (guest complaints, vendor fail) to you via a direct call.
You + Ground Coordinator handle Level 3 (medical, safety, cancellations) together immediately.
No drama. Calm, decisive, fast.</a:t>
            </a:r>
          </a:p>
        </p:txBody>
      </p:sp>
      <p:sp>
        <p:nvSpPr>
          <p:cNvPr id="17" name="Rectangle 16"/>
          <p:cNvSpPr/>
          <p:nvPr/>
        </p:nvSpPr>
        <p:spPr>
          <a:xfrm>
            <a:off x="365760" y="4828031"/>
            <a:ext cx="5669280" cy="178308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4919471"/>
            <a:ext cx="5303520" cy="274320"/>
          </a:xfrm>
          <a:prstGeom prst="rect">
            <a:avLst/>
          </a:prstGeom>
          <a:noFill/>
        </p:spPr>
        <p:txBody>
          <a:bodyPr wrap="square">
            <a:spAutoFit/>
          </a:bodyPr>
          <a:lstStyle/>
          <a:p>
            <a:pPr algn="l"/>
            <a:r>
              <a:rPr sz="1000" b="1" i="0">
                <a:solidFill>
                  <a:srgbClr val="86EFA9"/>
                </a:solidFill>
              </a:rPr>
              <a:t>📊  Budget Check (Daily)</a:t>
            </a:r>
          </a:p>
        </p:txBody>
      </p:sp>
      <p:sp>
        <p:nvSpPr>
          <p:cNvPr id="19" name="TextBox 18"/>
          <p:cNvSpPr txBox="1"/>
          <p:nvPr/>
        </p:nvSpPr>
        <p:spPr>
          <a:xfrm>
            <a:off x="530352" y="5230368"/>
            <a:ext cx="5303520" cy="1280160"/>
          </a:xfrm>
          <a:prstGeom prst="rect">
            <a:avLst/>
          </a:prstGeom>
          <a:noFill/>
        </p:spPr>
        <p:txBody>
          <a:bodyPr wrap="square">
            <a:spAutoFit/>
          </a:bodyPr>
          <a:lstStyle/>
          <a:p>
            <a:pPr algn="l"/>
            <a:r>
              <a:rPr sz="850" b="0" i="0">
                <a:solidFill>
                  <a:srgbClr val="FFFFFF"/>
                </a:solidFill>
              </a:rPr>
              <a:t>Ground Coordinator or you reviews the daily spend against budget.
Any unplanned spend over $200 requires your approval.
All receipts collected daily — no chasing at the end of the trip.</a:t>
            </a:r>
          </a:p>
        </p:txBody>
      </p:sp>
      <p:sp>
        <p:nvSpPr>
          <p:cNvPr id="20" name="Rectangle 19"/>
          <p:cNvSpPr/>
          <p:nvPr/>
        </p:nvSpPr>
        <p:spPr>
          <a:xfrm>
            <a:off x="6263640" y="4828031"/>
            <a:ext cx="5669280" cy="178308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919471"/>
            <a:ext cx="5303520" cy="274320"/>
          </a:xfrm>
          <a:prstGeom prst="rect">
            <a:avLst/>
          </a:prstGeom>
          <a:noFill/>
        </p:spPr>
        <p:txBody>
          <a:bodyPr wrap="square">
            <a:spAutoFit/>
          </a:bodyPr>
          <a:lstStyle/>
          <a:p>
            <a:pPr algn="l"/>
            <a:r>
              <a:rPr sz="1000" b="1" i="0">
                <a:solidFill>
                  <a:srgbClr val="86EFA9"/>
                </a:solidFill>
              </a:rPr>
              <a:t>🎯  Guest Pulse Check</a:t>
            </a:r>
          </a:p>
        </p:txBody>
      </p:sp>
      <p:sp>
        <p:nvSpPr>
          <p:cNvPr id="22" name="TextBox 21"/>
          <p:cNvSpPr txBox="1"/>
          <p:nvPr/>
        </p:nvSpPr>
        <p:spPr>
          <a:xfrm>
            <a:off x="6428232" y="5230368"/>
            <a:ext cx="5303520" cy="1280160"/>
          </a:xfrm>
          <a:prstGeom prst="rect">
            <a:avLst/>
          </a:prstGeom>
          <a:noFill/>
        </p:spPr>
        <p:txBody>
          <a:bodyPr wrap="square">
            <a:spAutoFit/>
          </a:bodyPr>
          <a:lstStyle/>
          <a:p>
            <a:pPr algn="l"/>
            <a:r>
              <a:rPr sz="850" b="0" i="0">
                <a:solidFill>
                  <a:srgbClr val="FFFFFF"/>
                </a:solidFill>
              </a:rPr>
              <a:t>Guest Services Lead reports guest sentiment daily:
• Any concerns raised in WhatsApp?
• Anyone unhappy with their room?
• Any special requests for tomorrow?
Proactive issue resolution = zero public complaints.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B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73152" cy="6858000"/>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0972800" cy="640080"/>
          </a:xfrm>
          <a:prstGeom prst="rect">
            <a:avLst/>
          </a:prstGeom>
          <a:noFill/>
        </p:spPr>
        <p:txBody>
          <a:bodyPr wrap="square">
            <a:spAutoFit/>
          </a:bodyPr>
          <a:lstStyle/>
          <a:p>
            <a:pPr algn="ctr"/>
            <a:r>
              <a:rPr sz="3600" b="1" i="0">
                <a:solidFill>
                  <a:srgbClr val="FFFFFF"/>
                </a:solidFill>
              </a:rPr>
              <a:t>WHAT HAPPENS NEXT</a:t>
            </a:r>
          </a:p>
        </p:txBody>
      </p:sp>
      <p:sp>
        <p:nvSpPr>
          <p:cNvPr id="5" name="TextBox 4"/>
          <p:cNvSpPr txBox="1"/>
          <p:nvPr/>
        </p:nvSpPr>
        <p:spPr>
          <a:xfrm>
            <a:off x="457200" y="2103120"/>
            <a:ext cx="10972800" cy="365760"/>
          </a:xfrm>
          <a:prstGeom prst="rect">
            <a:avLst/>
          </a:prstGeom>
          <a:noFill/>
        </p:spPr>
        <p:txBody>
          <a:bodyPr wrap="square">
            <a:spAutoFit/>
          </a:bodyPr>
          <a:lstStyle/>
          <a:p>
            <a:pPr algn="ctr"/>
            <a:r>
              <a:rPr sz="1300" b="0" i="0">
                <a:solidFill>
                  <a:srgbClr val="A0A0A0"/>
                </a:solidFill>
              </a:rPr>
              <a:t>Your immediate action items to get this trip off the ground.</a:t>
            </a:r>
          </a:p>
        </p:txBody>
      </p:sp>
      <p:sp>
        <p:nvSpPr>
          <p:cNvPr id="6" name="Rectangle 5"/>
          <p:cNvSpPr/>
          <p:nvPr/>
        </p:nvSpPr>
        <p:spPr>
          <a:xfrm>
            <a:off x="914400" y="2651760"/>
            <a:ext cx="502920" cy="34747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688336"/>
            <a:ext cx="502920" cy="274320"/>
          </a:xfrm>
          <a:prstGeom prst="rect">
            <a:avLst/>
          </a:prstGeom>
          <a:noFill/>
        </p:spPr>
        <p:txBody>
          <a:bodyPr wrap="square">
            <a:spAutoFit/>
          </a:bodyPr>
          <a:lstStyle/>
          <a:p>
            <a:pPr algn="ctr"/>
            <a:r>
              <a:rPr sz="1200" b="1" i="0">
                <a:solidFill>
                  <a:srgbClr val="0A0A0A"/>
                </a:solidFill>
              </a:rPr>
              <a:t>01</a:t>
            </a:r>
          </a:p>
        </p:txBody>
      </p:sp>
      <p:sp>
        <p:nvSpPr>
          <p:cNvPr id="8" name="TextBox 7"/>
          <p:cNvSpPr txBox="1"/>
          <p:nvPr/>
        </p:nvSpPr>
        <p:spPr>
          <a:xfrm>
            <a:off x="1554480" y="2688336"/>
            <a:ext cx="9601200" cy="292608"/>
          </a:xfrm>
          <a:prstGeom prst="rect">
            <a:avLst/>
          </a:prstGeom>
          <a:noFill/>
        </p:spPr>
        <p:txBody>
          <a:bodyPr wrap="square">
            <a:spAutoFit/>
          </a:bodyPr>
          <a:lstStyle/>
          <a:p>
            <a:pPr algn="l"/>
            <a:r>
              <a:rPr sz="1100" b="0" i="0">
                <a:solidFill>
                  <a:srgbClr val="FFFFFF"/>
                </a:solidFill>
              </a:rPr>
              <a:t>Launch the Punta Cana interest form on makenaevents.com/trips — NOW.</a:t>
            </a:r>
          </a:p>
        </p:txBody>
      </p:sp>
      <p:sp>
        <p:nvSpPr>
          <p:cNvPr id="9" name="Rectangle 8"/>
          <p:cNvSpPr/>
          <p:nvPr/>
        </p:nvSpPr>
        <p:spPr>
          <a:xfrm>
            <a:off x="914400" y="3108960"/>
            <a:ext cx="502920" cy="34747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145536"/>
            <a:ext cx="502920" cy="274320"/>
          </a:xfrm>
          <a:prstGeom prst="rect">
            <a:avLst/>
          </a:prstGeom>
          <a:noFill/>
        </p:spPr>
        <p:txBody>
          <a:bodyPr wrap="square">
            <a:spAutoFit/>
          </a:bodyPr>
          <a:lstStyle/>
          <a:p>
            <a:pPr algn="ctr"/>
            <a:r>
              <a:rPr sz="1200" b="1" i="0">
                <a:solidFill>
                  <a:srgbClr val="0A0A0A"/>
                </a:solidFill>
              </a:rPr>
              <a:t>02</a:t>
            </a:r>
          </a:p>
        </p:txBody>
      </p:sp>
      <p:sp>
        <p:nvSpPr>
          <p:cNvPr id="11" name="TextBox 10"/>
          <p:cNvSpPr txBox="1"/>
          <p:nvPr/>
        </p:nvSpPr>
        <p:spPr>
          <a:xfrm>
            <a:off x="1554480" y="3145536"/>
            <a:ext cx="9601200" cy="292608"/>
          </a:xfrm>
          <a:prstGeom prst="rect">
            <a:avLst/>
          </a:prstGeom>
          <a:noFill/>
        </p:spPr>
        <p:txBody>
          <a:bodyPr wrap="square">
            <a:spAutoFit/>
          </a:bodyPr>
          <a:lstStyle/>
          <a:p>
            <a:pPr algn="l"/>
            <a:r>
              <a:rPr sz="1100" b="0" i="0">
                <a:solidFill>
                  <a:srgbClr val="FFFFFF"/>
                </a:solidFill>
              </a:rPr>
              <a:t>Post a teaser on @makena_entertainment Instagram this week.</a:t>
            </a:r>
          </a:p>
        </p:txBody>
      </p:sp>
      <p:sp>
        <p:nvSpPr>
          <p:cNvPr id="12" name="Rectangle 11"/>
          <p:cNvSpPr/>
          <p:nvPr/>
        </p:nvSpPr>
        <p:spPr>
          <a:xfrm>
            <a:off x="914400" y="3566160"/>
            <a:ext cx="502920" cy="34747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602736"/>
            <a:ext cx="502920" cy="274320"/>
          </a:xfrm>
          <a:prstGeom prst="rect">
            <a:avLst/>
          </a:prstGeom>
          <a:noFill/>
        </p:spPr>
        <p:txBody>
          <a:bodyPr wrap="square">
            <a:spAutoFit/>
          </a:bodyPr>
          <a:lstStyle/>
          <a:p>
            <a:pPr algn="ctr"/>
            <a:r>
              <a:rPr sz="1200" b="1" i="0">
                <a:solidFill>
                  <a:srgbClr val="0A0A0A"/>
                </a:solidFill>
              </a:rPr>
              <a:t>03</a:t>
            </a:r>
          </a:p>
        </p:txBody>
      </p:sp>
      <p:sp>
        <p:nvSpPr>
          <p:cNvPr id="14" name="TextBox 13"/>
          <p:cNvSpPr txBox="1"/>
          <p:nvPr/>
        </p:nvSpPr>
        <p:spPr>
          <a:xfrm>
            <a:off x="1554480" y="3602736"/>
            <a:ext cx="9601200" cy="292608"/>
          </a:xfrm>
          <a:prstGeom prst="rect">
            <a:avLst/>
          </a:prstGeom>
          <a:noFill/>
        </p:spPr>
        <p:txBody>
          <a:bodyPr wrap="square">
            <a:spAutoFit/>
          </a:bodyPr>
          <a:lstStyle/>
          <a:p>
            <a:pPr algn="l"/>
            <a:r>
              <a:rPr sz="1100" b="0" i="0">
                <a:solidFill>
                  <a:srgbClr val="FFFFFF"/>
                </a:solidFill>
              </a:rPr>
              <a:t>DM every AfroPlusFest DC attendee personally about the trip.</a:t>
            </a:r>
          </a:p>
        </p:txBody>
      </p:sp>
      <p:sp>
        <p:nvSpPr>
          <p:cNvPr id="15" name="Rectangle 14"/>
          <p:cNvSpPr/>
          <p:nvPr/>
        </p:nvSpPr>
        <p:spPr>
          <a:xfrm>
            <a:off x="914400" y="4023360"/>
            <a:ext cx="502920" cy="34747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059936"/>
            <a:ext cx="502920" cy="274320"/>
          </a:xfrm>
          <a:prstGeom prst="rect">
            <a:avLst/>
          </a:prstGeom>
          <a:noFill/>
        </p:spPr>
        <p:txBody>
          <a:bodyPr wrap="square">
            <a:spAutoFit/>
          </a:bodyPr>
          <a:lstStyle/>
          <a:p>
            <a:pPr algn="ctr"/>
            <a:r>
              <a:rPr sz="1200" b="1" i="0">
                <a:solidFill>
                  <a:srgbClr val="0A0A0A"/>
                </a:solidFill>
              </a:rPr>
              <a:t>04</a:t>
            </a:r>
          </a:p>
        </p:txBody>
      </p:sp>
      <p:sp>
        <p:nvSpPr>
          <p:cNvPr id="17" name="TextBox 16"/>
          <p:cNvSpPr txBox="1"/>
          <p:nvPr/>
        </p:nvSpPr>
        <p:spPr>
          <a:xfrm>
            <a:off x="1554480" y="4059936"/>
            <a:ext cx="9601200" cy="292608"/>
          </a:xfrm>
          <a:prstGeom prst="rect">
            <a:avLst/>
          </a:prstGeom>
          <a:noFill/>
        </p:spPr>
        <p:txBody>
          <a:bodyPr wrap="square">
            <a:spAutoFit/>
          </a:bodyPr>
          <a:lstStyle/>
          <a:p>
            <a:pPr algn="l"/>
            <a:r>
              <a:rPr sz="1100" b="0" i="0">
                <a:solidFill>
                  <a:srgbClr val="FFFFFF"/>
                </a:solidFill>
              </a:rPr>
              <a:t>Get 3 hotel quotes from Punta Cana all-inclusive resorts — pick one by end of month.</a:t>
            </a:r>
          </a:p>
        </p:txBody>
      </p:sp>
      <p:sp>
        <p:nvSpPr>
          <p:cNvPr id="18" name="Rectangle 17"/>
          <p:cNvSpPr/>
          <p:nvPr/>
        </p:nvSpPr>
        <p:spPr>
          <a:xfrm>
            <a:off x="914400" y="4480560"/>
            <a:ext cx="502920" cy="34747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517136"/>
            <a:ext cx="502920" cy="274320"/>
          </a:xfrm>
          <a:prstGeom prst="rect">
            <a:avLst/>
          </a:prstGeom>
          <a:noFill/>
        </p:spPr>
        <p:txBody>
          <a:bodyPr wrap="square">
            <a:spAutoFit/>
          </a:bodyPr>
          <a:lstStyle/>
          <a:p>
            <a:pPr algn="ctr"/>
            <a:r>
              <a:rPr sz="1200" b="1" i="0">
                <a:solidFill>
                  <a:srgbClr val="0A0A0A"/>
                </a:solidFill>
              </a:rPr>
              <a:t>05</a:t>
            </a:r>
          </a:p>
        </p:txBody>
      </p:sp>
      <p:sp>
        <p:nvSpPr>
          <p:cNvPr id="20" name="TextBox 19"/>
          <p:cNvSpPr txBox="1"/>
          <p:nvPr/>
        </p:nvSpPr>
        <p:spPr>
          <a:xfrm>
            <a:off x="1554480" y="4517136"/>
            <a:ext cx="9601200" cy="292608"/>
          </a:xfrm>
          <a:prstGeom prst="rect">
            <a:avLst/>
          </a:prstGeom>
          <a:noFill/>
        </p:spPr>
        <p:txBody>
          <a:bodyPr wrap="square">
            <a:spAutoFit/>
          </a:bodyPr>
          <a:lstStyle/>
          <a:p>
            <a:pPr algn="l"/>
            <a:r>
              <a:rPr sz="1100" b="0" i="0">
                <a:solidFill>
                  <a:srgbClr val="FFFFFF"/>
                </a:solidFill>
              </a:rPr>
              <a:t>Identify and reach out to a local Punta Cana Ground Coordinator.</a:t>
            </a:r>
          </a:p>
        </p:txBody>
      </p:sp>
      <p:sp>
        <p:nvSpPr>
          <p:cNvPr id="21" name="Rectangle 20"/>
          <p:cNvSpPr/>
          <p:nvPr/>
        </p:nvSpPr>
        <p:spPr>
          <a:xfrm>
            <a:off x="914400" y="4937760"/>
            <a:ext cx="502920" cy="34747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974336"/>
            <a:ext cx="502920" cy="274320"/>
          </a:xfrm>
          <a:prstGeom prst="rect">
            <a:avLst/>
          </a:prstGeom>
          <a:noFill/>
        </p:spPr>
        <p:txBody>
          <a:bodyPr wrap="square">
            <a:spAutoFit/>
          </a:bodyPr>
          <a:lstStyle/>
          <a:p>
            <a:pPr algn="ctr"/>
            <a:r>
              <a:rPr sz="1200" b="1" i="0">
                <a:solidFill>
                  <a:srgbClr val="0A0A0A"/>
                </a:solidFill>
              </a:rPr>
              <a:t>06</a:t>
            </a:r>
          </a:p>
        </p:txBody>
      </p:sp>
      <p:sp>
        <p:nvSpPr>
          <p:cNvPr id="23" name="TextBox 22"/>
          <p:cNvSpPr txBox="1"/>
          <p:nvPr/>
        </p:nvSpPr>
        <p:spPr>
          <a:xfrm>
            <a:off x="1554480" y="4974336"/>
            <a:ext cx="9601200" cy="292608"/>
          </a:xfrm>
          <a:prstGeom prst="rect">
            <a:avLst/>
          </a:prstGeom>
          <a:noFill/>
        </p:spPr>
        <p:txBody>
          <a:bodyPr wrap="square">
            <a:spAutoFit/>
          </a:bodyPr>
          <a:lstStyle/>
          <a:p>
            <a:pPr algn="l"/>
            <a:r>
              <a:rPr sz="1100" b="0" i="0">
                <a:solidFill>
                  <a:srgbClr val="FFFFFF"/>
                </a:solidFill>
              </a:rPr>
              <a:t>Set a booking open date and build a countdown strategy around it.</a:t>
            </a:r>
          </a:p>
        </p:txBody>
      </p:sp>
      <p:sp>
        <p:nvSpPr>
          <p:cNvPr id="24" name="Rectangle 23"/>
          <p:cNvSpPr/>
          <p:nvPr/>
        </p:nvSpPr>
        <p:spPr>
          <a:xfrm>
            <a:off x="914400" y="5394960"/>
            <a:ext cx="502920" cy="34747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431536"/>
            <a:ext cx="502920" cy="274320"/>
          </a:xfrm>
          <a:prstGeom prst="rect">
            <a:avLst/>
          </a:prstGeom>
          <a:noFill/>
        </p:spPr>
        <p:txBody>
          <a:bodyPr wrap="square">
            <a:spAutoFit/>
          </a:bodyPr>
          <a:lstStyle/>
          <a:p>
            <a:pPr algn="ctr"/>
            <a:r>
              <a:rPr sz="1200" b="1" i="0">
                <a:solidFill>
                  <a:srgbClr val="0A0A0A"/>
                </a:solidFill>
              </a:rPr>
              <a:t>07</a:t>
            </a:r>
          </a:p>
        </p:txBody>
      </p:sp>
      <p:sp>
        <p:nvSpPr>
          <p:cNvPr id="26" name="TextBox 25"/>
          <p:cNvSpPr txBox="1"/>
          <p:nvPr/>
        </p:nvSpPr>
        <p:spPr>
          <a:xfrm>
            <a:off x="1554480" y="5431536"/>
            <a:ext cx="9601200" cy="292608"/>
          </a:xfrm>
          <a:prstGeom prst="rect">
            <a:avLst/>
          </a:prstGeom>
          <a:noFill/>
        </p:spPr>
        <p:txBody>
          <a:bodyPr wrap="square">
            <a:spAutoFit/>
          </a:bodyPr>
          <a:lstStyle/>
          <a:p>
            <a:pPr algn="l"/>
            <a:r>
              <a:rPr sz="1100" b="0" i="0">
                <a:solidFill>
                  <a:srgbClr val="FFFFFF"/>
                </a:solidFill>
              </a:rPr>
              <a:t>Design the Makena gift bag — place order 8 weeks before trip date.</a:t>
            </a:r>
          </a:p>
        </p:txBody>
      </p:sp>
      <p:sp>
        <p:nvSpPr>
          <p:cNvPr id="27" name="Rectangle 26"/>
          <p:cNvSpPr/>
          <p:nvPr/>
        </p:nvSpPr>
        <p:spPr>
          <a:xfrm>
            <a:off x="914400" y="5852160"/>
            <a:ext cx="502920" cy="347472"/>
          </a:xfrm>
          <a:prstGeom prst="rect">
            <a:avLst/>
          </a:prstGeom>
          <a:solidFill>
            <a:srgbClr val="86E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888736"/>
            <a:ext cx="502920" cy="274320"/>
          </a:xfrm>
          <a:prstGeom prst="rect">
            <a:avLst/>
          </a:prstGeom>
          <a:noFill/>
        </p:spPr>
        <p:txBody>
          <a:bodyPr wrap="square">
            <a:spAutoFit/>
          </a:bodyPr>
          <a:lstStyle/>
          <a:p>
            <a:pPr algn="ctr"/>
            <a:r>
              <a:rPr sz="1200" b="1" i="0">
                <a:solidFill>
                  <a:srgbClr val="0A0A0A"/>
                </a:solidFill>
              </a:rPr>
              <a:t>08</a:t>
            </a:r>
          </a:p>
        </p:txBody>
      </p:sp>
      <p:sp>
        <p:nvSpPr>
          <p:cNvPr id="29" name="TextBox 28"/>
          <p:cNvSpPr txBox="1"/>
          <p:nvPr/>
        </p:nvSpPr>
        <p:spPr>
          <a:xfrm>
            <a:off x="1554480" y="5888736"/>
            <a:ext cx="9601200" cy="292608"/>
          </a:xfrm>
          <a:prstGeom prst="rect">
            <a:avLst/>
          </a:prstGeom>
          <a:noFill/>
        </p:spPr>
        <p:txBody>
          <a:bodyPr wrap="square">
            <a:spAutoFit/>
          </a:bodyPr>
          <a:lstStyle/>
          <a:p>
            <a:pPr algn="l"/>
            <a:r>
              <a:rPr sz="1100" b="0" i="0">
                <a:solidFill>
                  <a:srgbClr val="FFFFFF"/>
                </a:solidFill>
              </a:rPr>
              <a:t>Refine this plan with your team and assign every delegate role.</a:t>
            </a:r>
          </a:p>
        </p:txBody>
      </p:sp>
      <p:sp>
        <p:nvSpPr>
          <p:cNvPr id="30" name="TextBox 29"/>
          <p:cNvSpPr txBox="1"/>
          <p:nvPr/>
        </p:nvSpPr>
        <p:spPr>
          <a:xfrm>
            <a:off x="457200" y="6400800"/>
            <a:ext cx="10972800" cy="320040"/>
          </a:xfrm>
          <a:prstGeom prst="rect">
            <a:avLst/>
          </a:prstGeom>
          <a:noFill/>
        </p:spPr>
        <p:txBody>
          <a:bodyPr wrap="square">
            <a:spAutoFit/>
          </a:bodyPr>
          <a:lstStyle/>
          <a:p>
            <a:pPr algn="ctr"/>
            <a:r>
              <a:rPr sz="1200" b="1" i="0">
                <a:solidFill>
                  <a:srgbClr val="86EFA9"/>
                </a:solidFill>
              </a:rPr>
              <a:t>One Life. Good Vibe. Party Hard.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